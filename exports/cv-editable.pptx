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0005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inobattistello/gbm" TargetMode="External"/><Relationship Id="rId3" Type="http://schemas.openxmlformats.org/officeDocument/2006/relationships/hyperlink" Target="https://doi.org/10.1038/s44271-025-00285-8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ino Battistello"/>
          <p:cNvSpPr txBox="1"/>
          <p:nvPr/>
        </p:nvSpPr>
        <p:spPr>
          <a:xfrm>
            <a:off x="575995" y="540004"/>
            <a:ext cx="3810000" cy="439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64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11111"/>
                </a:solidFill>
                <a:latin typeface="Arial"/>
              </a:rPr>
              <a:t>Gino Battistello</a:t>
            </a:r>
          </a:p>
        </p:txBody>
      </p:sp>
      <p:sp>
        <p:nvSpPr>
          <p:cNvPr id="3" name="PhD student in cognitive neuroscience"/>
          <p:cNvSpPr txBox="1"/>
          <p:nvPr/>
        </p:nvSpPr>
        <p:spPr>
          <a:xfrm>
            <a:off x="575995" y="997204"/>
            <a:ext cx="3810000" cy="370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PhD student in cognitive neuroscience</a:t>
            </a:r>
          </a:p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Paris Brain Institute (PBI) · FrontLab – CreaTeam</a:t>
            </a:r>
          </a:p>
        </p:txBody>
      </p:sp>
      <p:sp>
        <p:nvSpPr>
          <p:cNvPr id="4" name="gino.battistello@icm-institute.org"/>
          <p:cNvSpPr txBox="1"/>
          <p:nvPr/>
        </p:nvSpPr>
        <p:spPr>
          <a:xfrm>
            <a:off x="4571009" y="540004"/>
            <a:ext cx="2413000" cy="802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gino.battistello@icm-institute.org</a:t>
            </a: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ginobattistello.github.io</a:t>
            </a: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ORCID 0009-0009-9355-470X</a:t>
            </a: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Google Scholar · GitHub</a:t>
            </a:r>
          </a:p>
          <a:p>
            <a:pPr algn="r">
              <a:lnSpc>
                <a:spcPts val="122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Born 1999 · Nationality: French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75995" y="148234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5995" y="173634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SEARCH EXPERIENCE"/>
          <p:cNvSpPr txBox="1"/>
          <p:nvPr/>
        </p:nvSpPr>
        <p:spPr>
          <a:xfrm>
            <a:off x="728395" y="168554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RESEARCH EXPERIENCE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5995" y="188874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" name="PhD Student"/>
          <p:cNvGrpSpPr/>
          <p:nvPr/>
        </p:nvGrpSpPr>
        <p:grpSpPr>
          <a:xfrm>
            <a:off x="575995" y="1990344"/>
            <a:ext cx="6408013" cy="601370"/>
            <a:chOff x="575995" y="1990344"/>
            <a:chExt cx="6408013" cy="601370"/>
          </a:xfrm>
        </p:grpSpPr>
        <p:sp>
          <p:nvSpPr>
            <p:cNvPr id="9" name="2023 – present"/>
            <p:cNvSpPr txBox="1"/>
            <p:nvPr/>
          </p:nvSpPr>
          <p:spPr>
            <a:xfrm>
              <a:off x="575995" y="199034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 – present</a:t>
              </a:r>
            </a:p>
          </p:txBody>
        </p:sp>
        <p:sp>
          <p:nvSpPr>
            <p:cNvPr id="10" name="PhD Student"/>
            <p:cNvSpPr txBox="1"/>
            <p:nvPr/>
          </p:nvSpPr>
          <p:spPr>
            <a:xfrm>
              <a:off x="1511998" y="199034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PhD Student</a:t>
              </a:r>
            </a:p>
          </p:txBody>
        </p:sp>
        <p:sp>
          <p:nvSpPr>
            <p:cNvPr id="11" name="Unravelling the impact of affective states on creativity: a neurocognitive inves"/>
            <p:cNvSpPr txBox="1"/>
            <p:nvPr/>
          </p:nvSpPr>
          <p:spPr>
            <a:xfrm>
              <a:off x="1511998" y="220060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Unravelling the impact of affective states on creativity: a neurocognitive investigation</a:t>
              </a:r>
            </a:p>
          </p:txBody>
        </p:sp>
        <p:sp>
          <p:nvSpPr>
            <p:cNvPr id="12" name="Supervisor: Dr. Alizée Lopez-Persem · Paris Brain Institute (ICM) – FrontLab – C"/>
            <p:cNvSpPr txBox="1"/>
            <p:nvPr/>
          </p:nvSpPr>
          <p:spPr>
            <a:xfrm>
              <a:off x="1511998" y="2410866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Supervisor: Dr. Alizée Lopez-Persem · Paris Brain Institute (ICM) – FrontLab – CreaTeam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575995" y="269331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" name="Graduate internship, Research assistant"/>
          <p:cNvGrpSpPr/>
          <p:nvPr/>
        </p:nvGrpSpPr>
        <p:grpSpPr>
          <a:xfrm>
            <a:off x="575995" y="2807614"/>
            <a:ext cx="6408013" cy="601370"/>
            <a:chOff x="575995" y="2807614"/>
            <a:chExt cx="6408013" cy="601370"/>
          </a:xfrm>
        </p:grpSpPr>
        <p:sp>
          <p:nvSpPr>
            <p:cNvPr id="15" name="2022 – 2023"/>
            <p:cNvSpPr txBox="1"/>
            <p:nvPr/>
          </p:nvSpPr>
          <p:spPr>
            <a:xfrm>
              <a:off x="575995" y="2807614"/>
              <a:ext cx="864006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2022 – 2023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6 months</a:t>
              </a:r>
            </a:p>
          </p:txBody>
        </p:sp>
        <p:sp>
          <p:nvSpPr>
            <p:cNvPr id="16" name="Graduate internship, Research assistant"/>
            <p:cNvSpPr txBox="1"/>
            <p:nvPr/>
          </p:nvSpPr>
          <p:spPr>
            <a:xfrm>
              <a:off x="1511998" y="280761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Graduate internship, Research assistant</a:t>
              </a:r>
            </a:p>
          </p:txBody>
        </p:sp>
        <p:sp>
          <p:nvSpPr>
            <p:cNvPr id="17" name="Generalization of the role of subjective valuation in creativity"/>
            <p:cNvSpPr txBox="1"/>
            <p:nvPr/>
          </p:nvSpPr>
          <p:spPr>
            <a:xfrm>
              <a:off x="1511998" y="301787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Generalization of the role of subjective valuation in creativity</a:t>
              </a:r>
            </a:p>
          </p:txBody>
        </p:sp>
        <p:sp>
          <p:nvSpPr>
            <p:cNvPr id="18" name="Supervisor: Dr. Alizée Lopez-Persem · Paris Brain Institute (ICM) – FrontLab – C"/>
            <p:cNvSpPr txBox="1"/>
            <p:nvPr/>
          </p:nvSpPr>
          <p:spPr>
            <a:xfrm>
              <a:off x="1511998" y="3228136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Supervisor: Dr. Alizée Lopez-Persem · Paris Brain Institute (ICM) – FrontLab – CreaTeam</a:t>
              </a:r>
            </a:p>
          </p:txBody>
        </p:sp>
      </p:grpSp>
      <p:grpSp>
        <p:nvGrpSpPr>
          <p:cNvPr id="24" name="Internship"/>
          <p:cNvGrpSpPr/>
          <p:nvPr/>
        </p:nvGrpSpPr>
        <p:grpSpPr>
          <a:xfrm>
            <a:off x="575995" y="3485184"/>
            <a:ext cx="6408013" cy="756819"/>
            <a:chOff x="575995" y="3485184"/>
            <a:chExt cx="6408013" cy="756819"/>
          </a:xfrm>
        </p:grpSpPr>
        <p:sp>
          <p:nvSpPr>
            <p:cNvPr id="20" name="2022"/>
            <p:cNvSpPr txBox="1"/>
            <p:nvPr/>
          </p:nvSpPr>
          <p:spPr>
            <a:xfrm>
              <a:off x="575995" y="3485184"/>
              <a:ext cx="864006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2022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 months</a:t>
              </a:r>
            </a:p>
          </p:txBody>
        </p:sp>
        <p:sp>
          <p:nvSpPr>
            <p:cNvPr id="21" name="Internship"/>
            <p:cNvSpPr txBox="1"/>
            <p:nvPr/>
          </p:nvSpPr>
          <p:spPr>
            <a:xfrm>
              <a:off x="1511998" y="348518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Internship</a:t>
              </a:r>
            </a:p>
          </p:txBody>
        </p:sp>
        <p:sp>
          <p:nvSpPr>
            <p:cNvPr id="22" name="Electrophysiological source localization during gait inhibition"/>
            <p:cNvSpPr txBox="1"/>
            <p:nvPr/>
          </p:nvSpPr>
          <p:spPr>
            <a:xfrm>
              <a:off x="1511998" y="369544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Electrophysiological source localization during gait inhibition</a:t>
              </a:r>
            </a:p>
          </p:txBody>
        </p:sp>
        <p:sp>
          <p:nvSpPr>
            <p:cNvPr id="23" name="Supervisors: Dr. Nathalie George, Déborah Ziri · Paris Brain Institute (ICM) – E"/>
            <p:cNvSpPr txBox="1"/>
            <p:nvPr/>
          </p:nvSpPr>
          <p:spPr>
            <a:xfrm>
              <a:off x="1511998" y="3905707"/>
              <a:ext cx="5472010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Supervisors: Dr. Nathalie George, Déborah Ziri · Paris Brain Institute (ICM) – Experimental Neurosurgery</a:t>
              </a:r>
            </a:p>
          </p:txBody>
        </p:sp>
      </p:grpSp>
      <p:grpSp>
        <p:nvGrpSpPr>
          <p:cNvPr id="29" name="Internship"/>
          <p:cNvGrpSpPr/>
          <p:nvPr/>
        </p:nvGrpSpPr>
        <p:grpSpPr>
          <a:xfrm>
            <a:off x="575995" y="4318203"/>
            <a:ext cx="6408013" cy="756818"/>
            <a:chOff x="575995" y="4318203"/>
            <a:chExt cx="6408013" cy="756818"/>
          </a:xfrm>
        </p:grpSpPr>
        <p:sp>
          <p:nvSpPr>
            <p:cNvPr id="25" name="2021 – 2022"/>
            <p:cNvSpPr txBox="1"/>
            <p:nvPr/>
          </p:nvSpPr>
          <p:spPr>
            <a:xfrm>
              <a:off x="575995" y="4318203"/>
              <a:ext cx="864006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2021 – 2022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1 year</a:t>
              </a:r>
            </a:p>
          </p:txBody>
        </p:sp>
        <p:sp>
          <p:nvSpPr>
            <p:cNvPr id="26" name="Internship"/>
            <p:cNvSpPr txBox="1"/>
            <p:nvPr/>
          </p:nvSpPr>
          <p:spPr>
            <a:xfrm>
              <a:off x="1511998" y="4318203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Internship</a:t>
              </a:r>
            </a:p>
          </p:txBody>
        </p:sp>
        <p:sp>
          <p:nvSpPr>
            <p:cNvPr id="27" name="Interpersonal synchrony as a substrate of emotion alignment"/>
            <p:cNvSpPr txBox="1"/>
            <p:nvPr/>
          </p:nvSpPr>
          <p:spPr>
            <a:xfrm>
              <a:off x="1511998" y="452846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Interpersonal synchrony as a substrate of emotion alignment</a:t>
              </a:r>
            </a:p>
          </p:txBody>
        </p:sp>
        <p:sp>
          <p:nvSpPr>
            <p:cNvPr id="28" name="Supervisors: Dr. Julie Grèzes, Victor Chung · Laboratory of Cognitive and Comput"/>
            <p:cNvSpPr txBox="1"/>
            <p:nvPr/>
          </p:nvSpPr>
          <p:spPr>
            <a:xfrm>
              <a:off x="1511998" y="4738725"/>
              <a:ext cx="5472010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Supervisors: Dr. Julie Grèzes, Victor Chung · Laboratory of Cognitive and Computational Neurosciences (LNC2) – Social Cognition group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575995" y="5176621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6" name="Undergraduate internship, then Research engineer"/>
          <p:cNvGrpSpPr/>
          <p:nvPr/>
        </p:nvGrpSpPr>
        <p:grpSpPr>
          <a:xfrm>
            <a:off x="575995" y="5290921"/>
            <a:ext cx="6408013" cy="801269"/>
            <a:chOff x="575995" y="5290921"/>
            <a:chExt cx="6408013" cy="801269"/>
          </a:xfrm>
        </p:grpSpPr>
        <p:sp>
          <p:nvSpPr>
            <p:cNvPr id="31" name="2021"/>
            <p:cNvSpPr txBox="1"/>
            <p:nvPr/>
          </p:nvSpPr>
          <p:spPr>
            <a:xfrm>
              <a:off x="575995" y="5290921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2021</a:t>
              </a:r>
            </a:p>
          </p:txBody>
        </p:sp>
        <p:sp>
          <p:nvSpPr>
            <p:cNvPr id="32" name="Undergraduate internship, then Research engineer"/>
            <p:cNvSpPr txBox="1"/>
            <p:nvPr/>
          </p:nvSpPr>
          <p:spPr>
            <a:xfrm>
              <a:off x="1511998" y="529092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Undergraduate internship, then Research engineer</a:t>
              </a:r>
            </a:p>
          </p:txBody>
        </p:sp>
        <p:sp>
          <p:nvSpPr>
            <p:cNvPr id="33" name="Broca's involvement in language fluency"/>
            <p:cNvSpPr txBox="1"/>
            <p:nvPr/>
          </p:nvSpPr>
          <p:spPr>
            <a:xfrm>
              <a:off x="1511998" y="550118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Broca's involvement in language fluency</a:t>
              </a:r>
            </a:p>
          </p:txBody>
        </p:sp>
        <p:sp>
          <p:nvSpPr>
            <p:cNvPr id="34" name="Followed by 3 months as research engineer: evaluation of cognitive and motor abi"/>
            <p:cNvSpPr txBox="1"/>
            <p:nvPr/>
          </p:nvSpPr>
          <p:spPr>
            <a:xfrm>
              <a:off x="1511998" y="571144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Followed by 3 months as research engineer: evaluation of cognitive and motor abilities</a:t>
              </a:r>
            </a:p>
          </p:txBody>
        </p:sp>
        <p:sp>
          <p:nvSpPr>
            <p:cNvPr id="35" name="Supervisor: Dr. Irene Cristofori · Marc Jeannerod Institute of Cognitive Science"/>
            <p:cNvSpPr txBox="1"/>
            <p:nvPr/>
          </p:nvSpPr>
          <p:spPr>
            <a:xfrm>
              <a:off x="1511998" y="591134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Supervisor: Dr. Irene Cristofori · Marc Jeannerod Institute of Cognitive Sciences (ISC) – CNRS, Lyon</a:t>
              </a:r>
            </a:p>
          </p:txBody>
        </p:sp>
      </p:grpSp>
      <p:grpSp>
        <p:nvGrpSpPr>
          <p:cNvPr id="41" name="Internship"/>
          <p:cNvGrpSpPr/>
          <p:nvPr/>
        </p:nvGrpSpPr>
        <p:grpSpPr>
          <a:xfrm>
            <a:off x="575995" y="6168390"/>
            <a:ext cx="6408013" cy="601370"/>
            <a:chOff x="575995" y="6168390"/>
            <a:chExt cx="6408013" cy="601370"/>
          </a:xfrm>
        </p:grpSpPr>
        <p:sp>
          <p:nvSpPr>
            <p:cNvPr id="37" name="2021"/>
            <p:cNvSpPr txBox="1"/>
            <p:nvPr/>
          </p:nvSpPr>
          <p:spPr>
            <a:xfrm>
              <a:off x="575995" y="6168390"/>
              <a:ext cx="864006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2021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 months</a:t>
              </a:r>
            </a:p>
          </p:txBody>
        </p:sp>
        <p:sp>
          <p:nvSpPr>
            <p:cNvPr id="38" name="Internship"/>
            <p:cNvSpPr txBox="1"/>
            <p:nvPr/>
          </p:nvSpPr>
          <p:spPr>
            <a:xfrm>
              <a:off x="1511998" y="616839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Internship</a:t>
              </a:r>
            </a:p>
          </p:txBody>
        </p:sp>
        <p:sp>
          <p:nvSpPr>
            <p:cNvPr id="39" name="Cognitive and cerebral bases of auditory hallucinations in schizophrenia"/>
            <p:cNvSpPr txBox="1"/>
            <p:nvPr/>
          </p:nvSpPr>
          <p:spPr>
            <a:xfrm>
              <a:off x="1511998" y="637865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Cognitive and cerebral bases of auditory hallucinations in schizophrenia</a:t>
              </a:r>
            </a:p>
          </p:txBody>
        </p:sp>
        <p:sp>
          <p:nvSpPr>
            <p:cNvPr id="40" name="Supervisor: Dr. Marine Mondino · Lyon Neuroscience Research Center (CRNL) – PSYR"/>
            <p:cNvSpPr txBox="1"/>
            <p:nvPr/>
          </p:nvSpPr>
          <p:spPr>
            <a:xfrm>
              <a:off x="1511998" y="658891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Supervisor: Dr. Marine Mondino · Lyon Neuroscience Research Center (CRNL) – PSYR2 team</a:t>
              </a:r>
            </a:p>
          </p:txBody>
        </p:sp>
      </p:grpSp>
      <p:grpSp>
        <p:nvGrpSpPr>
          <p:cNvPr id="46" name="Internship"/>
          <p:cNvGrpSpPr/>
          <p:nvPr/>
        </p:nvGrpSpPr>
        <p:grpSpPr>
          <a:xfrm>
            <a:off x="575995" y="6845960"/>
            <a:ext cx="6408013" cy="756818"/>
            <a:chOff x="575995" y="6845960"/>
            <a:chExt cx="6408013" cy="756818"/>
          </a:xfrm>
        </p:grpSpPr>
        <p:sp>
          <p:nvSpPr>
            <p:cNvPr id="42" name="2020"/>
            <p:cNvSpPr txBox="1"/>
            <p:nvPr/>
          </p:nvSpPr>
          <p:spPr>
            <a:xfrm>
              <a:off x="575995" y="6845960"/>
              <a:ext cx="864006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2020</a:t>
              </a:r>
            </a:p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1 month</a:t>
              </a:r>
            </a:p>
          </p:txBody>
        </p:sp>
        <p:sp>
          <p:nvSpPr>
            <p:cNvPr id="43" name="Internship"/>
            <p:cNvSpPr txBox="1"/>
            <p:nvPr/>
          </p:nvSpPr>
          <p:spPr>
            <a:xfrm>
              <a:off x="1511998" y="684596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Internship</a:t>
              </a:r>
            </a:p>
          </p:txBody>
        </p:sp>
        <p:sp>
          <p:nvSpPr>
            <p:cNvPr id="44" name="Introduction to clinical research"/>
            <p:cNvSpPr txBox="1"/>
            <p:nvPr/>
          </p:nvSpPr>
          <p:spPr>
            <a:xfrm>
              <a:off x="1511998" y="705622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Introduction to clinical research</a:t>
              </a:r>
            </a:p>
          </p:txBody>
        </p:sp>
        <p:sp>
          <p:nvSpPr>
            <p:cNvPr id="45" name="Supervisors: Dr. Alice Poisson, Dr. Caroline Demily · CH Le Vinatier &amp; Marc Jean"/>
            <p:cNvSpPr txBox="1"/>
            <p:nvPr/>
          </p:nvSpPr>
          <p:spPr>
            <a:xfrm>
              <a:off x="1511998" y="7266482"/>
              <a:ext cx="5472010" cy="3362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Supervisors: Dr. Alice Poisson, Dr. Caroline Demily · CH Le Vinatier &amp; Marc Jeannerod Institute of Cognitive Sciences (ISC), Lyon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575995" y="7805978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UCATION"/>
          <p:cNvSpPr txBox="1"/>
          <p:nvPr/>
        </p:nvSpPr>
        <p:spPr>
          <a:xfrm>
            <a:off x="728395" y="7755178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EDUCATION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5995" y="7958378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4" name="M.Sc in Cognitive Science (Cogmaster)"/>
          <p:cNvGrpSpPr/>
          <p:nvPr/>
        </p:nvGrpSpPr>
        <p:grpSpPr>
          <a:xfrm>
            <a:off x="575995" y="8059978"/>
            <a:ext cx="6408013" cy="591008"/>
            <a:chOff x="575995" y="8059978"/>
            <a:chExt cx="6408013" cy="591008"/>
          </a:xfrm>
        </p:grpSpPr>
        <p:sp>
          <p:nvSpPr>
            <p:cNvPr id="50" name="2021 – 2023"/>
            <p:cNvSpPr txBox="1"/>
            <p:nvPr/>
          </p:nvSpPr>
          <p:spPr>
            <a:xfrm>
              <a:off x="575995" y="8059978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2021 – 2023</a:t>
              </a:r>
            </a:p>
          </p:txBody>
        </p:sp>
        <p:sp>
          <p:nvSpPr>
            <p:cNvPr id="51" name="M.Sc in Cognitive Science (Cogmaster)"/>
            <p:cNvSpPr txBox="1"/>
            <p:nvPr/>
          </p:nvSpPr>
          <p:spPr>
            <a:xfrm>
              <a:off x="1511998" y="8059978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M.Sc in Cognitive Science (Cogmaster)</a:t>
              </a:r>
            </a:p>
          </p:txBody>
        </p:sp>
        <p:sp>
          <p:nvSpPr>
            <p:cNvPr id="52" name="Major: cognitive neuroscience (4% admission rate) · Minor: computational modelli"/>
            <p:cNvSpPr txBox="1"/>
            <p:nvPr/>
          </p:nvSpPr>
          <p:spPr>
            <a:xfrm>
              <a:off x="1511998" y="8270240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Major: cognitive neuroscience (4% admission rate) · Minor: computational modelling</a:t>
              </a:r>
            </a:p>
          </p:txBody>
        </p:sp>
        <p:sp>
          <p:nvSpPr>
            <p:cNvPr id="53" name="École Normale Supérieure (ENS – PSL), Paris"/>
            <p:cNvSpPr txBox="1"/>
            <p:nvPr/>
          </p:nvSpPr>
          <p:spPr>
            <a:xfrm>
              <a:off x="1511998" y="8470138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École Normale Supérieure (ENS – PSL), Paris</a:t>
              </a:r>
            </a:p>
          </p:txBody>
        </p:sp>
      </p:grpSp>
      <p:grpSp>
        <p:nvGrpSpPr>
          <p:cNvPr id="60" name="B.Sc in Human Physiology"/>
          <p:cNvGrpSpPr/>
          <p:nvPr/>
        </p:nvGrpSpPr>
        <p:grpSpPr>
          <a:xfrm>
            <a:off x="575995" y="8727186"/>
            <a:ext cx="6408013" cy="790905"/>
            <a:chOff x="575995" y="8727186"/>
            <a:chExt cx="6408013" cy="790905"/>
          </a:xfrm>
        </p:grpSpPr>
        <p:sp>
          <p:nvSpPr>
            <p:cNvPr id="55" name="2018 – 2021"/>
            <p:cNvSpPr txBox="1"/>
            <p:nvPr/>
          </p:nvSpPr>
          <p:spPr>
            <a:xfrm>
              <a:off x="575995" y="8727186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2018 – 2021</a:t>
              </a:r>
            </a:p>
          </p:txBody>
        </p:sp>
        <p:sp>
          <p:nvSpPr>
            <p:cNvPr id="56" name="B.Sc in Human Physiology"/>
            <p:cNvSpPr txBox="1"/>
            <p:nvPr/>
          </p:nvSpPr>
          <p:spPr>
            <a:xfrm>
              <a:off x="1511998" y="872718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B.Sc in Human Physiology</a:t>
              </a:r>
            </a:p>
          </p:txBody>
        </p:sp>
        <p:sp>
          <p:nvSpPr>
            <p:cNvPr id="57" name="Modules: neurophysiology, molecular and cellular biology, animal physiology, gen"/>
            <p:cNvSpPr txBox="1"/>
            <p:nvPr/>
          </p:nvSpPr>
          <p:spPr>
            <a:xfrm>
              <a:off x="1511998" y="8937447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Modules: neurophysiology, molecular and cellular biology, animal physiology, genetics, statistics</a:t>
              </a:r>
            </a:p>
          </p:txBody>
        </p:sp>
        <p:sp>
          <p:nvSpPr>
            <p:cNvPr id="58" name="Options: neuroscience, introduction to psychology, travel through the brain"/>
            <p:cNvSpPr txBox="1"/>
            <p:nvPr/>
          </p:nvSpPr>
          <p:spPr>
            <a:xfrm>
              <a:off x="1511998" y="9137345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Options: neuroscience, introduction to psychology, travel through the brain</a:t>
              </a:r>
            </a:p>
          </p:txBody>
        </p:sp>
        <p:sp>
          <p:nvSpPr>
            <p:cNvPr id="59" name="Claude Bernard University Lyon 1"/>
            <p:cNvSpPr txBox="1"/>
            <p:nvPr/>
          </p:nvSpPr>
          <p:spPr>
            <a:xfrm>
              <a:off x="1511998" y="933724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Claude Bernard University Lyon 1</a:t>
              </a:r>
            </a:p>
          </p:txBody>
        </p:sp>
      </p:grpSp>
      <p:sp>
        <p:nvSpPr>
          <p:cNvPr id="61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Gino Battistello · Curriculum Vitae</a:t>
            </a:r>
          </a:p>
        </p:txBody>
      </p:sp>
      <p:sp>
        <p:nvSpPr>
          <p:cNvPr id="62" name="1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995" y="5908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FTWARE &amp; TOOLS"/>
          <p:cNvSpPr txBox="1"/>
          <p:nvPr/>
        </p:nvSpPr>
        <p:spPr>
          <a:xfrm>
            <a:off x="728395" y="54000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SOFTWARE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95" y="7432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enerative Bayesian/Brain/Behavior Modelling (GBM) toolbox"/>
          <p:cNvGrpSpPr/>
          <p:nvPr/>
        </p:nvGrpSpPr>
        <p:grpSpPr>
          <a:xfrm>
            <a:off x="575995" y="844804"/>
            <a:ext cx="6408013" cy="801268"/>
            <a:chOff x="575995" y="844804"/>
            <a:chExt cx="6408013" cy="801268"/>
          </a:xfrm>
        </p:grpSpPr>
        <p:sp>
          <p:nvSpPr>
            <p:cNvPr id="5" name=""/>
            <p:cNvSpPr txBox="1"/>
            <p:nvPr/>
          </p:nvSpPr>
          <p:spPr>
            <a:xfrm>
              <a:off x="575995" y="84480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</a:p>
          </p:txBody>
        </p:sp>
        <p:sp>
          <p:nvSpPr>
            <p:cNvPr id="6" name="Generative Bayesian/Brain/Behavior Modelling (GBM) toolbox"/>
            <p:cNvSpPr txBox="1"/>
            <p:nvPr/>
          </p:nvSpPr>
          <p:spPr>
            <a:xfrm>
              <a:off x="1511998" y="84480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  <a:hlinkClick r:id="rId2"/>
                </a:rPr>
                <a:t>Generative Bayesian/Brain/Behavior Modelling (GBM) toolbox</a:t>
              </a:r>
            </a:p>
          </p:txBody>
        </p:sp>
        <p:sp>
          <p:nvSpPr>
            <p:cNvPr id="7" name="Developer: Gino Battistello"/>
            <p:cNvSpPr txBox="1"/>
            <p:nvPr/>
          </p:nvSpPr>
          <p:spPr>
            <a:xfrm>
              <a:off x="1511998" y="105506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Developer: Gino Battistello</a:t>
              </a:r>
            </a:p>
          </p:txBody>
        </p:sp>
        <p:sp>
          <p:nvSpPr>
            <p:cNvPr id="8" name="Bayesian generative modelling of brain and behaviour in Python."/>
            <p:cNvSpPr txBox="1"/>
            <p:nvPr/>
          </p:nvSpPr>
          <p:spPr>
            <a:xfrm>
              <a:off x="1511998" y="1265326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Bayesian generative modelling of brain and behaviour in Python.</a:t>
              </a:r>
            </a:p>
          </p:txBody>
        </p:sp>
        <p:sp>
          <p:nvSpPr>
            <p:cNvPr id="9" name="Parameter estimation, uncertainty quantification and model comparison."/>
            <p:cNvSpPr txBox="1"/>
            <p:nvPr/>
          </p:nvSpPr>
          <p:spPr>
            <a:xfrm>
              <a:off x="1511998" y="146522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Parameter estimation, uncertainty quantification and model comparison.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75995" y="1849272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M RESPONSIBILITIES"/>
          <p:cNvSpPr txBox="1"/>
          <p:nvPr/>
        </p:nvSpPr>
        <p:spPr>
          <a:xfrm>
            <a:off x="728395" y="1798472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TEAM RESPONSIBILITIES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995" y="2001672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" name="Social event organiser"/>
          <p:cNvGrpSpPr/>
          <p:nvPr/>
        </p:nvGrpSpPr>
        <p:grpSpPr>
          <a:xfrm>
            <a:off x="575995" y="2103272"/>
            <a:ext cx="6408013" cy="391109"/>
            <a:chOff x="575995" y="2103272"/>
            <a:chExt cx="6408013" cy="391109"/>
          </a:xfrm>
        </p:grpSpPr>
        <p:sp>
          <p:nvSpPr>
            <p:cNvPr id="14" name="2025 – present"/>
            <p:cNvSpPr txBox="1"/>
            <p:nvPr/>
          </p:nvSpPr>
          <p:spPr>
            <a:xfrm>
              <a:off x="575995" y="210327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 – present</a:t>
              </a:r>
            </a:p>
          </p:txBody>
        </p:sp>
        <p:sp>
          <p:nvSpPr>
            <p:cNvPr id="15" name="Social event organiser"/>
            <p:cNvSpPr txBox="1"/>
            <p:nvPr/>
          </p:nvSpPr>
          <p:spPr>
            <a:xfrm>
              <a:off x="1511998" y="210327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Social event organiser</a:t>
              </a:r>
            </a:p>
          </p:txBody>
        </p:sp>
        <p:sp>
          <p:nvSpPr>
            <p:cNvPr id="16" name="FrontLab – CreaTeam, Paris Brain Institute"/>
            <p:cNvSpPr txBox="1"/>
            <p:nvPr/>
          </p:nvSpPr>
          <p:spPr>
            <a:xfrm>
              <a:off x="1511998" y="231353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FrontLab – CreaTeam, Paris Brain Institute</a:t>
              </a:r>
            </a:p>
          </p:txBody>
        </p:sp>
      </p:grpSp>
      <p:grpSp>
        <p:nvGrpSpPr>
          <p:cNvPr id="21" name="Meeting manager"/>
          <p:cNvGrpSpPr/>
          <p:nvPr/>
        </p:nvGrpSpPr>
        <p:grpSpPr>
          <a:xfrm>
            <a:off x="575995" y="2570581"/>
            <a:ext cx="6408013" cy="391109"/>
            <a:chOff x="575995" y="2570581"/>
            <a:chExt cx="6408013" cy="391109"/>
          </a:xfrm>
        </p:grpSpPr>
        <p:sp>
          <p:nvSpPr>
            <p:cNvPr id="18" name="2024 – 2025"/>
            <p:cNvSpPr txBox="1"/>
            <p:nvPr/>
          </p:nvSpPr>
          <p:spPr>
            <a:xfrm>
              <a:off x="575995" y="2570581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 – 2025</a:t>
              </a:r>
            </a:p>
          </p:txBody>
        </p:sp>
        <p:sp>
          <p:nvSpPr>
            <p:cNvPr id="19" name="Meeting manager"/>
            <p:cNvSpPr txBox="1"/>
            <p:nvPr/>
          </p:nvSpPr>
          <p:spPr>
            <a:xfrm>
              <a:off x="1511998" y="257058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Meeting manager</a:t>
              </a:r>
            </a:p>
          </p:txBody>
        </p:sp>
        <p:sp>
          <p:nvSpPr>
            <p:cNvPr id="20" name="FrontLab – CreaTeam, Paris Brain Institute"/>
            <p:cNvSpPr txBox="1"/>
            <p:nvPr/>
          </p:nvSpPr>
          <p:spPr>
            <a:xfrm>
              <a:off x="1511998" y="278084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FrontLab – CreaTeam, Paris Brain Institute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575995" y="3164890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UBLICATIONS"/>
          <p:cNvSpPr txBox="1"/>
          <p:nvPr/>
        </p:nvSpPr>
        <p:spPr>
          <a:xfrm>
            <a:off x="728395" y="3114090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PUBLICATIONS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5995" y="3317290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9" name="Subjective valuation as a domain-general process in creative thinking"/>
          <p:cNvGrpSpPr/>
          <p:nvPr/>
        </p:nvGrpSpPr>
        <p:grpSpPr>
          <a:xfrm>
            <a:off x="575995" y="3418890"/>
            <a:ext cx="6408013" cy="591008"/>
            <a:chOff x="575995" y="3418890"/>
            <a:chExt cx="6408013" cy="591008"/>
          </a:xfrm>
        </p:grpSpPr>
        <p:sp>
          <p:nvSpPr>
            <p:cNvPr id="25" name="2025"/>
            <p:cNvSpPr txBox="1"/>
            <p:nvPr/>
          </p:nvSpPr>
          <p:spPr>
            <a:xfrm>
              <a:off x="575995" y="3418890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26" name="Subjective valuation as a domain-general process in creative thinking"/>
            <p:cNvSpPr txBox="1"/>
            <p:nvPr/>
          </p:nvSpPr>
          <p:spPr>
            <a:xfrm>
              <a:off x="1511998" y="341889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Subjective valuation as a domain-general process in creative thinking</a:t>
              </a:r>
            </a:p>
          </p:txBody>
        </p:sp>
        <p:sp>
          <p:nvSpPr>
            <p:cNvPr id="27" name="Battistello, G., Moreno-Rodriguez, S., Volle, E. &amp; Lopez-Persem, A."/>
            <p:cNvSpPr txBox="1"/>
            <p:nvPr/>
          </p:nvSpPr>
          <p:spPr>
            <a:xfrm>
              <a:off x="1511998" y="362915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Moreno-Rodriguez, S., Volle, E. &amp; Lopez-Persem, A.</a:t>
              </a:r>
            </a:p>
          </p:txBody>
        </p:sp>
        <p:sp>
          <p:nvSpPr>
            <p:cNvPr id="28" name="Communications Psychology, 3, 108 · doi:10.1038/s44271-025-00285-8"/>
            <p:cNvSpPr txBox="1"/>
            <p:nvPr/>
          </p:nvSpPr>
          <p:spPr>
            <a:xfrm>
              <a:off x="1511998" y="3829050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  <a:hlinkClick r:id="rId3"/>
                </a:rPr>
                <a:t>Communications Psychology, 3, 108 · doi:10.1038/s44271-025-00285-8</a:t>
              </a:r>
            </a:p>
          </p:txBody>
        </p:sp>
      </p:grpSp>
      <p:sp>
        <p:nvSpPr>
          <p:cNvPr id="30" name="Dissertations"/>
          <p:cNvSpPr txBox="1"/>
          <p:nvPr/>
        </p:nvSpPr>
        <p:spPr>
          <a:xfrm>
            <a:off x="1511998" y="4111498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Dissertations</a:t>
            </a:r>
          </a:p>
        </p:txBody>
      </p:sp>
      <p:grpSp>
        <p:nvGrpSpPr>
          <p:cNvPr id="35" name="Interpersonal synchrony as a substrate of emotion alignment"/>
          <p:cNvGrpSpPr/>
          <p:nvPr/>
        </p:nvGrpSpPr>
        <p:grpSpPr>
          <a:xfrm>
            <a:off x="575995" y="4347718"/>
            <a:ext cx="6408013" cy="591007"/>
            <a:chOff x="575995" y="4347718"/>
            <a:chExt cx="6408013" cy="591007"/>
          </a:xfrm>
        </p:grpSpPr>
        <p:sp>
          <p:nvSpPr>
            <p:cNvPr id="31" name="2021"/>
            <p:cNvSpPr txBox="1"/>
            <p:nvPr/>
          </p:nvSpPr>
          <p:spPr>
            <a:xfrm>
              <a:off x="575995" y="4347718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2021</a:t>
              </a:r>
            </a:p>
          </p:txBody>
        </p:sp>
        <p:sp>
          <p:nvSpPr>
            <p:cNvPr id="32" name="Interpersonal synchrony as a substrate of emotion alignment"/>
            <p:cNvSpPr txBox="1"/>
            <p:nvPr/>
          </p:nvSpPr>
          <p:spPr>
            <a:xfrm>
              <a:off x="1511998" y="4347718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Interpersonal synchrony as a substrate of emotion alignment</a:t>
              </a:r>
            </a:p>
          </p:txBody>
        </p:sp>
        <p:sp>
          <p:nvSpPr>
            <p:cNvPr id="33" name="Battistello, G., Chung, V. &amp; Grèzes, J."/>
            <p:cNvSpPr txBox="1"/>
            <p:nvPr/>
          </p:nvSpPr>
          <p:spPr>
            <a:xfrm>
              <a:off x="1511998" y="4557979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Chung, V. &amp; Grèzes, J.</a:t>
              </a:r>
            </a:p>
          </p:txBody>
        </p:sp>
        <p:sp>
          <p:nvSpPr>
            <p:cNvPr id="34" name="M.Sc dissertation, École Normale Supérieure, Paris"/>
            <p:cNvSpPr txBox="1"/>
            <p:nvPr/>
          </p:nvSpPr>
          <p:spPr>
            <a:xfrm>
              <a:off x="1511998" y="4757877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M.Sc dissertation, École Normale Supérieure, Paris</a:t>
              </a:r>
            </a:p>
          </p:txBody>
        </p:sp>
      </p:grpSp>
      <p:grpSp>
        <p:nvGrpSpPr>
          <p:cNvPr id="40" name="Broca's involvement in peripheral motor activities: a lesion study"/>
          <p:cNvGrpSpPr/>
          <p:nvPr/>
        </p:nvGrpSpPr>
        <p:grpSpPr>
          <a:xfrm>
            <a:off x="575995" y="5014925"/>
            <a:ext cx="6408013" cy="591007"/>
            <a:chOff x="575995" y="5014925"/>
            <a:chExt cx="6408013" cy="591007"/>
          </a:xfrm>
        </p:grpSpPr>
        <p:sp>
          <p:nvSpPr>
            <p:cNvPr id="36" name="2020"/>
            <p:cNvSpPr txBox="1"/>
            <p:nvPr/>
          </p:nvSpPr>
          <p:spPr>
            <a:xfrm>
              <a:off x="575995" y="5014925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2020</a:t>
              </a:r>
            </a:p>
          </p:txBody>
        </p:sp>
        <p:sp>
          <p:nvSpPr>
            <p:cNvPr id="37" name="Broca's involvement in peripheral motor activities: a lesion study"/>
            <p:cNvSpPr txBox="1"/>
            <p:nvPr/>
          </p:nvSpPr>
          <p:spPr>
            <a:xfrm>
              <a:off x="1511998" y="501492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Broca's involvement in peripheral motor activities: a lesion study</a:t>
              </a:r>
            </a:p>
          </p:txBody>
        </p:sp>
        <p:sp>
          <p:nvSpPr>
            <p:cNvPr id="38" name="Battistello, G. &amp; Cristofori, I."/>
            <p:cNvSpPr txBox="1"/>
            <p:nvPr/>
          </p:nvSpPr>
          <p:spPr>
            <a:xfrm>
              <a:off x="1511998" y="5225186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 &amp; Cristofori, I.</a:t>
              </a:r>
            </a:p>
          </p:txBody>
        </p:sp>
        <p:sp>
          <p:nvSpPr>
            <p:cNvPr id="39" name="B.Sc dissertation, Claude Bernard University Lyon 1"/>
            <p:cNvSpPr txBox="1"/>
            <p:nvPr/>
          </p:nvSpPr>
          <p:spPr>
            <a:xfrm>
              <a:off x="1511998" y="542508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B.Sc dissertation, Claude Bernard University Lyon 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575995" y="5732932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LKS &amp; POSTERS"/>
          <p:cNvSpPr txBox="1"/>
          <p:nvPr/>
        </p:nvSpPr>
        <p:spPr>
          <a:xfrm>
            <a:off x="728395" y="5682132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TALKS &amp; POSTERS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995" y="5885332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0" name="The modulatory role of emotions on creativity through the lens of individual pre"/>
          <p:cNvGrpSpPr/>
          <p:nvPr/>
        </p:nvGrpSpPr>
        <p:grpSpPr>
          <a:xfrm>
            <a:off x="575995" y="5986932"/>
            <a:ext cx="6408014" cy="591007"/>
            <a:chOff x="575995" y="5986932"/>
            <a:chExt cx="6408014" cy="591007"/>
          </a:xfrm>
        </p:grpSpPr>
        <p:sp>
          <p:nvSpPr>
            <p:cNvPr id="44" name="2026"/>
            <p:cNvSpPr txBox="1"/>
            <p:nvPr/>
          </p:nvSpPr>
          <p:spPr>
            <a:xfrm>
              <a:off x="575995" y="598693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45" name="The modulatory role of emotions on creativity through the lens of individual pre"/>
            <p:cNvSpPr txBox="1"/>
            <p:nvPr/>
          </p:nvSpPr>
          <p:spPr>
            <a:xfrm>
              <a:off x="1511998" y="598693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The modulatory role of emotions on creativity through the lens of individual preferences</a:t>
              </a:r>
            </a:p>
          </p:txBody>
        </p:sp>
        <p:sp>
          <p:nvSpPr>
            <p:cNvPr id="46" name="Battistello, G., Tang, J. &amp; Lopez-Persem, A."/>
            <p:cNvSpPr txBox="1"/>
            <p:nvPr/>
          </p:nvSpPr>
          <p:spPr>
            <a:xfrm>
              <a:off x="1511998" y="619719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Tang, J. &amp; Lopez-Persem, A.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511998" y="6409791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POSTER"/>
            <p:cNvSpPr txBox="1"/>
            <p:nvPr/>
          </p:nvSpPr>
          <p:spPr>
            <a:xfrm>
              <a:off x="1537398" y="6409791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49" name="Symposium on the Biology of Decision Making (SBDM), Paris, France"/>
            <p:cNvSpPr txBox="1"/>
            <p:nvPr/>
          </p:nvSpPr>
          <p:spPr>
            <a:xfrm>
              <a:off x="2069211" y="6397091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Symposium on the Biology of Decision Making (SBDM), Paris, France</a:t>
              </a:r>
            </a:p>
          </p:txBody>
        </p:sp>
      </p:grpSp>
      <p:grpSp>
        <p:nvGrpSpPr>
          <p:cNvPr id="57" name="How is mood related to creative idea evaluation?"/>
          <p:cNvGrpSpPr/>
          <p:nvPr/>
        </p:nvGrpSpPr>
        <p:grpSpPr>
          <a:xfrm>
            <a:off x="575995" y="6654139"/>
            <a:ext cx="6408014" cy="591007"/>
            <a:chOff x="575995" y="6654139"/>
            <a:chExt cx="6408014" cy="591007"/>
          </a:xfrm>
        </p:grpSpPr>
        <p:sp>
          <p:nvSpPr>
            <p:cNvPr id="51" name="2025"/>
            <p:cNvSpPr txBox="1"/>
            <p:nvPr/>
          </p:nvSpPr>
          <p:spPr>
            <a:xfrm>
              <a:off x="575995" y="6654139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52" name="How is mood related to creative idea evaluation?"/>
            <p:cNvSpPr txBox="1"/>
            <p:nvPr/>
          </p:nvSpPr>
          <p:spPr>
            <a:xfrm>
              <a:off x="1511998" y="6654139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How is mood related to creative idea evaluation?</a:t>
              </a:r>
            </a:p>
          </p:txBody>
        </p:sp>
        <p:sp>
          <p:nvSpPr>
            <p:cNvPr id="53" name="Battistello, G., Tang, J., Vinckier, F. &amp; Lopez-Persem, A."/>
            <p:cNvSpPr txBox="1"/>
            <p:nvPr/>
          </p:nvSpPr>
          <p:spPr>
            <a:xfrm>
              <a:off x="1511998" y="6864400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Tang, J., Vinckier, F. &amp; Lopez-Persem, A.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1511998" y="7076998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OSTER"/>
            <p:cNvSpPr txBox="1"/>
            <p:nvPr/>
          </p:nvSpPr>
          <p:spPr>
            <a:xfrm>
              <a:off x="1537398" y="7076998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56" name="Society for the Neuroscience of Creativity (SfNC), Paris, France"/>
            <p:cNvSpPr txBox="1"/>
            <p:nvPr/>
          </p:nvSpPr>
          <p:spPr>
            <a:xfrm>
              <a:off x="2069211" y="7064298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Society for the Neuroscience of Creativity (SfNC), Paris, France</a:t>
              </a:r>
            </a:p>
          </p:txBody>
        </p:sp>
      </p:grpSp>
      <p:grpSp>
        <p:nvGrpSpPr>
          <p:cNvPr id="64" name="Dissecting decision processes of creativity in depression: preserved valuation m"/>
          <p:cNvGrpSpPr/>
          <p:nvPr/>
        </p:nvGrpSpPr>
        <p:grpSpPr>
          <a:xfrm>
            <a:off x="575995" y="7321346"/>
            <a:ext cx="6408014" cy="756819"/>
            <a:chOff x="575995" y="7321346"/>
            <a:chExt cx="6408014" cy="756819"/>
          </a:xfrm>
        </p:grpSpPr>
        <p:sp>
          <p:nvSpPr>
            <p:cNvPr id="58" name="2025"/>
            <p:cNvSpPr txBox="1"/>
            <p:nvPr/>
          </p:nvSpPr>
          <p:spPr>
            <a:xfrm>
              <a:off x="575995" y="7321346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59" name="Dissecting decision processes of creativity in depression: preserved valuation m"/>
            <p:cNvSpPr txBox="1"/>
            <p:nvPr/>
          </p:nvSpPr>
          <p:spPr>
            <a:xfrm>
              <a:off x="1511998" y="7321346"/>
              <a:ext cx="5472010" cy="357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Dissecting decision processes of creativity in depression: preserved valuation mechanisms aside from altered monitoring of goal-directed dimensions</a:t>
              </a:r>
            </a:p>
          </p:txBody>
        </p:sp>
        <p:sp>
          <p:nvSpPr>
            <p:cNvPr id="60" name="Battistello, G., Tang, J., Vinckier, F. &amp; Lopez-Persem, A."/>
            <p:cNvSpPr txBox="1"/>
            <p:nvPr/>
          </p:nvSpPr>
          <p:spPr>
            <a:xfrm>
              <a:off x="1511998" y="7697419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Tang, J., Vinckier, F. &amp; Lopez-Persem, A.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511998" y="7910017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POSTER"/>
            <p:cNvSpPr txBox="1"/>
            <p:nvPr/>
          </p:nvSpPr>
          <p:spPr>
            <a:xfrm>
              <a:off x="1537398" y="7910017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63" name="Symposium on the Biology of Decision Making (SBDM), Lyon, France"/>
            <p:cNvSpPr txBox="1"/>
            <p:nvPr/>
          </p:nvSpPr>
          <p:spPr>
            <a:xfrm>
              <a:off x="2069211" y="7897317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Symposium on the Biology of Decision Making (SBDM), Lyon, France</a:t>
              </a:r>
            </a:p>
          </p:txBody>
        </p:sp>
      </p:grpSp>
      <p:grpSp>
        <p:nvGrpSpPr>
          <p:cNvPr id="83" name="Domain-generalization of valuation in creative ideation"/>
          <p:cNvGrpSpPr/>
          <p:nvPr/>
        </p:nvGrpSpPr>
        <p:grpSpPr>
          <a:xfrm>
            <a:off x="575995" y="8154365"/>
            <a:ext cx="6408014" cy="1390599"/>
            <a:chOff x="575995" y="8154365"/>
            <a:chExt cx="6408014" cy="1390599"/>
          </a:xfrm>
        </p:grpSpPr>
        <p:sp>
          <p:nvSpPr>
            <p:cNvPr id="65" name="2024"/>
            <p:cNvSpPr txBox="1"/>
            <p:nvPr/>
          </p:nvSpPr>
          <p:spPr>
            <a:xfrm>
              <a:off x="575995" y="8154365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66" name="Domain-generalization of valuation in creative ideation"/>
            <p:cNvSpPr txBox="1"/>
            <p:nvPr/>
          </p:nvSpPr>
          <p:spPr>
            <a:xfrm>
              <a:off x="1511998" y="815436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Domain-generalization of valuation in creative ideation</a:t>
              </a:r>
            </a:p>
          </p:txBody>
        </p:sp>
        <p:sp>
          <p:nvSpPr>
            <p:cNvPr id="67" name="Battistello, G., Moreno-Rodriguez, S., Volle, E. &amp; Lopez-Persem, A."/>
            <p:cNvSpPr txBox="1"/>
            <p:nvPr/>
          </p:nvSpPr>
          <p:spPr>
            <a:xfrm>
              <a:off x="1511998" y="8364626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Moreno-Rodriguez, S., Volle, E. &amp; Lopez-Persem, A.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511998" y="8577224"/>
              <a:ext cx="431800" cy="152400"/>
            </a:xfrm>
            <a:prstGeom prst="roundRect">
              <a:avLst>
                <a:gd name="adj" fmla="val 12000"/>
              </a:avLst>
            </a:prstGeom>
            <a:solidFill>
              <a:srgbClr val="111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ALK"/>
            <p:cNvSpPr txBox="1"/>
            <p:nvPr/>
          </p:nvSpPr>
          <p:spPr>
            <a:xfrm>
              <a:off x="1537398" y="8577224"/>
              <a:ext cx="381000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TALK</a:t>
              </a:r>
            </a:p>
          </p:txBody>
        </p:sp>
        <p:sp>
          <p:nvSpPr>
            <p:cNvPr id="70" name="Society for the Neuroscience of Creativity (SfNC), Toronto, Canada"/>
            <p:cNvSpPr txBox="1"/>
            <p:nvPr/>
          </p:nvSpPr>
          <p:spPr>
            <a:xfrm>
              <a:off x="2007298" y="8564524"/>
              <a:ext cx="49767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Society for the Neuroscience of Creativity (SfNC), Toronto, Canada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511998" y="8777122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OSTER"/>
            <p:cNvSpPr txBox="1"/>
            <p:nvPr/>
          </p:nvSpPr>
          <p:spPr>
            <a:xfrm>
              <a:off x="1537398" y="8777122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73" name="Cognitive Neuroscience Society (CNS), Toronto, Canada"/>
            <p:cNvSpPr txBox="1"/>
            <p:nvPr/>
          </p:nvSpPr>
          <p:spPr>
            <a:xfrm>
              <a:off x="2069211" y="8764422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Cognitive Neuroscience Society (CNS), Toronto, Canada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1511998" y="8977020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POSTER"/>
            <p:cNvSpPr txBox="1"/>
            <p:nvPr/>
          </p:nvSpPr>
          <p:spPr>
            <a:xfrm>
              <a:off x="1537398" y="8977020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76" name="Society for NeuroEconomics (SNE), Lisbon, Portugal"/>
            <p:cNvSpPr txBox="1"/>
            <p:nvPr/>
          </p:nvSpPr>
          <p:spPr>
            <a:xfrm>
              <a:off x="2069211" y="8964320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Society for NeuroEconomics (SNE), Lisbon, Portugal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511998" y="9176918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POSTER"/>
            <p:cNvSpPr txBox="1"/>
            <p:nvPr/>
          </p:nvSpPr>
          <p:spPr>
            <a:xfrm>
              <a:off x="1537398" y="9176918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79" name="Marconi Institute for Creativity (MIC), Cagliari, Italy"/>
            <p:cNvSpPr txBox="1"/>
            <p:nvPr/>
          </p:nvSpPr>
          <p:spPr>
            <a:xfrm>
              <a:off x="2069211" y="9164218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Marconi Institute for Creativity (MIC), Cagliari, Italy</a:t>
              </a: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511998" y="9376816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POSTER"/>
            <p:cNvSpPr txBox="1"/>
            <p:nvPr/>
          </p:nvSpPr>
          <p:spPr>
            <a:xfrm>
              <a:off x="1537398" y="9376816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82" name="Orbitofrontal Cortex meeting (OFC), Paris, France"/>
            <p:cNvSpPr txBox="1"/>
            <p:nvPr/>
          </p:nvSpPr>
          <p:spPr>
            <a:xfrm>
              <a:off x="2069211" y="9364116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Orbitofrontal Cortex meeting (OFC), Paris, France</a:t>
              </a:r>
            </a:p>
          </p:txBody>
        </p:sp>
      </p:grpSp>
      <p:sp>
        <p:nvSpPr>
          <p:cNvPr id="84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Gino Battistello · Curriculum Vitae</a:t>
            </a:r>
          </a:p>
        </p:txBody>
      </p:sp>
      <p:sp>
        <p:nvSpPr>
          <p:cNvPr id="85" name="2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995" y="5908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LKS &amp; POSTERS (CONTINUED)"/>
          <p:cNvSpPr txBox="1"/>
          <p:nvPr/>
        </p:nvSpPr>
        <p:spPr>
          <a:xfrm>
            <a:off x="728395" y="54000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TALKS &amp; POSTERS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95" y="7432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" name="Generalization of the role of subjective valuation in creativity"/>
          <p:cNvGrpSpPr/>
          <p:nvPr/>
        </p:nvGrpSpPr>
        <p:grpSpPr>
          <a:xfrm>
            <a:off x="575995" y="844804"/>
            <a:ext cx="6408014" cy="990803"/>
            <a:chOff x="575995" y="844804"/>
            <a:chExt cx="6408014" cy="990803"/>
          </a:xfrm>
        </p:grpSpPr>
        <p:sp>
          <p:nvSpPr>
            <p:cNvPr id="5" name="2023"/>
            <p:cNvSpPr txBox="1"/>
            <p:nvPr/>
          </p:nvSpPr>
          <p:spPr>
            <a:xfrm>
              <a:off x="575995" y="84480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6" name="Generalization of the role of subjective valuation in creativity"/>
            <p:cNvSpPr txBox="1"/>
            <p:nvPr/>
          </p:nvSpPr>
          <p:spPr>
            <a:xfrm>
              <a:off x="1511998" y="84480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Generalization of the role of subjective valuation in creativity</a:t>
              </a:r>
            </a:p>
          </p:txBody>
        </p:sp>
        <p:sp>
          <p:nvSpPr>
            <p:cNvPr id="7" name="Battistello, G., Moreno-Rodriguez, S., Volle, E. &amp; Lopez-Persem, A."/>
            <p:cNvSpPr txBox="1"/>
            <p:nvPr/>
          </p:nvSpPr>
          <p:spPr>
            <a:xfrm>
              <a:off x="1511998" y="1055065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/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Moreno-Rodriguez, S., Volle, E. &amp; Lopez-Persem, A.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511998" y="1267663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POSTER"/>
            <p:cNvSpPr txBox="1"/>
            <p:nvPr/>
          </p:nvSpPr>
          <p:spPr>
            <a:xfrm>
              <a:off x="1537398" y="1267663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10" name="Ajité·es poster session, Paris Brain Institute (ICM), Paris, France · Poster Pri"/>
            <p:cNvSpPr txBox="1"/>
            <p:nvPr/>
          </p:nvSpPr>
          <p:spPr>
            <a:xfrm>
              <a:off x="2069211" y="1254963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Ajité·es poster session, Paris Brain Institute (ICM), Paris, France · Poster Prize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511998" y="1467561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POSTER"/>
            <p:cNvSpPr txBox="1"/>
            <p:nvPr/>
          </p:nvSpPr>
          <p:spPr>
            <a:xfrm>
              <a:off x="1537398" y="1467561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13" name="Colloque Jeunes Chercheurs (CJC FRESCO), Paris, France"/>
            <p:cNvSpPr txBox="1"/>
            <p:nvPr/>
          </p:nvSpPr>
          <p:spPr>
            <a:xfrm>
              <a:off x="2069211" y="1454861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Colloque Jeunes Chercheurs (CJC FRESCO), Paris, France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511998" y="1667459"/>
              <a:ext cx="4937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OSTER"/>
            <p:cNvSpPr txBox="1"/>
            <p:nvPr/>
          </p:nvSpPr>
          <p:spPr>
            <a:xfrm>
              <a:off x="1537398" y="1667459"/>
              <a:ext cx="4429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POSTER</a:t>
              </a:r>
            </a:p>
          </p:txBody>
        </p:sp>
        <p:sp>
          <p:nvSpPr>
            <p:cNvPr id="16" name="Forum of Cognitive Sciences (FSC), Paris, France"/>
            <p:cNvSpPr txBox="1"/>
            <p:nvPr/>
          </p:nvSpPr>
          <p:spPr>
            <a:xfrm>
              <a:off x="2069211" y="1654759"/>
              <a:ext cx="4914798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Forum of Cognitive Sciences (FSC), Paris, France</a:t>
              </a:r>
            </a:p>
          </p:txBody>
        </p:sp>
      </p:grpSp>
      <p:grpSp>
        <p:nvGrpSpPr>
          <p:cNvPr id="24" name="Implicit and explicit mechanisms of collective emotion: moderators and correlate"/>
          <p:cNvGrpSpPr/>
          <p:nvPr/>
        </p:nvGrpSpPr>
        <p:grpSpPr>
          <a:xfrm>
            <a:off x="575995" y="1911807"/>
            <a:ext cx="6408013" cy="756818"/>
            <a:chOff x="575995" y="1911807"/>
            <a:chExt cx="6408013" cy="756818"/>
          </a:xfrm>
        </p:grpSpPr>
        <p:sp>
          <p:nvSpPr>
            <p:cNvPr id="18" name="2022"/>
            <p:cNvSpPr txBox="1"/>
            <p:nvPr/>
          </p:nvSpPr>
          <p:spPr>
            <a:xfrm>
              <a:off x="575995" y="1911807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2022</a:t>
              </a:r>
            </a:p>
          </p:txBody>
        </p:sp>
        <p:sp>
          <p:nvSpPr>
            <p:cNvPr id="19" name="Implicit and explicit mechanisms of collective emotion: moderators and correlate"/>
            <p:cNvSpPr txBox="1"/>
            <p:nvPr/>
          </p:nvSpPr>
          <p:spPr>
            <a:xfrm>
              <a:off x="1511998" y="1911807"/>
              <a:ext cx="5472010" cy="35702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Implicit and explicit mechanisms of collective emotion: moderators and correlates of interpersonal emotion alignment in dyads watching film clips together</a:t>
              </a:r>
            </a:p>
          </p:txBody>
        </p:sp>
        <p:sp>
          <p:nvSpPr>
            <p:cNvPr id="20" name="Chung, V., Battistello, G., Pacherie, E., Mennella, R. &amp; Grèzes, J."/>
            <p:cNvSpPr txBox="1"/>
            <p:nvPr/>
          </p:nvSpPr>
          <p:spPr>
            <a:xfrm>
              <a:off x="1511998" y="2287879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Chung, V., </a:t>
              </a:r>
              <a:r>
                <a:rPr sz="900" b="1">
                  <a:solidFill>
                    <a:srgbClr val="666666"/>
                  </a:solidFill>
                  <a:latin typeface="Arial"/>
                </a:rPr>
                <a:t>Battistello, G.</a:t>
              </a:r>
              <a:r>
                <a:rPr sz="900" b="0">
                  <a:solidFill>
                    <a:srgbClr val="666666"/>
                  </a:solidFill>
                  <a:latin typeface="Arial"/>
                </a:rPr>
                <a:t>, Pacherie, E., Mennella, R. &amp; Grèzes, J.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511998" y="2500477"/>
              <a:ext cx="431800" cy="152400"/>
            </a:xfrm>
            <a:prstGeom prst="roundRect">
              <a:avLst>
                <a:gd name="adj" fmla="val 12000"/>
              </a:avLst>
            </a:prstGeom>
            <a:solidFill>
              <a:srgbClr val="1111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ALK"/>
            <p:cNvSpPr txBox="1"/>
            <p:nvPr/>
          </p:nvSpPr>
          <p:spPr>
            <a:xfrm>
              <a:off x="1537398" y="2500477"/>
              <a:ext cx="381000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TALK</a:t>
              </a:r>
            </a:p>
          </p:txBody>
        </p:sp>
        <p:sp>
          <p:nvSpPr>
            <p:cNvPr id="23" name="Central European Cognitive Science Association (DUCOG 2022), Dubrovnik, Croatia"/>
            <p:cNvSpPr txBox="1"/>
            <p:nvPr/>
          </p:nvSpPr>
          <p:spPr>
            <a:xfrm>
              <a:off x="2007298" y="2487777"/>
              <a:ext cx="49767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111111"/>
                  </a:solidFill>
                  <a:latin typeface="Arial"/>
                </a:rPr>
                <a:t>Central European Cognitive Science Association (DUCOG 2022), Dubrovnik, Croatia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575995" y="2795625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RAINING"/>
          <p:cNvSpPr txBox="1"/>
          <p:nvPr/>
        </p:nvSpPr>
        <p:spPr>
          <a:xfrm>
            <a:off x="728395" y="2744825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5995" y="2948025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Computational Psychiatry Course (CPC)"/>
          <p:cNvGrpSpPr/>
          <p:nvPr/>
        </p:nvGrpSpPr>
        <p:grpSpPr>
          <a:xfrm>
            <a:off x="575995" y="3049625"/>
            <a:ext cx="6408013" cy="601371"/>
            <a:chOff x="575995" y="3049625"/>
            <a:chExt cx="6408013" cy="601371"/>
          </a:xfrm>
        </p:grpSpPr>
        <p:sp>
          <p:nvSpPr>
            <p:cNvPr id="28" name="2026"/>
            <p:cNvSpPr txBox="1"/>
            <p:nvPr/>
          </p:nvSpPr>
          <p:spPr>
            <a:xfrm>
              <a:off x="575995" y="3049625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29" name="Computational Psychiatry Course (CPC)"/>
            <p:cNvSpPr txBox="1"/>
            <p:nvPr/>
          </p:nvSpPr>
          <p:spPr>
            <a:xfrm>
              <a:off x="1511998" y="304962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Computational Psychiatry Course (CPC)</a:t>
              </a:r>
            </a:p>
          </p:txBody>
        </p:sp>
        <p:sp>
          <p:nvSpPr>
            <p:cNvPr id="30" name="Theoretical and hands-on modelling of brain and behaviour applied to psychiatry"/>
            <p:cNvSpPr txBox="1"/>
            <p:nvPr/>
          </p:nvSpPr>
          <p:spPr>
            <a:xfrm>
              <a:off x="1511998" y="325988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Theoretical and hands-on modelling of brain and behaviour applied to psychiatry</a:t>
              </a:r>
            </a:p>
          </p:txBody>
        </p:sp>
        <p:sp>
          <p:nvSpPr>
            <p:cNvPr id="31" name="Translational Neuromodelling Unit, University of Zurich &amp; ETH Zurich"/>
            <p:cNvSpPr txBox="1"/>
            <p:nvPr/>
          </p:nvSpPr>
          <p:spPr>
            <a:xfrm>
              <a:off x="1511998" y="3470148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Translational Neuromodelling Unit, University of Zurich &amp; ETH Zurich</a:t>
              </a:r>
            </a:p>
          </p:txBody>
        </p:sp>
      </p:grpSp>
      <p:grpSp>
        <p:nvGrpSpPr>
          <p:cNvPr id="37" name="Computational Decision Sciences (CDS)"/>
          <p:cNvGrpSpPr/>
          <p:nvPr/>
        </p:nvGrpSpPr>
        <p:grpSpPr>
          <a:xfrm>
            <a:off x="575995" y="3727196"/>
            <a:ext cx="6408013" cy="601370"/>
            <a:chOff x="575995" y="3727196"/>
            <a:chExt cx="6408013" cy="601370"/>
          </a:xfrm>
        </p:grpSpPr>
        <p:sp>
          <p:nvSpPr>
            <p:cNvPr id="33" name="2025"/>
            <p:cNvSpPr txBox="1"/>
            <p:nvPr/>
          </p:nvSpPr>
          <p:spPr>
            <a:xfrm>
              <a:off x="575995" y="3727196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34" name="Computational Decision Sciences (CDS)"/>
            <p:cNvSpPr txBox="1"/>
            <p:nvPr/>
          </p:nvSpPr>
          <p:spPr>
            <a:xfrm>
              <a:off x="1511998" y="372719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Computational Decision Sciences (CDS)</a:t>
              </a:r>
            </a:p>
          </p:txBody>
        </p:sp>
        <p:sp>
          <p:nvSpPr>
            <p:cNvPr id="35" name="From reinforcement learning to complex collective behaviour"/>
            <p:cNvSpPr txBox="1"/>
            <p:nvPr/>
          </p:nvSpPr>
          <p:spPr>
            <a:xfrm>
              <a:off x="1511998" y="3937457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From reinforcement learning to complex collective behaviour</a:t>
              </a:r>
            </a:p>
          </p:txBody>
        </p:sp>
        <p:sp>
          <p:nvSpPr>
            <p:cNvPr id="36" name="Royal Holloway, University of London"/>
            <p:cNvSpPr txBox="1"/>
            <p:nvPr/>
          </p:nvSpPr>
          <p:spPr>
            <a:xfrm>
              <a:off x="1511998" y="4147718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Royal Holloway, University of London</a:t>
              </a:r>
            </a:p>
          </p:txBody>
        </p:sp>
      </p:grpSp>
      <p:grpSp>
        <p:nvGrpSpPr>
          <p:cNvPr id="42" name="COGNESTIC"/>
          <p:cNvGrpSpPr/>
          <p:nvPr/>
        </p:nvGrpSpPr>
        <p:grpSpPr>
          <a:xfrm>
            <a:off x="575995" y="4404766"/>
            <a:ext cx="6408013" cy="601370"/>
            <a:chOff x="575995" y="4404766"/>
            <a:chExt cx="6408013" cy="601370"/>
          </a:xfrm>
        </p:grpSpPr>
        <p:sp>
          <p:nvSpPr>
            <p:cNvPr id="38" name="2025"/>
            <p:cNvSpPr txBox="1"/>
            <p:nvPr/>
          </p:nvSpPr>
          <p:spPr>
            <a:xfrm>
              <a:off x="575995" y="4404766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39" name="COGNESTIC"/>
            <p:cNvSpPr txBox="1"/>
            <p:nvPr/>
          </p:nvSpPr>
          <p:spPr>
            <a:xfrm>
              <a:off x="1511998" y="440476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COGNESTIC</a:t>
              </a:r>
            </a:p>
          </p:txBody>
        </p:sp>
        <p:sp>
          <p:nvSpPr>
            <p:cNvPr id="40" name="Neuroimaging analysis with open-source libraries"/>
            <p:cNvSpPr txBox="1"/>
            <p:nvPr/>
          </p:nvSpPr>
          <p:spPr>
            <a:xfrm>
              <a:off x="1511998" y="4615027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Neuroimaging analysis with open-source libraries</a:t>
              </a:r>
            </a:p>
          </p:txBody>
        </p:sp>
        <p:sp>
          <p:nvSpPr>
            <p:cNvPr id="41" name="MRC Cognition and Brain Sciences Unit, University of Cambridge"/>
            <p:cNvSpPr txBox="1"/>
            <p:nvPr/>
          </p:nvSpPr>
          <p:spPr>
            <a:xfrm>
              <a:off x="1511998" y="4825288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MRC Cognition and Brain Sciences Unit, University of Cambridge</a:t>
              </a:r>
            </a:p>
          </p:txBody>
        </p:sp>
      </p:grpSp>
      <p:grpSp>
        <p:nvGrpSpPr>
          <p:cNvPr id="46" name="Neuromatch Academy (online)"/>
          <p:cNvGrpSpPr/>
          <p:nvPr/>
        </p:nvGrpSpPr>
        <p:grpSpPr>
          <a:xfrm>
            <a:off x="575995" y="5082336"/>
            <a:ext cx="6408013" cy="401472"/>
            <a:chOff x="575995" y="5082336"/>
            <a:chExt cx="6408013" cy="401472"/>
          </a:xfrm>
        </p:grpSpPr>
        <p:sp>
          <p:nvSpPr>
            <p:cNvPr id="43" name="2025"/>
            <p:cNvSpPr txBox="1"/>
            <p:nvPr/>
          </p:nvSpPr>
          <p:spPr>
            <a:xfrm>
              <a:off x="575995" y="5082336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44" name="Neuromatch Academy (online)"/>
            <p:cNvSpPr txBox="1"/>
            <p:nvPr/>
          </p:nvSpPr>
          <p:spPr>
            <a:xfrm>
              <a:off x="1511998" y="508233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Neuromatch Academy (online)</a:t>
              </a:r>
            </a:p>
          </p:txBody>
        </p:sp>
        <p:sp>
          <p:nvSpPr>
            <p:cNvPr id="45" name="Computational neuroscience methods in Python"/>
            <p:cNvSpPr txBox="1"/>
            <p:nvPr/>
          </p:nvSpPr>
          <p:spPr>
            <a:xfrm>
              <a:off x="1511998" y="5292597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Computational neuroscience methods in Python</a:t>
              </a:r>
            </a:p>
          </p:txBody>
        </p:sp>
      </p:grpSp>
      <p:grpSp>
        <p:nvGrpSpPr>
          <p:cNvPr id="51" name="Human Brain Anatomy Course"/>
          <p:cNvGrpSpPr/>
          <p:nvPr/>
        </p:nvGrpSpPr>
        <p:grpSpPr>
          <a:xfrm>
            <a:off x="575995" y="5560009"/>
            <a:ext cx="6408013" cy="601370"/>
            <a:chOff x="575995" y="5560009"/>
            <a:chExt cx="6408013" cy="601370"/>
          </a:xfrm>
        </p:grpSpPr>
        <p:sp>
          <p:nvSpPr>
            <p:cNvPr id="47" name="2024"/>
            <p:cNvSpPr txBox="1"/>
            <p:nvPr/>
          </p:nvSpPr>
          <p:spPr>
            <a:xfrm>
              <a:off x="575995" y="5560009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48" name="Human Brain Anatomy Course"/>
            <p:cNvSpPr txBox="1"/>
            <p:nvPr/>
          </p:nvSpPr>
          <p:spPr>
            <a:xfrm>
              <a:off x="1511998" y="5560009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Human Brain Anatomy Course</a:t>
              </a:r>
            </a:p>
          </p:txBody>
        </p:sp>
        <p:sp>
          <p:nvSpPr>
            <p:cNvPr id="49" name="Descriptive and practical observation of human brain specimens"/>
            <p:cNvSpPr txBox="1"/>
            <p:nvPr/>
          </p:nvSpPr>
          <p:spPr>
            <a:xfrm>
              <a:off x="1511998" y="577027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Descriptive and practical observation of human brain specimens</a:t>
              </a:r>
            </a:p>
          </p:txBody>
        </p:sp>
        <p:sp>
          <p:nvSpPr>
            <p:cNvPr id="50" name="King's College London, with Dr. Paul Johns (Institute of Neurology, UCL)"/>
            <p:cNvSpPr txBox="1"/>
            <p:nvPr/>
          </p:nvSpPr>
          <p:spPr>
            <a:xfrm>
              <a:off x="1511998" y="5980531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King's College London, with Dr. Paul Johns (Institute of Neurology, UCL)</a:t>
              </a:r>
            </a:p>
          </p:txBody>
        </p:sp>
      </p:grpSp>
      <p:grpSp>
        <p:nvGrpSpPr>
          <p:cNvPr id="56" name="Information Theory and Self-Organisation (online)"/>
          <p:cNvGrpSpPr/>
          <p:nvPr/>
        </p:nvGrpSpPr>
        <p:grpSpPr>
          <a:xfrm>
            <a:off x="575995" y="6237579"/>
            <a:ext cx="6408013" cy="601370"/>
            <a:chOff x="575995" y="6237579"/>
            <a:chExt cx="6408013" cy="601370"/>
          </a:xfrm>
        </p:grpSpPr>
        <p:sp>
          <p:nvSpPr>
            <p:cNvPr id="52" name="2024"/>
            <p:cNvSpPr txBox="1"/>
            <p:nvPr/>
          </p:nvSpPr>
          <p:spPr>
            <a:xfrm>
              <a:off x="575995" y="6237579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53" name="Information Theory and Self-Organisation (online)"/>
            <p:cNvSpPr txBox="1"/>
            <p:nvPr/>
          </p:nvSpPr>
          <p:spPr>
            <a:xfrm>
              <a:off x="1511998" y="6237579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Information Theory and Self-Organisation (online)</a:t>
              </a:r>
            </a:p>
          </p:txBody>
        </p:sp>
        <p:sp>
          <p:nvSpPr>
            <p:cNvPr id="54" name="System dynamics and information-theoretic measures"/>
            <p:cNvSpPr txBox="1"/>
            <p:nvPr/>
          </p:nvSpPr>
          <p:spPr>
            <a:xfrm>
              <a:off x="1511998" y="644784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System dynamics and information-theoretic measures</a:t>
              </a:r>
            </a:p>
          </p:txBody>
        </p:sp>
        <p:sp>
          <p:nvSpPr>
            <p:cNvPr id="55" name="University of Sydney, with Dr. Joseph Lizier"/>
            <p:cNvSpPr txBox="1"/>
            <p:nvPr/>
          </p:nvSpPr>
          <p:spPr>
            <a:xfrm>
              <a:off x="1511998" y="6658101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University of Sydney, with Dr. Joseph Lizier</a:t>
              </a:r>
            </a:p>
          </p:txBody>
        </p:sp>
      </p:grpSp>
      <p:sp>
        <p:nvSpPr>
          <p:cNvPr id="57" name="Rectangle 56"/>
          <p:cNvSpPr/>
          <p:nvPr/>
        </p:nvSpPr>
        <p:spPr>
          <a:xfrm>
            <a:off x="575995" y="7042149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ACHING &amp; SUPERVISION"/>
          <p:cNvSpPr txBox="1"/>
          <p:nvPr/>
        </p:nvSpPr>
        <p:spPr>
          <a:xfrm>
            <a:off x="728395" y="6991349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TEACHING &amp; SUPERVISION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75995" y="7194549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aching"/>
          <p:cNvSpPr txBox="1"/>
          <p:nvPr/>
        </p:nvSpPr>
        <p:spPr>
          <a:xfrm>
            <a:off x="1511998" y="7321549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Teaching</a:t>
            </a:r>
          </a:p>
        </p:txBody>
      </p:sp>
      <p:grpSp>
        <p:nvGrpSpPr>
          <p:cNvPr id="65" name="Teaching Assistant"/>
          <p:cNvGrpSpPr/>
          <p:nvPr/>
        </p:nvGrpSpPr>
        <p:grpSpPr>
          <a:xfrm>
            <a:off x="575995" y="7557769"/>
            <a:ext cx="6408013" cy="601371"/>
            <a:chOff x="575995" y="7557769"/>
            <a:chExt cx="6408013" cy="601371"/>
          </a:xfrm>
        </p:grpSpPr>
        <p:sp>
          <p:nvSpPr>
            <p:cNvPr id="61" name="2026"/>
            <p:cNvSpPr txBox="1"/>
            <p:nvPr/>
          </p:nvSpPr>
          <p:spPr>
            <a:xfrm>
              <a:off x="575995" y="7557769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62" name="Teaching Assistant"/>
            <p:cNvSpPr txBox="1"/>
            <p:nvPr/>
          </p:nvSpPr>
          <p:spPr>
            <a:xfrm>
              <a:off x="1511998" y="7557769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Teaching Assistant</a:t>
              </a:r>
            </a:p>
          </p:txBody>
        </p:sp>
        <p:sp>
          <p:nvSpPr>
            <p:cNvPr id="63" name="Literature review &amp; meta-analysis"/>
            <p:cNvSpPr txBox="1"/>
            <p:nvPr/>
          </p:nvSpPr>
          <p:spPr>
            <a:xfrm>
              <a:off x="1511998" y="776803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Literature review &amp; meta-analysis</a:t>
              </a:r>
            </a:p>
          </p:txBody>
        </p:sp>
        <p:sp>
          <p:nvSpPr>
            <p:cNvPr id="64" name="Master of Cognitive Science (Cogmaster), ENS – PSL"/>
            <p:cNvSpPr txBox="1"/>
            <p:nvPr/>
          </p:nvSpPr>
          <p:spPr>
            <a:xfrm>
              <a:off x="1511998" y="797829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Master of Cognitive Science (Cogmaster), ENS – PSL</a:t>
              </a:r>
            </a:p>
          </p:txBody>
        </p:sp>
      </p:grpSp>
      <p:grpSp>
        <p:nvGrpSpPr>
          <p:cNvPr id="70" name="Teaching Assistant"/>
          <p:cNvGrpSpPr/>
          <p:nvPr/>
        </p:nvGrpSpPr>
        <p:grpSpPr>
          <a:xfrm>
            <a:off x="575995" y="8235340"/>
            <a:ext cx="6408013" cy="601370"/>
            <a:chOff x="575995" y="8235340"/>
            <a:chExt cx="6408013" cy="601370"/>
          </a:xfrm>
        </p:grpSpPr>
        <p:sp>
          <p:nvSpPr>
            <p:cNvPr id="66" name="2025"/>
            <p:cNvSpPr txBox="1"/>
            <p:nvPr/>
          </p:nvSpPr>
          <p:spPr>
            <a:xfrm>
              <a:off x="575995" y="8235340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67" name="Teaching Assistant"/>
            <p:cNvSpPr txBox="1"/>
            <p:nvPr/>
          </p:nvSpPr>
          <p:spPr>
            <a:xfrm>
              <a:off x="1511998" y="823534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Teaching Assistant</a:t>
              </a:r>
            </a:p>
          </p:txBody>
        </p:sp>
        <p:sp>
          <p:nvSpPr>
            <p:cNvPr id="68" name="Literature review &amp; meta-analysis"/>
            <p:cNvSpPr txBox="1"/>
            <p:nvPr/>
          </p:nvSpPr>
          <p:spPr>
            <a:xfrm>
              <a:off x="1511998" y="844560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Literature review &amp; meta-analysis</a:t>
              </a:r>
            </a:p>
          </p:txBody>
        </p:sp>
        <p:sp>
          <p:nvSpPr>
            <p:cNvPr id="69" name="Master of Cognitive Science (Cogmaster), ENS – PSL"/>
            <p:cNvSpPr txBox="1"/>
            <p:nvPr/>
          </p:nvSpPr>
          <p:spPr>
            <a:xfrm>
              <a:off x="1511998" y="865586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Master of Cognitive Science (Cogmaster), ENS – PSL</a:t>
              </a:r>
            </a:p>
          </p:txBody>
        </p:sp>
      </p:grpSp>
      <p:grpSp>
        <p:nvGrpSpPr>
          <p:cNvPr id="75" name="Invited lecturer"/>
          <p:cNvGrpSpPr/>
          <p:nvPr/>
        </p:nvGrpSpPr>
        <p:grpSpPr>
          <a:xfrm>
            <a:off x="575995" y="8912910"/>
            <a:ext cx="6408013" cy="601371"/>
            <a:chOff x="575995" y="8912910"/>
            <a:chExt cx="6408013" cy="601371"/>
          </a:xfrm>
        </p:grpSpPr>
        <p:sp>
          <p:nvSpPr>
            <p:cNvPr id="71" name="2025"/>
            <p:cNvSpPr txBox="1"/>
            <p:nvPr/>
          </p:nvSpPr>
          <p:spPr>
            <a:xfrm>
              <a:off x="575995" y="8912910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72" name="Invited lecturer"/>
            <p:cNvSpPr txBox="1"/>
            <p:nvPr/>
          </p:nvSpPr>
          <p:spPr>
            <a:xfrm>
              <a:off x="1511998" y="891291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Invited lecturer</a:t>
              </a:r>
            </a:p>
          </p:txBody>
        </p:sp>
        <p:sp>
          <p:nvSpPr>
            <p:cNvPr id="73" name="Artificial neural networks to probe creativity"/>
            <p:cNvSpPr txBox="1"/>
            <p:nvPr/>
          </p:nvSpPr>
          <p:spPr>
            <a:xfrm>
              <a:off x="1511998" y="912317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Artificial neural networks to probe creativity</a:t>
              </a:r>
            </a:p>
          </p:txBody>
        </p:sp>
        <p:sp>
          <p:nvSpPr>
            <p:cNvPr id="74" name="Master iMind, PSL University"/>
            <p:cNvSpPr txBox="1"/>
            <p:nvPr/>
          </p:nvSpPr>
          <p:spPr>
            <a:xfrm>
              <a:off x="1511998" y="933343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Master iMind, PSL University</a:t>
              </a:r>
            </a:p>
          </p:txBody>
        </p:sp>
      </p:grpSp>
      <p:sp>
        <p:nvSpPr>
          <p:cNvPr id="76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Gino Battistello · Curriculum Vitae</a:t>
            </a:r>
          </a:p>
        </p:txBody>
      </p:sp>
      <p:sp>
        <p:nvSpPr>
          <p:cNvPr id="77" name="3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995" y="5908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ACHING &amp; SUPERVISION (CONTINUED)"/>
          <p:cNvSpPr txBox="1"/>
          <p:nvPr/>
        </p:nvSpPr>
        <p:spPr>
          <a:xfrm>
            <a:off x="728395" y="54000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TEACHING &amp; SUPERVISION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95" y="7432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aching (continued)"/>
          <p:cNvSpPr txBox="1"/>
          <p:nvPr/>
        </p:nvSpPr>
        <p:spPr>
          <a:xfrm>
            <a:off x="1511998" y="870204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Teaching (continued)</a:t>
            </a:r>
          </a:p>
        </p:txBody>
      </p:sp>
      <p:grpSp>
        <p:nvGrpSpPr>
          <p:cNvPr id="10" name="Invited lecturer"/>
          <p:cNvGrpSpPr/>
          <p:nvPr/>
        </p:nvGrpSpPr>
        <p:grpSpPr>
          <a:xfrm>
            <a:off x="575995" y="1106424"/>
            <a:ext cx="6408013" cy="601370"/>
            <a:chOff x="575995" y="1106424"/>
            <a:chExt cx="6408013" cy="601370"/>
          </a:xfrm>
        </p:grpSpPr>
        <p:sp>
          <p:nvSpPr>
            <p:cNvPr id="6" name="2024"/>
            <p:cNvSpPr txBox="1"/>
            <p:nvPr/>
          </p:nvSpPr>
          <p:spPr>
            <a:xfrm>
              <a:off x="575995" y="110642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7" name="Invited lecturer"/>
            <p:cNvSpPr txBox="1"/>
            <p:nvPr/>
          </p:nvSpPr>
          <p:spPr>
            <a:xfrm>
              <a:off x="1511998" y="110642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Invited lecturer</a:t>
              </a:r>
            </a:p>
          </p:txBody>
        </p:sp>
        <p:sp>
          <p:nvSpPr>
            <p:cNvPr id="8" name="Probing creativity with an experimental approach"/>
            <p:cNvSpPr txBox="1"/>
            <p:nvPr/>
          </p:nvSpPr>
          <p:spPr>
            <a:xfrm>
              <a:off x="1511998" y="131668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Probing creativity with an experimental approach</a:t>
              </a:r>
            </a:p>
          </p:txBody>
        </p:sp>
        <p:sp>
          <p:nvSpPr>
            <p:cNvPr id="9" name="Master iMind, PSL University"/>
            <p:cNvSpPr txBox="1"/>
            <p:nvPr/>
          </p:nvSpPr>
          <p:spPr>
            <a:xfrm>
              <a:off x="1511998" y="1526946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Master iMind, PSL University</a:t>
              </a:r>
            </a:p>
          </p:txBody>
        </p:sp>
      </p:grpSp>
      <p:sp>
        <p:nvSpPr>
          <p:cNvPr id="11" name="Rectangle 10"/>
          <p:cNvSpPr/>
          <p:nvPr/>
        </p:nvSpPr>
        <p:spPr>
          <a:xfrm>
            <a:off x="575995" y="189829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udent supervision"/>
          <p:cNvSpPr txBox="1"/>
          <p:nvPr/>
        </p:nvSpPr>
        <p:spPr>
          <a:xfrm>
            <a:off x="1511998" y="2012594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Student supervision</a:t>
            </a:r>
          </a:p>
        </p:txBody>
      </p:sp>
      <p:grpSp>
        <p:nvGrpSpPr>
          <p:cNvPr id="16" name="Areti Daskalou"/>
          <p:cNvGrpSpPr/>
          <p:nvPr/>
        </p:nvGrpSpPr>
        <p:grpSpPr>
          <a:xfrm>
            <a:off x="575995" y="2248814"/>
            <a:ext cx="6408013" cy="401472"/>
            <a:chOff x="575995" y="2248814"/>
            <a:chExt cx="6408013" cy="401472"/>
          </a:xfrm>
        </p:grpSpPr>
        <p:sp>
          <p:nvSpPr>
            <p:cNvPr id="13" name="2026"/>
            <p:cNvSpPr txBox="1"/>
            <p:nvPr/>
          </p:nvSpPr>
          <p:spPr>
            <a:xfrm>
              <a:off x="575995" y="224881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14" name="Areti Daskalou"/>
            <p:cNvSpPr txBox="1"/>
            <p:nvPr/>
          </p:nvSpPr>
          <p:spPr>
            <a:xfrm>
              <a:off x="1511998" y="2248814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Areti Daskalou</a:t>
              </a:r>
            </a:p>
          </p:txBody>
        </p:sp>
        <p:sp>
          <p:nvSpPr>
            <p:cNvPr id="15" name="M.Sc · Methodological supervision"/>
            <p:cNvSpPr txBox="1"/>
            <p:nvPr/>
          </p:nvSpPr>
          <p:spPr>
            <a:xfrm>
              <a:off x="1511998" y="2459075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M.Sc · Methodological supervision</a:t>
              </a:r>
            </a:p>
          </p:txBody>
        </p:sp>
      </p:grpSp>
      <p:grpSp>
        <p:nvGrpSpPr>
          <p:cNvPr id="20" name="Wissam Mokrani"/>
          <p:cNvGrpSpPr/>
          <p:nvPr/>
        </p:nvGrpSpPr>
        <p:grpSpPr>
          <a:xfrm>
            <a:off x="575995" y="2726486"/>
            <a:ext cx="6408013" cy="401473"/>
            <a:chOff x="575995" y="2726486"/>
            <a:chExt cx="6408013" cy="401473"/>
          </a:xfrm>
        </p:grpSpPr>
        <p:sp>
          <p:nvSpPr>
            <p:cNvPr id="17" name="2026"/>
            <p:cNvSpPr txBox="1"/>
            <p:nvPr/>
          </p:nvSpPr>
          <p:spPr>
            <a:xfrm>
              <a:off x="575995" y="2726486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18" name="Wissam Mokrani"/>
            <p:cNvSpPr txBox="1"/>
            <p:nvPr/>
          </p:nvSpPr>
          <p:spPr>
            <a:xfrm>
              <a:off x="1511998" y="2726486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Wissam Mokrani</a:t>
              </a:r>
            </a:p>
          </p:txBody>
        </p:sp>
        <p:sp>
          <p:nvSpPr>
            <p:cNvPr id="19" name="B.Sc · Conceptual supervision"/>
            <p:cNvSpPr txBox="1"/>
            <p:nvPr/>
          </p:nvSpPr>
          <p:spPr>
            <a:xfrm>
              <a:off x="1511998" y="2936748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B.Sc · Conceptual supervision</a:t>
              </a:r>
            </a:p>
          </p:txBody>
        </p:sp>
      </p:grpSp>
      <p:grpSp>
        <p:nvGrpSpPr>
          <p:cNvPr id="24" name="Yasmin Schille"/>
          <p:cNvGrpSpPr/>
          <p:nvPr/>
        </p:nvGrpSpPr>
        <p:grpSpPr>
          <a:xfrm>
            <a:off x="575995" y="3204159"/>
            <a:ext cx="6408013" cy="401472"/>
            <a:chOff x="575995" y="3204159"/>
            <a:chExt cx="6408013" cy="401472"/>
          </a:xfrm>
        </p:grpSpPr>
        <p:sp>
          <p:nvSpPr>
            <p:cNvPr id="21" name="2025"/>
            <p:cNvSpPr txBox="1"/>
            <p:nvPr/>
          </p:nvSpPr>
          <p:spPr>
            <a:xfrm>
              <a:off x="575995" y="3204159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22" name="Yasmin Schille"/>
            <p:cNvSpPr txBox="1"/>
            <p:nvPr/>
          </p:nvSpPr>
          <p:spPr>
            <a:xfrm>
              <a:off x="1511998" y="3204159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Yasmin Schille</a:t>
              </a:r>
            </a:p>
          </p:txBody>
        </p:sp>
        <p:sp>
          <p:nvSpPr>
            <p:cNvPr id="23" name="B.Sc · Methodological supervision"/>
            <p:cNvSpPr txBox="1"/>
            <p:nvPr/>
          </p:nvSpPr>
          <p:spPr>
            <a:xfrm>
              <a:off x="1511998" y="341442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B.Sc · Methodological supervision</a:t>
              </a:r>
            </a:p>
          </p:txBody>
        </p:sp>
      </p:grpSp>
      <p:grpSp>
        <p:nvGrpSpPr>
          <p:cNvPr id="28" name="Julie Tang"/>
          <p:cNvGrpSpPr/>
          <p:nvPr/>
        </p:nvGrpSpPr>
        <p:grpSpPr>
          <a:xfrm>
            <a:off x="575995" y="3681831"/>
            <a:ext cx="6408013" cy="401472"/>
            <a:chOff x="575995" y="3681831"/>
            <a:chExt cx="6408013" cy="401472"/>
          </a:xfrm>
        </p:grpSpPr>
        <p:sp>
          <p:nvSpPr>
            <p:cNvPr id="25" name="2024"/>
            <p:cNvSpPr txBox="1"/>
            <p:nvPr/>
          </p:nvSpPr>
          <p:spPr>
            <a:xfrm>
              <a:off x="575995" y="3681831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26" name="Julie Tang"/>
            <p:cNvSpPr txBox="1"/>
            <p:nvPr/>
          </p:nvSpPr>
          <p:spPr>
            <a:xfrm>
              <a:off x="1511998" y="368183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Julie Tang</a:t>
              </a:r>
            </a:p>
          </p:txBody>
        </p:sp>
        <p:sp>
          <p:nvSpPr>
            <p:cNvPr id="27" name="M.Sc · Methodological supervision"/>
            <p:cNvSpPr txBox="1"/>
            <p:nvPr/>
          </p:nvSpPr>
          <p:spPr>
            <a:xfrm>
              <a:off x="1511998" y="389209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M.Sc · Methodological supervision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575995" y="42865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WARDS &amp; GRANTS"/>
          <p:cNvSpPr txBox="1"/>
          <p:nvPr/>
        </p:nvSpPr>
        <p:spPr>
          <a:xfrm>
            <a:off x="728395" y="423570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AWARDS &amp; GRANTS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5995" y="44389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Training grant in computational psychiatry"/>
          <p:cNvGrpSpPr/>
          <p:nvPr/>
        </p:nvGrpSpPr>
        <p:grpSpPr>
          <a:xfrm>
            <a:off x="575995" y="4540504"/>
            <a:ext cx="6408014" cy="391109"/>
            <a:chOff x="575995" y="4540504"/>
            <a:chExt cx="6408014" cy="391109"/>
          </a:xfrm>
        </p:grpSpPr>
        <p:sp>
          <p:nvSpPr>
            <p:cNvPr id="32" name="2026"/>
            <p:cNvSpPr txBox="1"/>
            <p:nvPr/>
          </p:nvSpPr>
          <p:spPr>
            <a:xfrm>
              <a:off x="575995" y="454050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511998" y="4553204"/>
              <a:ext cx="503237" cy="152400"/>
            </a:xfrm>
            <a:prstGeom prst="roundRect">
              <a:avLst>
                <a:gd name="adj" fmla="val 12000"/>
              </a:avLst>
            </a:prstGeom>
            <a:solidFill>
              <a:srgbClr val="7A2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GRANTS"/>
            <p:cNvSpPr txBox="1"/>
            <p:nvPr/>
          </p:nvSpPr>
          <p:spPr>
            <a:xfrm>
              <a:off x="1537398" y="4553204"/>
              <a:ext cx="452437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B36B"/>
                  </a:solidFill>
                  <a:latin typeface="Arial"/>
                </a:rPr>
                <a:t>GRANTS</a:t>
              </a:r>
            </a:p>
          </p:txBody>
        </p:sp>
        <p:sp>
          <p:nvSpPr>
            <p:cNvPr id="35" name="Training grant in computational psychiatry"/>
            <p:cNvSpPr txBox="1"/>
            <p:nvPr/>
          </p:nvSpPr>
          <p:spPr>
            <a:xfrm>
              <a:off x="2078736" y="4540504"/>
              <a:ext cx="4905273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Training grant in computational psychiatry</a:t>
              </a:r>
            </a:p>
          </p:txBody>
        </p:sp>
        <p:sp>
          <p:nvSpPr>
            <p:cNvPr id="36" name="PROPSY-EDU, University of Bordeaux"/>
            <p:cNvSpPr txBox="1"/>
            <p:nvPr/>
          </p:nvSpPr>
          <p:spPr>
            <a:xfrm>
              <a:off x="1511998" y="4750765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PROPSY-EDU, University of Bordeaux</a:t>
              </a:r>
            </a:p>
          </p:txBody>
        </p:sp>
      </p:grpSp>
      <p:grpSp>
        <p:nvGrpSpPr>
          <p:cNvPr id="43" name="Project Prize, Hacktion Potential hackathon"/>
          <p:cNvGrpSpPr/>
          <p:nvPr/>
        </p:nvGrpSpPr>
        <p:grpSpPr>
          <a:xfrm>
            <a:off x="575995" y="5007813"/>
            <a:ext cx="6408013" cy="391109"/>
            <a:chOff x="575995" y="5007813"/>
            <a:chExt cx="6408013" cy="391109"/>
          </a:xfrm>
        </p:grpSpPr>
        <p:sp>
          <p:nvSpPr>
            <p:cNvPr id="38" name="2026"/>
            <p:cNvSpPr txBox="1"/>
            <p:nvPr/>
          </p:nvSpPr>
          <p:spPr>
            <a:xfrm>
              <a:off x="575995" y="5007813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2026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1511998" y="5020513"/>
              <a:ext cx="530076" cy="152400"/>
            </a:xfrm>
            <a:prstGeom prst="roundRect">
              <a:avLst>
                <a:gd name="adj" fmla="val 12000"/>
              </a:avLst>
            </a:prstGeom>
            <a:solidFill>
              <a:srgbClr val="FFE4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AWARDS"/>
            <p:cNvSpPr txBox="1"/>
            <p:nvPr/>
          </p:nvSpPr>
          <p:spPr>
            <a:xfrm>
              <a:off x="1537398" y="5020513"/>
              <a:ext cx="479276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8A3800"/>
                  </a:solidFill>
                  <a:latin typeface="Arial"/>
                </a:rPr>
                <a:t>AWARDS</a:t>
              </a:r>
            </a:p>
          </p:txBody>
        </p:sp>
        <p:sp>
          <p:nvSpPr>
            <p:cNvPr id="41" name="Project Prize, Hacktion Potential hackathon"/>
            <p:cNvSpPr txBox="1"/>
            <p:nvPr/>
          </p:nvSpPr>
          <p:spPr>
            <a:xfrm>
              <a:off x="2105574" y="5007813"/>
              <a:ext cx="4878434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Project Prize, Hacktion Potential hackathon</a:t>
              </a:r>
            </a:p>
          </p:txBody>
        </p:sp>
        <p:sp>
          <p:nvSpPr>
            <p:cNvPr id="42" name="Paris Brain Institute"/>
            <p:cNvSpPr txBox="1"/>
            <p:nvPr/>
          </p:nvSpPr>
          <p:spPr>
            <a:xfrm>
              <a:off x="1511998" y="521807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Paris Brain Institute</a:t>
              </a:r>
            </a:p>
          </p:txBody>
        </p:sp>
      </p:grpSp>
      <p:grpSp>
        <p:nvGrpSpPr>
          <p:cNvPr id="49" name="Doctoral scholarship"/>
          <p:cNvGrpSpPr/>
          <p:nvPr/>
        </p:nvGrpSpPr>
        <p:grpSpPr>
          <a:xfrm>
            <a:off x="575995" y="5475122"/>
            <a:ext cx="6408014" cy="391109"/>
            <a:chOff x="575995" y="5475122"/>
            <a:chExt cx="6408014" cy="391109"/>
          </a:xfrm>
        </p:grpSpPr>
        <p:sp>
          <p:nvSpPr>
            <p:cNvPr id="44" name="2023"/>
            <p:cNvSpPr txBox="1"/>
            <p:nvPr/>
          </p:nvSpPr>
          <p:spPr>
            <a:xfrm>
              <a:off x="575995" y="547512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511998" y="5487822"/>
              <a:ext cx="503237" cy="152400"/>
            </a:xfrm>
            <a:prstGeom prst="roundRect">
              <a:avLst>
                <a:gd name="adj" fmla="val 12000"/>
              </a:avLst>
            </a:prstGeom>
            <a:solidFill>
              <a:srgbClr val="7A2E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GRANTS"/>
            <p:cNvSpPr txBox="1"/>
            <p:nvPr/>
          </p:nvSpPr>
          <p:spPr>
            <a:xfrm>
              <a:off x="1537398" y="5487822"/>
              <a:ext cx="452437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B36B"/>
                  </a:solidFill>
                  <a:latin typeface="Arial"/>
                </a:rPr>
                <a:t>GRANTS</a:t>
              </a:r>
            </a:p>
          </p:txBody>
        </p:sp>
        <p:sp>
          <p:nvSpPr>
            <p:cNvPr id="47" name="Doctoral scholarship"/>
            <p:cNvSpPr txBox="1"/>
            <p:nvPr/>
          </p:nvSpPr>
          <p:spPr>
            <a:xfrm>
              <a:off x="2078736" y="5475122"/>
              <a:ext cx="4905273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Doctoral scholarship</a:t>
              </a:r>
            </a:p>
          </p:txBody>
        </p:sp>
        <p:sp>
          <p:nvSpPr>
            <p:cNvPr id="48" name="Sorbonne University"/>
            <p:cNvSpPr txBox="1"/>
            <p:nvPr/>
          </p:nvSpPr>
          <p:spPr>
            <a:xfrm>
              <a:off x="1511998" y="568538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Sorbonne University</a:t>
              </a:r>
            </a:p>
          </p:txBody>
        </p:sp>
      </p:grpSp>
      <p:grpSp>
        <p:nvGrpSpPr>
          <p:cNvPr id="55" name="Poster Prize of the Ajité·es"/>
          <p:cNvGrpSpPr/>
          <p:nvPr/>
        </p:nvGrpSpPr>
        <p:grpSpPr>
          <a:xfrm>
            <a:off x="575995" y="5942431"/>
            <a:ext cx="6408013" cy="391109"/>
            <a:chOff x="575995" y="5942431"/>
            <a:chExt cx="6408013" cy="391109"/>
          </a:xfrm>
        </p:grpSpPr>
        <p:sp>
          <p:nvSpPr>
            <p:cNvPr id="50" name="2023"/>
            <p:cNvSpPr txBox="1"/>
            <p:nvPr/>
          </p:nvSpPr>
          <p:spPr>
            <a:xfrm>
              <a:off x="575995" y="5942431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511998" y="5955131"/>
              <a:ext cx="530076" cy="152400"/>
            </a:xfrm>
            <a:prstGeom prst="roundRect">
              <a:avLst>
                <a:gd name="adj" fmla="val 12000"/>
              </a:avLst>
            </a:prstGeom>
            <a:solidFill>
              <a:srgbClr val="FFE4C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AWARDS"/>
            <p:cNvSpPr txBox="1"/>
            <p:nvPr/>
          </p:nvSpPr>
          <p:spPr>
            <a:xfrm>
              <a:off x="1537398" y="5955131"/>
              <a:ext cx="479276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8A3800"/>
                  </a:solidFill>
                  <a:latin typeface="Arial"/>
                </a:rPr>
                <a:t>AWARDS</a:t>
              </a:r>
            </a:p>
          </p:txBody>
        </p:sp>
        <p:sp>
          <p:nvSpPr>
            <p:cNvPr id="53" name="Poster Prize of the Ajité·es"/>
            <p:cNvSpPr txBox="1"/>
            <p:nvPr/>
          </p:nvSpPr>
          <p:spPr>
            <a:xfrm>
              <a:off x="2105574" y="5942431"/>
              <a:ext cx="4878434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11111"/>
                  </a:solidFill>
                  <a:latin typeface="Arial"/>
                </a:rPr>
                <a:t>Poster Prize of the Ajité·es</a:t>
              </a:r>
            </a:p>
          </p:txBody>
        </p:sp>
        <p:sp>
          <p:nvSpPr>
            <p:cNvPr id="54" name="Paris Brain Institute"/>
            <p:cNvSpPr txBox="1"/>
            <p:nvPr/>
          </p:nvSpPr>
          <p:spPr>
            <a:xfrm>
              <a:off x="1511998" y="615269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Paris Brain Institute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575995" y="6536740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ERVICE &amp; OUTREACH"/>
          <p:cNvSpPr txBox="1"/>
          <p:nvPr/>
        </p:nvSpPr>
        <p:spPr>
          <a:xfrm>
            <a:off x="728395" y="6485940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SERVICE &amp; OUTREACH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5995" y="6689140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onference organisation"/>
          <p:cNvSpPr txBox="1"/>
          <p:nvPr/>
        </p:nvSpPr>
        <p:spPr>
          <a:xfrm>
            <a:off x="1511998" y="6816140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Conference organisation</a:t>
            </a:r>
          </a:p>
        </p:txBody>
      </p:sp>
      <p:grpSp>
        <p:nvGrpSpPr>
          <p:cNvPr id="64" name="SfNC meeting"/>
          <p:cNvGrpSpPr/>
          <p:nvPr/>
        </p:nvGrpSpPr>
        <p:grpSpPr>
          <a:xfrm>
            <a:off x="575995" y="7052360"/>
            <a:ext cx="6408013" cy="191211"/>
            <a:chOff x="575995" y="7052360"/>
            <a:chExt cx="6408013" cy="191211"/>
          </a:xfrm>
        </p:grpSpPr>
        <p:sp>
          <p:nvSpPr>
            <p:cNvPr id="60" name="2025"/>
            <p:cNvSpPr txBox="1"/>
            <p:nvPr/>
          </p:nvSpPr>
          <p:spPr>
            <a:xfrm>
              <a:off x="575995" y="7052360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511998" y="7065060"/>
              <a:ext cx="682625" cy="152400"/>
            </a:xfrm>
            <a:prstGeom prst="roundRect">
              <a:avLst>
                <a:gd name="adj" fmla="val 12000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VOLUNTEER"/>
            <p:cNvSpPr txBox="1"/>
            <p:nvPr/>
          </p:nvSpPr>
          <p:spPr>
            <a:xfrm>
              <a:off x="1537398" y="7065060"/>
              <a:ext cx="63182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595959"/>
                  </a:solidFill>
                  <a:latin typeface="Arial"/>
                </a:rPr>
                <a:t>VOLUNTEER</a:t>
              </a:r>
            </a:p>
          </p:txBody>
        </p:sp>
        <p:sp>
          <p:nvSpPr>
            <p:cNvPr id="63" name="SfNC meeting"/>
            <p:cNvSpPr txBox="1"/>
            <p:nvPr/>
          </p:nvSpPr>
          <p:spPr>
            <a:xfrm>
              <a:off x="2258123" y="7052360"/>
              <a:ext cx="472588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SfNC meeting</a:t>
              </a:r>
            </a:p>
          </p:txBody>
        </p:sp>
      </p:grpSp>
      <p:grpSp>
        <p:nvGrpSpPr>
          <p:cNvPr id="69" name="CNS meeting"/>
          <p:cNvGrpSpPr/>
          <p:nvPr/>
        </p:nvGrpSpPr>
        <p:grpSpPr>
          <a:xfrm>
            <a:off x="575995" y="7319772"/>
            <a:ext cx="6408013" cy="191211"/>
            <a:chOff x="575995" y="7319772"/>
            <a:chExt cx="6408013" cy="191211"/>
          </a:xfrm>
        </p:grpSpPr>
        <p:sp>
          <p:nvSpPr>
            <p:cNvPr id="65" name="2024"/>
            <p:cNvSpPr txBox="1"/>
            <p:nvPr/>
          </p:nvSpPr>
          <p:spPr>
            <a:xfrm>
              <a:off x="575995" y="731977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511998" y="7332472"/>
              <a:ext cx="682625" cy="152400"/>
            </a:xfrm>
            <a:prstGeom prst="roundRect">
              <a:avLst>
                <a:gd name="adj" fmla="val 12000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VOLUNTEER"/>
            <p:cNvSpPr txBox="1"/>
            <p:nvPr/>
          </p:nvSpPr>
          <p:spPr>
            <a:xfrm>
              <a:off x="1537398" y="7332472"/>
              <a:ext cx="63182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595959"/>
                  </a:solidFill>
                  <a:latin typeface="Arial"/>
                </a:rPr>
                <a:t>VOLUNTEER</a:t>
              </a:r>
            </a:p>
          </p:txBody>
        </p:sp>
        <p:sp>
          <p:nvSpPr>
            <p:cNvPr id="68" name="CNS meeting"/>
            <p:cNvSpPr txBox="1"/>
            <p:nvPr/>
          </p:nvSpPr>
          <p:spPr>
            <a:xfrm>
              <a:off x="2258123" y="7319772"/>
              <a:ext cx="472588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CNS meeting</a:t>
              </a:r>
            </a:p>
          </p:txBody>
        </p:sp>
      </p:grpSp>
      <p:grpSp>
        <p:nvGrpSpPr>
          <p:cNvPr id="74" name="SfNC meeting"/>
          <p:cNvGrpSpPr/>
          <p:nvPr/>
        </p:nvGrpSpPr>
        <p:grpSpPr>
          <a:xfrm>
            <a:off x="575995" y="7587183"/>
            <a:ext cx="6408013" cy="191211"/>
            <a:chOff x="575995" y="7587183"/>
            <a:chExt cx="6408013" cy="191211"/>
          </a:xfrm>
        </p:grpSpPr>
        <p:sp>
          <p:nvSpPr>
            <p:cNvPr id="70" name="2024"/>
            <p:cNvSpPr txBox="1"/>
            <p:nvPr/>
          </p:nvSpPr>
          <p:spPr>
            <a:xfrm>
              <a:off x="575995" y="7587183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2024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511998" y="7599883"/>
              <a:ext cx="682625" cy="152400"/>
            </a:xfrm>
            <a:prstGeom prst="roundRect">
              <a:avLst>
                <a:gd name="adj" fmla="val 12000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VOLUNTEER"/>
            <p:cNvSpPr txBox="1"/>
            <p:nvPr/>
          </p:nvSpPr>
          <p:spPr>
            <a:xfrm>
              <a:off x="1537398" y="7599883"/>
              <a:ext cx="63182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595959"/>
                  </a:solidFill>
                  <a:latin typeface="Arial"/>
                </a:rPr>
                <a:t>VOLUNTEER</a:t>
              </a:r>
            </a:p>
          </p:txBody>
        </p:sp>
        <p:sp>
          <p:nvSpPr>
            <p:cNvPr id="73" name="SfNC meeting"/>
            <p:cNvSpPr txBox="1"/>
            <p:nvPr/>
          </p:nvSpPr>
          <p:spPr>
            <a:xfrm>
              <a:off x="2258123" y="7587183"/>
              <a:ext cx="472588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SfNC meeting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575995" y="796889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ublic outreach &amp; science communication"/>
          <p:cNvSpPr txBox="1"/>
          <p:nvPr/>
        </p:nvSpPr>
        <p:spPr>
          <a:xfrm>
            <a:off x="1511998" y="8083194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Public outreach &amp; science communication</a:t>
            </a:r>
          </a:p>
        </p:txBody>
      </p:sp>
      <p:grpSp>
        <p:nvGrpSpPr>
          <p:cNvPr id="82" name="MasterClass on creativity"/>
          <p:cNvGrpSpPr/>
          <p:nvPr/>
        </p:nvGrpSpPr>
        <p:grpSpPr>
          <a:xfrm>
            <a:off x="575995" y="8319414"/>
            <a:ext cx="6408013" cy="391109"/>
            <a:chOff x="575995" y="8319414"/>
            <a:chExt cx="6408013" cy="391109"/>
          </a:xfrm>
        </p:grpSpPr>
        <p:sp>
          <p:nvSpPr>
            <p:cNvPr id="77" name="2025"/>
            <p:cNvSpPr txBox="1"/>
            <p:nvPr/>
          </p:nvSpPr>
          <p:spPr>
            <a:xfrm>
              <a:off x="575995" y="831941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1511998" y="8332114"/>
              <a:ext cx="841375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CO-ORGANISER"/>
            <p:cNvSpPr txBox="1"/>
            <p:nvPr/>
          </p:nvSpPr>
          <p:spPr>
            <a:xfrm>
              <a:off x="1537398" y="8332114"/>
              <a:ext cx="79057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CO-ORGANISER</a:t>
              </a:r>
            </a:p>
          </p:txBody>
        </p:sp>
        <p:sp>
          <p:nvSpPr>
            <p:cNvPr id="80" name="MasterClass on creativity"/>
            <p:cNvSpPr txBox="1"/>
            <p:nvPr/>
          </p:nvSpPr>
          <p:spPr>
            <a:xfrm>
              <a:off x="2416873" y="8319414"/>
              <a:ext cx="456713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MasterClass on creativity</a:t>
              </a:r>
            </a:p>
          </p:txBody>
        </p:sp>
        <p:sp>
          <p:nvSpPr>
            <p:cNvPr id="81" name="Paris Brain Institute"/>
            <p:cNvSpPr txBox="1"/>
            <p:nvPr/>
          </p:nvSpPr>
          <p:spPr>
            <a:xfrm>
              <a:off x="1511998" y="8529675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Paris Brain Institute</a:t>
              </a:r>
            </a:p>
          </p:txBody>
        </p:sp>
      </p:grpSp>
      <p:grpSp>
        <p:nvGrpSpPr>
          <p:cNvPr id="88" name="Creativity · Brain Awareness Week"/>
          <p:cNvGrpSpPr/>
          <p:nvPr/>
        </p:nvGrpSpPr>
        <p:grpSpPr>
          <a:xfrm>
            <a:off x="575995" y="8786723"/>
            <a:ext cx="6408013" cy="391109"/>
            <a:chOff x="575995" y="8786723"/>
            <a:chExt cx="6408013" cy="391109"/>
          </a:xfrm>
        </p:grpSpPr>
        <p:sp>
          <p:nvSpPr>
            <p:cNvPr id="83" name="2025"/>
            <p:cNvSpPr txBox="1"/>
            <p:nvPr/>
          </p:nvSpPr>
          <p:spPr>
            <a:xfrm>
              <a:off x="575995" y="8786723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1511998" y="8799423"/>
              <a:ext cx="841375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CO-ORGANISER"/>
            <p:cNvSpPr txBox="1"/>
            <p:nvPr/>
          </p:nvSpPr>
          <p:spPr>
            <a:xfrm>
              <a:off x="1537398" y="8799423"/>
              <a:ext cx="79057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CO-ORGANISER</a:t>
              </a:r>
            </a:p>
          </p:txBody>
        </p:sp>
        <p:sp>
          <p:nvSpPr>
            <p:cNvPr id="86" name="Creativity · Brain Awareness Week"/>
            <p:cNvSpPr txBox="1"/>
            <p:nvPr/>
          </p:nvSpPr>
          <p:spPr>
            <a:xfrm>
              <a:off x="2416873" y="8786723"/>
              <a:ext cx="456713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Creativity · Brain Awareness Week</a:t>
              </a:r>
            </a:p>
          </p:txBody>
        </p:sp>
        <p:sp>
          <p:nvSpPr>
            <p:cNvPr id="87" name="Paris Brain Institute"/>
            <p:cNvSpPr txBox="1"/>
            <p:nvPr/>
          </p:nvSpPr>
          <p:spPr>
            <a:xfrm>
              <a:off x="1511998" y="899698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Paris Brain Institute</a:t>
              </a:r>
            </a:p>
          </p:txBody>
        </p:sp>
      </p:grpSp>
      <p:grpSp>
        <p:nvGrpSpPr>
          <p:cNvPr id="94" name="Grand Prix Halphen 2025 — témoignages"/>
          <p:cNvGrpSpPr/>
          <p:nvPr/>
        </p:nvGrpSpPr>
        <p:grpSpPr>
          <a:xfrm>
            <a:off x="575995" y="9254032"/>
            <a:ext cx="6408014" cy="391110"/>
            <a:chOff x="575995" y="9254032"/>
            <a:chExt cx="6408014" cy="391110"/>
          </a:xfrm>
        </p:grpSpPr>
        <p:sp>
          <p:nvSpPr>
            <p:cNvPr id="89" name="2025"/>
            <p:cNvSpPr txBox="1"/>
            <p:nvPr/>
          </p:nvSpPr>
          <p:spPr>
            <a:xfrm>
              <a:off x="575995" y="925403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1511998" y="9266732"/>
              <a:ext cx="627037" cy="152400"/>
            </a:xfrm>
            <a:prstGeom prst="roundRect">
              <a:avLst>
                <a:gd name="adj" fmla="val 12000"/>
              </a:avLst>
            </a:prstGeom>
            <a:solidFill>
              <a:srgbClr val="D8D8D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INTERVIEW"/>
            <p:cNvSpPr txBox="1"/>
            <p:nvPr/>
          </p:nvSpPr>
          <p:spPr>
            <a:xfrm>
              <a:off x="1537398" y="9266732"/>
              <a:ext cx="576237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333333"/>
                  </a:solidFill>
                  <a:latin typeface="Arial"/>
                </a:rPr>
                <a:t>INTERVIEW</a:t>
              </a:r>
            </a:p>
          </p:txBody>
        </p:sp>
        <p:sp>
          <p:nvSpPr>
            <p:cNvPr id="92" name="Grand Prix Halphen 2025 — témoignages"/>
            <p:cNvSpPr txBox="1"/>
            <p:nvPr/>
          </p:nvSpPr>
          <p:spPr>
            <a:xfrm>
              <a:off x="2202536" y="9254032"/>
              <a:ext cx="4781473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Grand Prix Halphen 2025 — témoignages</a:t>
              </a:r>
            </a:p>
          </p:txBody>
        </p:sp>
        <p:sp>
          <p:nvSpPr>
            <p:cNvPr id="93" name="Philippe &amp; Maria Halphen Foundation"/>
            <p:cNvSpPr txBox="1"/>
            <p:nvPr/>
          </p:nvSpPr>
          <p:spPr>
            <a:xfrm>
              <a:off x="1511998" y="946429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Philippe &amp; Maria Halphen Foundation</a:t>
              </a:r>
            </a:p>
          </p:txBody>
        </p:sp>
      </p:grpSp>
      <p:sp>
        <p:nvSpPr>
          <p:cNvPr id="95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Gino Battistello · Curriculum Vitae</a:t>
            </a:r>
          </a:p>
        </p:txBody>
      </p:sp>
      <p:sp>
        <p:nvSpPr>
          <p:cNvPr id="96" name="4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995" y="5908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RVICE &amp; OUTREACH (CONTINUED)"/>
          <p:cNvSpPr txBox="1"/>
          <p:nvPr/>
        </p:nvSpPr>
        <p:spPr>
          <a:xfrm>
            <a:off x="728395" y="54000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SERVICE &amp; OUTREACH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95" y="7432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ublic outreach &amp; science communication (continued)"/>
          <p:cNvSpPr txBox="1"/>
          <p:nvPr/>
        </p:nvSpPr>
        <p:spPr>
          <a:xfrm>
            <a:off x="1511998" y="870204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Public outreach &amp; science communication (continued)</a:t>
            </a:r>
          </a:p>
        </p:txBody>
      </p:sp>
      <p:grpSp>
        <p:nvGrpSpPr>
          <p:cNvPr id="11" name="Bipolar disorder roundtable · Brain Awareness Week"/>
          <p:cNvGrpSpPr/>
          <p:nvPr/>
        </p:nvGrpSpPr>
        <p:grpSpPr>
          <a:xfrm>
            <a:off x="575995" y="1106424"/>
            <a:ext cx="6408013" cy="391109"/>
            <a:chOff x="575995" y="1106424"/>
            <a:chExt cx="6408013" cy="391109"/>
          </a:xfrm>
        </p:grpSpPr>
        <p:sp>
          <p:nvSpPr>
            <p:cNvPr id="6" name="2023"/>
            <p:cNvSpPr txBox="1"/>
            <p:nvPr/>
          </p:nvSpPr>
          <p:spPr>
            <a:xfrm>
              <a:off x="575995" y="1106424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511998" y="1119124"/>
              <a:ext cx="673100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RGANISER"/>
            <p:cNvSpPr txBox="1"/>
            <p:nvPr/>
          </p:nvSpPr>
          <p:spPr>
            <a:xfrm>
              <a:off x="1537398" y="1119124"/>
              <a:ext cx="622300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ORGANISER</a:t>
              </a:r>
            </a:p>
          </p:txBody>
        </p:sp>
        <p:sp>
          <p:nvSpPr>
            <p:cNvPr id="9" name="Bipolar disorder roundtable · Brain Awareness Week"/>
            <p:cNvSpPr txBox="1"/>
            <p:nvPr/>
          </p:nvSpPr>
          <p:spPr>
            <a:xfrm>
              <a:off x="2248598" y="1106424"/>
              <a:ext cx="47354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Bipolar disorder roundtable · Brain Awareness Week</a:t>
              </a:r>
            </a:p>
          </p:txBody>
        </p:sp>
        <p:sp>
          <p:nvSpPr>
            <p:cNvPr id="10" name="With Dr. Fabien Vinckier (MD, PhD) and writer Ariane Monceau"/>
            <p:cNvSpPr txBox="1"/>
            <p:nvPr/>
          </p:nvSpPr>
          <p:spPr>
            <a:xfrm>
              <a:off x="1511998" y="1316685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With Dr. Fabien Vinckier (MD, PhD) and writer Ariane Monceau</a:t>
              </a:r>
            </a:p>
          </p:txBody>
        </p:sp>
      </p:grpSp>
      <p:grpSp>
        <p:nvGrpSpPr>
          <p:cNvPr id="17" name="Creativity &amp; Neuromyths"/>
          <p:cNvGrpSpPr/>
          <p:nvPr/>
        </p:nvGrpSpPr>
        <p:grpSpPr>
          <a:xfrm>
            <a:off x="575995" y="1573733"/>
            <a:ext cx="6408013" cy="391109"/>
            <a:chOff x="575995" y="1573733"/>
            <a:chExt cx="6408013" cy="391109"/>
          </a:xfrm>
        </p:grpSpPr>
        <p:sp>
          <p:nvSpPr>
            <p:cNvPr id="12" name="2023"/>
            <p:cNvSpPr txBox="1"/>
            <p:nvPr/>
          </p:nvSpPr>
          <p:spPr>
            <a:xfrm>
              <a:off x="575995" y="1573733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511998" y="1586433"/>
              <a:ext cx="841375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O-ORGANISER"/>
            <p:cNvSpPr txBox="1"/>
            <p:nvPr/>
          </p:nvSpPr>
          <p:spPr>
            <a:xfrm>
              <a:off x="1537398" y="1586433"/>
              <a:ext cx="79057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CO-ORGANISER</a:t>
              </a:r>
            </a:p>
          </p:txBody>
        </p:sp>
        <p:sp>
          <p:nvSpPr>
            <p:cNvPr id="15" name="Creativity &amp; Neuromyths"/>
            <p:cNvSpPr txBox="1"/>
            <p:nvPr/>
          </p:nvSpPr>
          <p:spPr>
            <a:xfrm>
              <a:off x="2416873" y="1573733"/>
              <a:ext cx="456713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Creativity &amp; Neuromyths</a:t>
              </a:r>
            </a:p>
          </p:txBody>
        </p:sp>
        <p:sp>
          <p:nvSpPr>
            <p:cNvPr id="16" name="INSERM"/>
            <p:cNvSpPr txBox="1"/>
            <p:nvPr/>
          </p:nvSpPr>
          <p:spPr>
            <a:xfrm>
              <a:off x="1511998" y="178399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INSERM</a:t>
              </a:r>
            </a:p>
          </p:txBody>
        </p:sp>
      </p:grpSp>
      <p:grpSp>
        <p:nvGrpSpPr>
          <p:cNvPr id="23" name="MasterClass on creativity"/>
          <p:cNvGrpSpPr/>
          <p:nvPr/>
        </p:nvGrpSpPr>
        <p:grpSpPr>
          <a:xfrm>
            <a:off x="575995" y="2041042"/>
            <a:ext cx="6408013" cy="391109"/>
            <a:chOff x="575995" y="2041042"/>
            <a:chExt cx="6408013" cy="391109"/>
          </a:xfrm>
        </p:grpSpPr>
        <p:sp>
          <p:nvSpPr>
            <p:cNvPr id="18" name="2023"/>
            <p:cNvSpPr txBox="1"/>
            <p:nvPr/>
          </p:nvSpPr>
          <p:spPr>
            <a:xfrm>
              <a:off x="575995" y="204104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511998" y="2053742"/>
              <a:ext cx="841375" cy="152400"/>
            </a:xfrm>
            <a:prstGeom prst="roundRect">
              <a:avLst>
                <a:gd name="adj" fmla="val 12000"/>
              </a:avLst>
            </a:prstGeom>
            <a:solidFill>
              <a:srgbClr val="4444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O-ORGANISER"/>
            <p:cNvSpPr txBox="1"/>
            <p:nvPr/>
          </p:nvSpPr>
          <p:spPr>
            <a:xfrm>
              <a:off x="1537398" y="2053742"/>
              <a:ext cx="790575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FFFFFF"/>
                  </a:solidFill>
                  <a:latin typeface="Arial"/>
                </a:rPr>
                <a:t>CO-ORGANISER</a:t>
              </a:r>
            </a:p>
          </p:txBody>
        </p:sp>
        <p:sp>
          <p:nvSpPr>
            <p:cNvPr id="21" name="MasterClass on creativity"/>
            <p:cNvSpPr txBox="1"/>
            <p:nvPr/>
          </p:nvSpPr>
          <p:spPr>
            <a:xfrm>
              <a:off x="2416873" y="2041042"/>
              <a:ext cx="4567135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MasterClass on creativity</a:t>
              </a:r>
            </a:p>
          </p:txBody>
        </p:sp>
        <p:sp>
          <p:nvSpPr>
            <p:cNvPr id="22" name="Paris Brain Institute"/>
            <p:cNvSpPr txBox="1"/>
            <p:nvPr/>
          </p:nvSpPr>
          <p:spPr>
            <a:xfrm>
              <a:off x="1511998" y="225130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Paris Brain Institute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575995" y="2622651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ra-professional activities"/>
          <p:cNvSpPr txBox="1"/>
          <p:nvPr/>
        </p:nvSpPr>
        <p:spPr>
          <a:xfrm>
            <a:off x="1511998" y="2736951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Para-professional activities</a:t>
            </a:r>
          </a:p>
        </p:txBody>
      </p:sp>
      <p:grpSp>
        <p:nvGrpSpPr>
          <p:cNvPr id="30" name="Head of the Treasury"/>
          <p:cNvGrpSpPr/>
          <p:nvPr/>
        </p:nvGrpSpPr>
        <p:grpSpPr>
          <a:xfrm>
            <a:off x="575995" y="2973171"/>
            <a:ext cx="6408013" cy="601371"/>
            <a:chOff x="575995" y="2973171"/>
            <a:chExt cx="6408013" cy="601371"/>
          </a:xfrm>
        </p:grpSpPr>
        <p:sp>
          <p:nvSpPr>
            <p:cNvPr id="26" name="2023 – 2025"/>
            <p:cNvSpPr txBox="1"/>
            <p:nvPr/>
          </p:nvSpPr>
          <p:spPr>
            <a:xfrm>
              <a:off x="575995" y="2973171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 – 2025</a:t>
              </a:r>
            </a:p>
          </p:txBody>
        </p:sp>
        <p:sp>
          <p:nvSpPr>
            <p:cNvPr id="27" name="Head of the Treasury"/>
            <p:cNvSpPr txBox="1"/>
            <p:nvPr/>
          </p:nvSpPr>
          <p:spPr>
            <a:xfrm>
              <a:off x="1511998" y="297317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Head of the Treasury</a:t>
              </a:r>
            </a:p>
          </p:txBody>
        </p:sp>
        <p:sp>
          <p:nvSpPr>
            <p:cNvPr id="28" name="Budget managed: €40,000/year"/>
            <p:cNvSpPr txBox="1"/>
            <p:nvPr/>
          </p:nvSpPr>
          <p:spPr>
            <a:xfrm>
              <a:off x="1511998" y="318343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Budget managed: €40,000/year</a:t>
              </a:r>
            </a:p>
          </p:txBody>
        </p:sp>
        <p:sp>
          <p:nvSpPr>
            <p:cNvPr id="29" name="Ajité·es – Association of young researchers at the Paris Brain Institute"/>
            <p:cNvSpPr txBox="1"/>
            <p:nvPr/>
          </p:nvSpPr>
          <p:spPr>
            <a:xfrm>
              <a:off x="1511998" y="3393694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Ajité·es – Association of young researchers at the Paris Brain Institute</a:t>
              </a:r>
            </a:p>
          </p:txBody>
        </p:sp>
      </p:grpSp>
      <p:grpSp>
        <p:nvGrpSpPr>
          <p:cNvPr id="34" name="Head of the Listening Unit (support for well-being at work)"/>
          <p:cNvGrpSpPr/>
          <p:nvPr/>
        </p:nvGrpSpPr>
        <p:grpSpPr>
          <a:xfrm>
            <a:off x="575995" y="3650742"/>
            <a:ext cx="6408013" cy="391109"/>
            <a:chOff x="575995" y="3650742"/>
            <a:chExt cx="6408013" cy="391109"/>
          </a:xfrm>
        </p:grpSpPr>
        <p:sp>
          <p:nvSpPr>
            <p:cNvPr id="31" name="2025"/>
            <p:cNvSpPr txBox="1"/>
            <p:nvPr/>
          </p:nvSpPr>
          <p:spPr>
            <a:xfrm>
              <a:off x="575995" y="3650742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32" name="Head of the Listening Unit (support for well-being at work)"/>
            <p:cNvSpPr txBox="1"/>
            <p:nvPr/>
          </p:nvSpPr>
          <p:spPr>
            <a:xfrm>
              <a:off x="1511998" y="3650742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Head of the Listening Unit (support for well-being at work)</a:t>
              </a:r>
            </a:p>
          </p:txBody>
        </p:sp>
        <p:sp>
          <p:nvSpPr>
            <p:cNvPr id="33" name="Ajité·es – Association of young researchers at the Paris Brain Institute"/>
            <p:cNvSpPr txBox="1"/>
            <p:nvPr/>
          </p:nvSpPr>
          <p:spPr>
            <a:xfrm>
              <a:off x="1511998" y="3861003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Ajité·es – Association of young researchers at the Paris Brain Institute</a:t>
              </a:r>
            </a:p>
          </p:txBody>
        </p:sp>
      </p:grpSp>
      <p:grpSp>
        <p:nvGrpSpPr>
          <p:cNvPr id="38" name="Art Club"/>
          <p:cNvGrpSpPr/>
          <p:nvPr/>
        </p:nvGrpSpPr>
        <p:grpSpPr>
          <a:xfrm>
            <a:off x="575995" y="4118051"/>
            <a:ext cx="6408013" cy="391109"/>
            <a:chOff x="575995" y="4118051"/>
            <a:chExt cx="6408013" cy="391109"/>
          </a:xfrm>
        </p:grpSpPr>
        <p:sp>
          <p:nvSpPr>
            <p:cNvPr id="35" name="2023"/>
            <p:cNvSpPr txBox="1"/>
            <p:nvPr/>
          </p:nvSpPr>
          <p:spPr>
            <a:xfrm>
              <a:off x="575995" y="4118051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2023</a:t>
              </a:r>
            </a:p>
          </p:txBody>
        </p:sp>
        <p:sp>
          <p:nvSpPr>
            <p:cNvPr id="36" name="Art Club"/>
            <p:cNvSpPr txBox="1"/>
            <p:nvPr/>
          </p:nvSpPr>
          <p:spPr>
            <a:xfrm>
              <a:off x="1511998" y="4118051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Art Club</a:t>
              </a:r>
            </a:p>
          </p:txBody>
        </p:sp>
        <p:sp>
          <p:nvSpPr>
            <p:cNvPr id="37" name="Ajité·es – Association of young researchers at the Paris Brain Institute"/>
            <p:cNvSpPr txBox="1"/>
            <p:nvPr/>
          </p:nvSpPr>
          <p:spPr>
            <a:xfrm>
              <a:off x="1511998" y="4328312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Ajité·es – Association of young researchers at the Paris Brain Institute</a:t>
              </a:r>
            </a:p>
          </p:txBody>
        </p:sp>
      </p:grpSp>
      <p:grpSp>
        <p:nvGrpSpPr>
          <p:cNvPr id="51" name="Peer-to-peer prevention &amp; risk reduction"/>
          <p:cNvGrpSpPr/>
          <p:nvPr/>
        </p:nvGrpSpPr>
        <p:grpSpPr>
          <a:xfrm>
            <a:off x="575995" y="4585360"/>
            <a:ext cx="6408013" cy="990803"/>
            <a:chOff x="575995" y="4585360"/>
            <a:chExt cx="6408013" cy="990803"/>
          </a:xfrm>
        </p:grpSpPr>
        <p:sp>
          <p:nvSpPr>
            <p:cNvPr id="39" name="2019 – 2022"/>
            <p:cNvSpPr txBox="1"/>
            <p:nvPr/>
          </p:nvSpPr>
          <p:spPr>
            <a:xfrm>
              <a:off x="575995" y="4585360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2019 – 2022</a:t>
              </a:r>
            </a:p>
          </p:txBody>
        </p:sp>
        <p:sp>
          <p:nvSpPr>
            <p:cNvPr id="40" name="Peer-to-peer prevention &amp; risk reduction"/>
            <p:cNvSpPr txBox="1"/>
            <p:nvPr/>
          </p:nvSpPr>
          <p:spPr>
            <a:xfrm>
              <a:off x="1511998" y="4585360"/>
              <a:ext cx="5472010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Peer-to-peer prevention &amp; risk reduction</a:t>
              </a:r>
            </a:p>
          </p:txBody>
        </p:sp>
        <p:sp>
          <p:nvSpPr>
            <p:cNvPr id="41" name="Claude Bernard University Lyon 1 – Health center"/>
            <p:cNvSpPr txBox="1"/>
            <p:nvPr/>
          </p:nvSpPr>
          <p:spPr>
            <a:xfrm>
              <a:off x="1511998" y="4795621"/>
              <a:ext cx="5472010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Claude Bernard University Lyon 1 – Health center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511998" y="5008219"/>
              <a:ext cx="722213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CERTIFICATE"/>
            <p:cNvSpPr txBox="1"/>
            <p:nvPr/>
          </p:nvSpPr>
          <p:spPr>
            <a:xfrm>
              <a:off x="1537398" y="5008219"/>
              <a:ext cx="671413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CERTIFICATE</a:t>
              </a:r>
            </a:p>
          </p:txBody>
        </p:sp>
        <p:sp>
          <p:nvSpPr>
            <p:cNvPr id="44" name="Mental Health First Aid (MHFA)"/>
            <p:cNvSpPr txBox="1"/>
            <p:nvPr/>
          </p:nvSpPr>
          <p:spPr>
            <a:xfrm>
              <a:off x="2297711" y="4995519"/>
              <a:ext cx="4686297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Mental Health First Aid (MHFA)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1511998" y="5208117"/>
              <a:ext cx="722213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CERTIFICATE"/>
            <p:cNvSpPr txBox="1"/>
            <p:nvPr/>
          </p:nvSpPr>
          <p:spPr>
            <a:xfrm>
              <a:off x="1537398" y="5208117"/>
              <a:ext cx="671413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CERTIFICATE</a:t>
              </a:r>
            </a:p>
          </p:txBody>
        </p:sp>
        <p:sp>
          <p:nvSpPr>
            <p:cNvPr id="47" name="Sexual and gender-based violence"/>
            <p:cNvSpPr txBox="1"/>
            <p:nvPr/>
          </p:nvSpPr>
          <p:spPr>
            <a:xfrm>
              <a:off x="2297711" y="5195417"/>
              <a:ext cx="4686297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Sexual and gender-based violence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1511998" y="5408015"/>
              <a:ext cx="722213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ERTIFICATE"/>
            <p:cNvSpPr txBox="1"/>
            <p:nvPr/>
          </p:nvSpPr>
          <p:spPr>
            <a:xfrm>
              <a:off x="1537398" y="5408015"/>
              <a:ext cx="671413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CERTIFICATE</a:t>
              </a:r>
            </a:p>
          </p:txBody>
        </p:sp>
        <p:sp>
          <p:nvSpPr>
            <p:cNvPr id="50" name="Drug consumption: stigma &amp; risk reduction"/>
            <p:cNvSpPr txBox="1"/>
            <p:nvPr/>
          </p:nvSpPr>
          <p:spPr>
            <a:xfrm>
              <a:off x="2297711" y="5395315"/>
              <a:ext cx="4686297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Drug consumption: stigma &amp; risk reduction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575995" y="5766663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eer reviewing"/>
          <p:cNvSpPr txBox="1"/>
          <p:nvPr/>
        </p:nvSpPr>
        <p:spPr>
          <a:xfrm>
            <a:off x="1511998" y="5880963"/>
            <a:ext cx="5472010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Peer reviewing</a:t>
            </a:r>
          </a:p>
        </p:txBody>
      </p:sp>
      <p:grpSp>
        <p:nvGrpSpPr>
          <p:cNvPr id="58" name="Creativity Research Journal"/>
          <p:cNvGrpSpPr/>
          <p:nvPr/>
        </p:nvGrpSpPr>
        <p:grpSpPr>
          <a:xfrm>
            <a:off x="575995" y="6117183"/>
            <a:ext cx="6408014" cy="191211"/>
            <a:chOff x="575995" y="6117183"/>
            <a:chExt cx="6408014" cy="191211"/>
          </a:xfrm>
        </p:grpSpPr>
        <p:sp>
          <p:nvSpPr>
            <p:cNvPr id="54" name="2025"/>
            <p:cNvSpPr txBox="1"/>
            <p:nvPr/>
          </p:nvSpPr>
          <p:spPr>
            <a:xfrm>
              <a:off x="575995" y="6117183"/>
              <a:ext cx="864006" cy="1808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2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>
                  <a:solidFill>
                    <a:srgbClr val="666666"/>
                  </a:solidFill>
                  <a:latin typeface="Arial"/>
                </a:rPr>
                <a:t>2025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511998" y="6129883"/>
              <a:ext cx="608012" cy="152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350"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EVIEWER"/>
            <p:cNvSpPr txBox="1"/>
            <p:nvPr/>
          </p:nvSpPr>
          <p:spPr>
            <a:xfrm>
              <a:off x="1537398" y="6129883"/>
              <a:ext cx="557212" cy="152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 b="1">
                  <a:solidFill>
                    <a:srgbClr val="666666"/>
                  </a:solidFill>
                  <a:latin typeface="Arial"/>
                </a:rPr>
                <a:t>REVIEWER</a:t>
              </a:r>
            </a:p>
          </p:txBody>
        </p:sp>
        <p:sp>
          <p:nvSpPr>
            <p:cNvPr id="57" name="Creativity Research Journal"/>
            <p:cNvSpPr txBox="1"/>
            <p:nvPr/>
          </p:nvSpPr>
          <p:spPr>
            <a:xfrm>
              <a:off x="2183511" y="6117183"/>
              <a:ext cx="4800498" cy="1912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ts val="13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0">
                  <a:solidFill>
                    <a:srgbClr val="111111"/>
                  </a:solidFill>
                  <a:latin typeface="Arial"/>
                </a:rPr>
                <a:t>Creativity Research Journal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575995" y="651159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ANGUAGES"/>
          <p:cNvSpPr txBox="1"/>
          <p:nvPr/>
        </p:nvSpPr>
        <p:spPr>
          <a:xfrm>
            <a:off x="728395" y="646079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LANGUAGES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5995" y="666399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nch (native) · English (C1) · Spanish (B1) · Italian (A2)"/>
          <p:cNvSpPr txBox="1"/>
          <p:nvPr/>
        </p:nvSpPr>
        <p:spPr>
          <a:xfrm>
            <a:off x="1511998" y="6765594"/>
            <a:ext cx="5472010" cy="1912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11111"/>
                </a:solidFill>
                <a:latin typeface="Arial"/>
              </a:rPr>
              <a:t>French (native) · English (C1) · Spanish (B1) · Italian (A2)</a:t>
            </a:r>
          </a:p>
        </p:txBody>
      </p:sp>
      <p:sp>
        <p:nvSpPr>
          <p:cNvPr id="63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Gino Battistello · Curriculum Vitae</a:t>
            </a:r>
          </a:p>
        </p:txBody>
      </p:sp>
      <p:sp>
        <p:nvSpPr>
          <p:cNvPr id="64" name="5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995" y="590804"/>
            <a:ext cx="57150" cy="57150"/>
          </a:xfrm>
          <a:prstGeom prst="rect">
            <a:avLst/>
          </a:prstGeom>
          <a:solidFill>
            <a:srgbClr val="F26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SEARCH EXPERTISE &amp; TECHNICAL SKILLS"/>
          <p:cNvSpPr txBox="1"/>
          <p:nvPr/>
        </p:nvSpPr>
        <p:spPr>
          <a:xfrm>
            <a:off x="728395" y="540004"/>
            <a:ext cx="6255613" cy="1704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RESEARCH EXPERTISE &amp; TECHNICAL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5995" y="743204"/>
            <a:ext cx="6408013" cy="635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ics"/>
          <p:cNvSpPr txBox="1"/>
          <p:nvPr/>
        </p:nvSpPr>
        <p:spPr>
          <a:xfrm>
            <a:off x="652195" y="882904"/>
            <a:ext cx="6255613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Topics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5995" y="1136904"/>
          <a:ext cx="6408013" cy="318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318211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Disciplines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Cognitive neuroscience; Experimental psychology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5995" y="1455115"/>
          <a:ext cx="6408013" cy="484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48402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Research themes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Value-based decision-making; Creativity and divergent thinking; Emotions, moods and affects; Social cognition and interpersonal synchrony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5995" y="1939137"/>
          <a:ext cx="6408013" cy="639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63947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Neuroanatomy and functional organisation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Prefrontal cortex; Limbic system; Structure-function coupling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Methodology"/>
          <p:cNvSpPr txBox="1"/>
          <p:nvPr/>
        </p:nvSpPr>
        <p:spPr>
          <a:xfrm>
            <a:off x="652195" y="2680208"/>
            <a:ext cx="6255613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Methodology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5995" y="2934208"/>
          <a:ext cx="6408013" cy="3182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318211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Neuroimaging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MRI: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Task-based functional MRI; Resting-state functional MRI; anatomical MRI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5995" y="3252419"/>
          <a:ext cx="6408013" cy="534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53482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Electrophysiology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Intracranial EEG: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Data collection; Local Field Potential (upcoming)</a:t>
                      </a:r>
                    </a:p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High-density EEG: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Preprocessing; Source localisation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5995" y="3787241"/>
          <a:ext cx="6408013" cy="4840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48402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Peripheral physiology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Electrocardiography (ECG); Skin conductance (EDA/GSR); Electromyography (EMG)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75995" y="4271264"/>
          <a:ext cx="6408013" cy="639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639470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Statistical and computational methods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Descriptive and inferential statistics; Machine learning; Deep learning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75995" y="4910734"/>
          <a:ext cx="6408013" cy="477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477113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Computational modelling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Toolboxes: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Variational Bayesian Analysis (VBA); Generative Bayesian Modelling (GBM) toolbox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75995" y="5387848"/>
          <a:ext cx="6408013" cy="534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53482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Programming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Scientific computing: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Python, MATLAB, R</a:t>
                      </a:r>
                    </a:p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60" b="1">
                          <a:solidFill>
                            <a:srgbClr val="111111"/>
                          </a:solidFill>
                          <a:latin typeface="Arial"/>
                        </a:rPr>
                        <a:t>Web technologies: </a:t>
                      </a: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HTML, JavaScript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5995" y="5922670"/>
          <a:ext cx="6408013" cy="875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875792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Scientific software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Machine learning: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scikit-learn</a:t>
                      </a:r>
                    </a:p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Deep learning: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Keras, PyTorch</a:t>
                      </a:r>
                    </a:p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Neuroimaging and electrophysiology: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FieldTrip, Nilearn, SPM, FSL, FreeSurfer, MRIcron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Scientific communication and organisation"/>
          <p:cNvSpPr txBox="1"/>
          <p:nvPr/>
        </p:nvSpPr>
        <p:spPr>
          <a:xfrm>
            <a:off x="652195" y="6900062"/>
            <a:ext cx="6255613" cy="198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6666"/>
                </a:solidFill>
                <a:latin typeface="Arial"/>
              </a:rPr>
              <a:t>Scientific communication and organisation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75995" y="7154062"/>
          <a:ext cx="6408013" cy="5244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524459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Communication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305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60" b="0">
                          <a:solidFill>
                            <a:srgbClr val="111111"/>
                          </a:solidFill>
                          <a:latin typeface="Arial"/>
                        </a:rPr>
                        <a:t>Scientific writing and oral presentations</a:t>
                      </a:r>
                    </a:p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Tools: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Office suites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75995" y="7678521"/>
          <a:ext cx="6408013" cy="477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477113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Reference management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Zotero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5995" y="8155635"/>
          <a:ext cx="6408013" cy="4771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8003"/>
                <a:gridCol w="4860010"/>
              </a:tblGrid>
              <a:tr h="477113"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40" b="1">
                          <a:solidFill>
                            <a:srgbClr val="111111"/>
                          </a:solidFill>
                          <a:latin typeface="Arial"/>
                        </a:rPr>
                        <a:t>Project and knowledge organisation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>
                        <a:lnSpc>
                          <a:spcPts val="122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666666"/>
                          </a:solidFill>
                          <a:latin typeface="Arial"/>
                        </a:rPr>
                        <a:t>Tool: </a:t>
                      </a:r>
                      <a:r>
                        <a:rPr sz="900" b="0">
                          <a:solidFill>
                            <a:srgbClr val="666666"/>
                          </a:solidFill>
                          <a:latin typeface="Arial"/>
                        </a:rPr>
                        <a:t>Notion</a:t>
                      </a:r>
                    </a:p>
                  </a:txBody>
                  <a:tcPr marL="76200" marR="76200" marT="50800" marB="50800" anchor="t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Gino Battistello · Curriculum Vitae"/>
          <p:cNvSpPr txBox="1"/>
          <p:nvPr/>
        </p:nvSpPr>
        <p:spPr>
          <a:xfrm>
            <a:off x="575995" y="10349103"/>
            <a:ext cx="5773013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Gino Battistello · Curriculum Vitae</a:t>
            </a:r>
          </a:p>
        </p:txBody>
      </p:sp>
      <p:sp>
        <p:nvSpPr>
          <p:cNvPr id="22" name="6 / 6"/>
          <p:cNvSpPr txBox="1"/>
          <p:nvPr/>
        </p:nvSpPr>
        <p:spPr>
          <a:xfrm>
            <a:off x="6412509" y="10349103"/>
            <a:ext cx="571500" cy="1635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9A9A"/>
                </a:solidFill>
                <a:latin typeface="Arial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Gino Battistello — editable curriculum vitae</dc:title>
  <dc:subject/>
  <dc:creator>Gino Battistello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