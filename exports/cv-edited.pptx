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1" r:id="rId5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88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6907"/>
  </p:normalViewPr>
  <p:slideViewPr>
    <p:cSldViewPr snapToGrid="0" snapToObjects="1">
      <p:cViewPr>
        <p:scale>
          <a:sx n="108" d="100"/>
          <a:sy n="108" d="100"/>
        </p:scale>
        <p:origin x="4120" y="144"/>
      </p:cViewPr>
      <p:guideLst>
        <p:guide orient="horz" pos="216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41C98-2E5E-6A45-8B22-7C7B45C05832}" type="datetimeFigureOut">
              <a:rPr lang="en-FR" smtClean="0"/>
              <a:t>28/10/2026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CB139-6FF5-5340-A46E-9A32FC2343A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10649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CB139-6FF5-5340-A46E-9A32FC2343AA}" type="slidenum">
              <a:rPr lang="en-FR" smtClean="0"/>
              <a:t>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15320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CB139-6FF5-5340-A46E-9A32FC2343AA}" type="slidenum">
              <a:rPr lang="en-FR" smtClean="0"/>
              <a:t>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6082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gino.battistello@icm-institute.org" TargetMode="External"/><Relationship Id="rId7" Type="http://schemas.openxmlformats.org/officeDocument/2006/relationships/hyperlink" Target="https://github.com/ginobattistell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cholar.google.com/citations?user=qjkSYX0AAAAJ&amp;hl=en" TargetMode="External"/><Relationship Id="rId5" Type="http://schemas.openxmlformats.org/officeDocument/2006/relationships/hyperlink" Target="https://orcid.org/0009-0009-9355-470X" TargetMode="External"/><Relationship Id="rId4" Type="http://schemas.openxmlformats.org/officeDocument/2006/relationships/hyperlink" Target="https://ginobattistello.github.io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nobattistello/gbm" TargetMode="External"/><Relationship Id="rId2" Type="http://schemas.openxmlformats.org/officeDocument/2006/relationships/hyperlink" Target="https://doi.org/10.1038/s44271-025-00285-8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ino Battistello"/>
          <p:cNvSpPr txBox="1"/>
          <p:nvPr/>
        </p:nvSpPr>
        <p:spPr>
          <a:xfrm>
            <a:off x="575666" y="540004"/>
            <a:ext cx="3810000" cy="439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3264"/>
              </a:lnSpc>
            </a:pPr>
            <a:r>
              <a:rPr sz="2400" b="0" dirty="0">
                <a:solidFill>
                  <a:srgbClr val="111111"/>
                </a:solidFill>
                <a:latin typeface="Helvetica" pitchFamily="2" charset="0"/>
              </a:rPr>
              <a:t>Gino </a:t>
            </a:r>
            <a:r>
              <a:rPr sz="2400" b="0" dirty="0" err="1">
                <a:solidFill>
                  <a:srgbClr val="111111"/>
                </a:solidFill>
                <a:latin typeface="Helvetica" pitchFamily="2" charset="0"/>
              </a:rPr>
              <a:t>Battistello</a:t>
            </a:r>
            <a:r>
              <a:rPr lang="fr-FR" sz="2400" b="0" dirty="0">
                <a:solidFill>
                  <a:srgbClr val="111111"/>
                </a:solidFill>
                <a:latin typeface="Helvetica" pitchFamily="2" charset="0"/>
              </a:rPr>
              <a:t> </a:t>
            </a:r>
            <a:r>
              <a:rPr lang="en-GB" sz="900" dirty="0">
                <a:solidFill>
                  <a:srgbClr val="666666"/>
                </a:solidFill>
                <a:latin typeface="Helvetica Light" panose="020B0403020202020204" pitchFamily="34" charset="0"/>
              </a:rPr>
              <a:t>he/him</a:t>
            </a:r>
          </a:p>
          <a:p>
            <a:pPr algn="l">
              <a:lnSpc>
                <a:spcPts val="3264"/>
              </a:lnSpc>
              <a:spcBef>
                <a:spcPts val="0"/>
              </a:spcBef>
              <a:spcAft>
                <a:spcPts val="0"/>
              </a:spcAft>
            </a:pPr>
            <a:endParaRPr sz="2400" b="0" dirty="0">
              <a:solidFill>
                <a:srgbClr val="111111"/>
              </a:solidFill>
              <a:latin typeface="Helvetica" pitchFamily="2" charset="0"/>
            </a:endParaRPr>
          </a:p>
        </p:txBody>
      </p:sp>
      <p:sp>
        <p:nvSpPr>
          <p:cNvPr id="3" name="PhD student in cognitive neuroscience"/>
          <p:cNvSpPr txBox="1"/>
          <p:nvPr/>
        </p:nvSpPr>
        <p:spPr>
          <a:xfrm>
            <a:off x="575995" y="997204"/>
            <a:ext cx="3810000" cy="370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66666"/>
                </a:solidFill>
                <a:latin typeface="Helvetica Light" panose="020B0403020202020204" pitchFamily="34" charset="0"/>
              </a:rPr>
              <a:t>PhD student in cognitive neuroscience</a:t>
            </a:r>
          </a:p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66666"/>
                </a:solidFill>
                <a:latin typeface="Helvetica Light" panose="020B0403020202020204" pitchFamily="34" charset="0"/>
              </a:rPr>
              <a:t>Paris Brain Institute (PBI) · </a:t>
            </a:r>
            <a:r>
              <a:rPr sz="1000" dirty="0" err="1">
                <a:solidFill>
                  <a:srgbClr val="666666"/>
                </a:solidFill>
                <a:latin typeface="Helvetica Light" panose="020B0403020202020204" pitchFamily="34" charset="0"/>
              </a:rPr>
              <a:t>FrontLab</a:t>
            </a:r>
            <a:r>
              <a:rPr sz="1000" dirty="0">
                <a:solidFill>
                  <a:srgbClr val="666666"/>
                </a:solidFill>
                <a:latin typeface="Helvetica Light" panose="020B0403020202020204" pitchFamily="34" charset="0"/>
              </a:rPr>
              <a:t> – </a:t>
            </a:r>
            <a:r>
              <a:rPr sz="1000" dirty="0" err="1">
                <a:solidFill>
                  <a:srgbClr val="666666"/>
                </a:solidFill>
                <a:latin typeface="Helvetica Light" panose="020B0403020202020204" pitchFamily="34" charset="0"/>
              </a:rPr>
              <a:t>CreaTeam</a:t>
            </a:r>
            <a:endParaRPr sz="1000" dirty="0">
              <a:solidFill>
                <a:srgbClr val="666666"/>
              </a:solidFill>
              <a:latin typeface="Helvetica Light" panose="020B0403020202020204" pitchFamily="34" charset="0"/>
            </a:endParaRPr>
          </a:p>
        </p:txBody>
      </p:sp>
      <p:sp>
        <p:nvSpPr>
          <p:cNvPr id="4" name="gino.battistello@icm-institute.org"/>
          <p:cNvSpPr txBox="1"/>
          <p:nvPr/>
        </p:nvSpPr>
        <p:spPr>
          <a:xfrm>
            <a:off x="4570680" y="591871"/>
            <a:ext cx="2413000" cy="802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900" dirty="0">
                <a:solidFill>
                  <a:srgbClr val="666666"/>
                </a:solidFill>
                <a:latin typeface="Helvetica Light" panose="020B0403020202020204" pitchFamily="34" charset="0"/>
              </a:rPr>
              <a:t>gino.battistello@icm-institute.</a:t>
            </a:r>
            <a:r>
              <a:rPr lang="en-GB" sz="900" dirty="0">
                <a:solidFill>
                  <a:srgbClr val="666666"/>
                </a:solidFill>
                <a:latin typeface="Helvetica Light" panose="020B0403020202020204" pitchFamily="34" charset="0"/>
              </a:rPr>
              <a:t>org</a:t>
            </a:r>
            <a:r>
              <a:rPr lang="en-GB" sz="900" dirty="0">
                <a:solidFill>
                  <a:srgbClr val="666666"/>
                </a:solidFill>
                <a:latin typeface="Helvetica Light" panose="020B0403020202020204" pitchFamily="34" charset="0"/>
              </a:rPr>
              <a:t> </a:t>
            </a:r>
            <a:endParaRPr sz="900" dirty="0">
              <a:solidFill>
                <a:srgbClr val="666666"/>
              </a:solidFill>
              <a:latin typeface="Helvetica Light" panose="020B0403020202020204" pitchFamily="34" charset="0"/>
            </a:endParaRPr>
          </a:p>
          <a:p>
            <a:pPr algn="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666666"/>
                </a:solidFill>
                <a:latin typeface="Helvetica Light" panose="020B0403020202020204" pitchFamily="34" charset="0"/>
              </a:rPr>
              <a:t>ginobattistello.github.</a:t>
            </a:r>
            <a:r>
              <a:rPr sz="900" dirty="0">
                <a:solidFill>
                  <a:srgbClr val="666666"/>
                </a:solidFill>
                <a:latin typeface="Helvetica Light" panose="020B0403020202020204" pitchFamily="34" charset="0"/>
              </a:rPr>
              <a:t>i</a:t>
            </a:r>
            <a:r>
              <a:rPr lang="fr-FR" sz="900" dirty="0">
                <a:solidFill>
                  <a:srgbClr val="666666"/>
                </a:solidFill>
                <a:latin typeface="Helvetica Light" panose="020B0403020202020204" pitchFamily="34" charset="0"/>
              </a:rPr>
              <a:t>o</a:t>
            </a:r>
            <a:endParaRPr sz="900" dirty="0">
              <a:solidFill>
                <a:srgbClr val="666666"/>
              </a:solidFill>
              <a:latin typeface="Helvetica Light" panose="020B0403020202020204" pitchFamily="34" charset="0"/>
            </a:endParaRPr>
          </a:p>
          <a:p>
            <a:pPr algn="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666666"/>
                </a:solidFill>
                <a:latin typeface="Helvetica Light" panose="020B0403020202020204" pitchFamily="34" charset="0"/>
              </a:rPr>
              <a:t>ORCID 0009-0009-9355-470X</a:t>
            </a:r>
          </a:p>
          <a:p>
            <a:pPr algn="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666666"/>
                </a:solidFill>
                <a:latin typeface="Helvetica Light" panose="020B0403020202020204" pitchFamily="34" charset="0"/>
              </a:rPr>
              <a:t>Google Scholar · GitHub</a:t>
            </a:r>
          </a:p>
          <a:p>
            <a:pPr algn="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666666"/>
                </a:solidFill>
                <a:latin typeface="Helvetica Light" panose="020B0403020202020204" pitchFamily="34" charset="0"/>
              </a:rPr>
              <a:t>Born 1999 · Nationality: French</a:t>
            </a:r>
            <a:endParaRPr lang="fr-FR" sz="900" dirty="0">
              <a:solidFill>
                <a:srgbClr val="666666"/>
              </a:solidFill>
              <a:latin typeface="Helvetica Light" panose="020B04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5995" y="1736344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7" name="RESEARCH EXPERIENCE"/>
          <p:cNvSpPr txBox="1"/>
          <p:nvPr/>
        </p:nvSpPr>
        <p:spPr>
          <a:xfrm>
            <a:off x="728395" y="1685544"/>
            <a:ext cx="6255613" cy="1704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Helvetica" pitchFamily="2" charset="0"/>
              </a:rPr>
              <a:t>RESEARCH EXPERIENCE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5995" y="188874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grpSp>
        <p:nvGrpSpPr>
          <p:cNvPr id="13" name="PhD Student"/>
          <p:cNvGrpSpPr/>
          <p:nvPr/>
        </p:nvGrpSpPr>
        <p:grpSpPr>
          <a:xfrm>
            <a:off x="575995" y="1990344"/>
            <a:ext cx="6408013" cy="601370"/>
            <a:chOff x="575995" y="1990344"/>
            <a:chExt cx="6408013" cy="601370"/>
          </a:xfrm>
        </p:grpSpPr>
        <p:sp>
          <p:nvSpPr>
            <p:cNvPr id="9" name="2023 – present"/>
            <p:cNvSpPr txBox="1"/>
            <p:nvPr/>
          </p:nvSpPr>
          <p:spPr>
            <a:xfrm>
              <a:off x="575995" y="1990344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2023 – present</a:t>
              </a:r>
            </a:p>
          </p:txBody>
        </p:sp>
        <p:sp>
          <p:nvSpPr>
            <p:cNvPr id="10" name="PhD Student"/>
            <p:cNvSpPr txBox="1"/>
            <p:nvPr/>
          </p:nvSpPr>
          <p:spPr>
            <a:xfrm>
              <a:off x="1511998" y="1990344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PhD Student</a:t>
              </a:r>
            </a:p>
          </p:txBody>
        </p:sp>
        <p:sp>
          <p:nvSpPr>
            <p:cNvPr id="11" name="Unravelling the impact of affective states on creativity: a neurocognitive inves"/>
            <p:cNvSpPr txBox="1"/>
            <p:nvPr/>
          </p:nvSpPr>
          <p:spPr>
            <a:xfrm>
              <a:off x="1511998" y="2200605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Unravelling the impact of affective states on creativity: a neurocognitive investigation</a:t>
              </a:r>
            </a:p>
          </p:txBody>
        </p:sp>
        <p:sp>
          <p:nvSpPr>
            <p:cNvPr id="12" name="Supervisor: Dr. Alizée Lopez-Persem · Paris Brain Institute (ICM) – FrontLab – C"/>
            <p:cNvSpPr txBox="1"/>
            <p:nvPr/>
          </p:nvSpPr>
          <p:spPr>
            <a:xfrm>
              <a:off x="1511998" y="2410866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Supervisor: Dr. Alizée Lopez-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Persem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 · Paris Brain Institute (ICM) – 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FrontLab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 – 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CreaTeam</a:t>
              </a:r>
              <a:endParaRPr sz="900" dirty="0">
                <a:solidFill>
                  <a:srgbClr val="666666"/>
                </a:solidFill>
                <a:latin typeface="Helvetica Light" panose="020B0403020202020204" pitchFamily="34" charset="0"/>
              </a:endParaRPr>
            </a:p>
          </p:txBody>
        </p:sp>
      </p:grpSp>
      <p:sp>
        <p:nvSpPr>
          <p:cNvPr id="14" name="Rectangle 13"/>
          <p:cNvSpPr/>
          <p:nvPr/>
        </p:nvSpPr>
        <p:spPr>
          <a:xfrm>
            <a:off x="575995" y="269331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grpSp>
        <p:nvGrpSpPr>
          <p:cNvPr id="19" name="Graduate internship, Research assistant"/>
          <p:cNvGrpSpPr/>
          <p:nvPr/>
        </p:nvGrpSpPr>
        <p:grpSpPr>
          <a:xfrm>
            <a:off x="575995" y="2807614"/>
            <a:ext cx="6408013" cy="601370"/>
            <a:chOff x="575995" y="2807614"/>
            <a:chExt cx="6408013" cy="601370"/>
          </a:xfrm>
        </p:grpSpPr>
        <p:sp>
          <p:nvSpPr>
            <p:cNvPr id="15" name="2022 – 2023"/>
            <p:cNvSpPr txBox="1"/>
            <p:nvPr/>
          </p:nvSpPr>
          <p:spPr>
            <a:xfrm>
              <a:off x="575995" y="2807614"/>
              <a:ext cx="864006" cy="3362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2022 – 2023</a:t>
              </a:r>
            </a:p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6 months</a:t>
              </a:r>
            </a:p>
          </p:txBody>
        </p:sp>
        <p:sp>
          <p:nvSpPr>
            <p:cNvPr id="16" name="Graduate internship, Research assistant"/>
            <p:cNvSpPr txBox="1"/>
            <p:nvPr/>
          </p:nvSpPr>
          <p:spPr>
            <a:xfrm>
              <a:off x="1511998" y="2807614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Graduate internship, Research assistant</a:t>
              </a:r>
            </a:p>
          </p:txBody>
        </p:sp>
        <p:sp>
          <p:nvSpPr>
            <p:cNvPr id="17" name="Generalization of the role of subjective valuation in creativity"/>
            <p:cNvSpPr txBox="1"/>
            <p:nvPr/>
          </p:nvSpPr>
          <p:spPr>
            <a:xfrm>
              <a:off x="1511998" y="3017875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 dirty="0">
                  <a:solidFill>
                    <a:srgbClr val="111111"/>
                  </a:solidFill>
                  <a:latin typeface="Helvetica" pitchFamily="2" charset="0"/>
                </a:rPr>
                <a:t>Generalization of the role of subjective valuation in creativity</a:t>
              </a:r>
            </a:p>
          </p:txBody>
        </p:sp>
        <p:sp>
          <p:nvSpPr>
            <p:cNvPr id="18" name="Supervisor: Dr. Alizée Lopez-Persem · Paris Brain Institute (ICM) – FrontLab – C"/>
            <p:cNvSpPr txBox="1"/>
            <p:nvPr/>
          </p:nvSpPr>
          <p:spPr>
            <a:xfrm>
              <a:off x="1511998" y="3228136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Supervisor: Dr. Alizée Lopez-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Persem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 · Paris Brain Institute (ICM) – 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FrontLab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 – 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CreaTeam</a:t>
              </a:r>
              <a:endParaRPr sz="900" dirty="0">
                <a:solidFill>
                  <a:srgbClr val="666666"/>
                </a:solidFill>
                <a:latin typeface="Helvetica Light" panose="020B0403020202020204" pitchFamily="34" charset="0"/>
              </a:endParaRPr>
            </a:p>
          </p:txBody>
        </p:sp>
      </p:grpSp>
      <p:grpSp>
        <p:nvGrpSpPr>
          <p:cNvPr id="24" name="Internship"/>
          <p:cNvGrpSpPr/>
          <p:nvPr/>
        </p:nvGrpSpPr>
        <p:grpSpPr>
          <a:xfrm>
            <a:off x="575995" y="3485184"/>
            <a:ext cx="6408013" cy="756819"/>
            <a:chOff x="575995" y="3485184"/>
            <a:chExt cx="6408013" cy="756819"/>
          </a:xfrm>
        </p:grpSpPr>
        <p:sp>
          <p:nvSpPr>
            <p:cNvPr id="20" name="2022"/>
            <p:cNvSpPr txBox="1"/>
            <p:nvPr/>
          </p:nvSpPr>
          <p:spPr>
            <a:xfrm>
              <a:off x="575995" y="3485184"/>
              <a:ext cx="864006" cy="3362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2022</a:t>
              </a:r>
            </a:p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2 months</a:t>
              </a:r>
            </a:p>
          </p:txBody>
        </p:sp>
        <p:sp>
          <p:nvSpPr>
            <p:cNvPr id="21" name="Internship"/>
            <p:cNvSpPr txBox="1"/>
            <p:nvPr/>
          </p:nvSpPr>
          <p:spPr>
            <a:xfrm>
              <a:off x="1511998" y="3485184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Internship</a:t>
              </a:r>
            </a:p>
          </p:txBody>
        </p:sp>
        <p:sp>
          <p:nvSpPr>
            <p:cNvPr id="22" name="Electrophysiological source localization during gait inhibition"/>
            <p:cNvSpPr txBox="1"/>
            <p:nvPr/>
          </p:nvSpPr>
          <p:spPr>
            <a:xfrm>
              <a:off x="1511998" y="3695446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Electrophysiological source localization during gait inhibition</a:t>
              </a:r>
            </a:p>
          </p:txBody>
        </p:sp>
        <p:sp>
          <p:nvSpPr>
            <p:cNvPr id="23" name="Supervisors: Dr. Nathalie George, Déborah Ziri · Paris Brain Institute (ICM) – E"/>
            <p:cNvSpPr txBox="1"/>
            <p:nvPr/>
          </p:nvSpPr>
          <p:spPr>
            <a:xfrm>
              <a:off x="1511998" y="3905707"/>
              <a:ext cx="5472010" cy="3362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666666"/>
                  </a:solidFill>
                  <a:latin typeface="Helvetica Light" panose="020B0403020202020204" pitchFamily="34" charset="0"/>
                </a:rPr>
                <a:t>Supervisors: Dr. Nathalie George, Déborah Ziri · Paris Brain Institute (ICM) – Experimental Neurosurgery</a:t>
              </a:r>
            </a:p>
          </p:txBody>
        </p:sp>
      </p:grpSp>
      <p:grpSp>
        <p:nvGrpSpPr>
          <p:cNvPr id="29" name="Internship"/>
          <p:cNvGrpSpPr/>
          <p:nvPr/>
        </p:nvGrpSpPr>
        <p:grpSpPr>
          <a:xfrm>
            <a:off x="575995" y="4318203"/>
            <a:ext cx="6408013" cy="756818"/>
            <a:chOff x="575995" y="4318203"/>
            <a:chExt cx="6408013" cy="756818"/>
          </a:xfrm>
        </p:grpSpPr>
        <p:sp>
          <p:nvSpPr>
            <p:cNvPr id="25" name="2021 – 2022"/>
            <p:cNvSpPr txBox="1"/>
            <p:nvPr/>
          </p:nvSpPr>
          <p:spPr>
            <a:xfrm>
              <a:off x="575995" y="4318203"/>
              <a:ext cx="864006" cy="3362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2021 – 2022</a:t>
              </a:r>
            </a:p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1 year</a:t>
              </a:r>
            </a:p>
          </p:txBody>
        </p:sp>
        <p:sp>
          <p:nvSpPr>
            <p:cNvPr id="26" name="Internship"/>
            <p:cNvSpPr txBox="1"/>
            <p:nvPr/>
          </p:nvSpPr>
          <p:spPr>
            <a:xfrm>
              <a:off x="1511998" y="4318203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Internship</a:t>
              </a:r>
            </a:p>
          </p:txBody>
        </p:sp>
        <p:sp>
          <p:nvSpPr>
            <p:cNvPr id="27" name="Interpersonal synchrony as a substrate of emotion alignment"/>
            <p:cNvSpPr txBox="1"/>
            <p:nvPr/>
          </p:nvSpPr>
          <p:spPr>
            <a:xfrm>
              <a:off x="1511998" y="4528464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Interpersonal synchrony as a substrate of emotion alignment</a:t>
              </a:r>
            </a:p>
          </p:txBody>
        </p:sp>
        <p:sp>
          <p:nvSpPr>
            <p:cNvPr id="28" name="Supervisors: Dr. Julie Grèzes, Victor Chung · Laboratory of Cognitive and Comput"/>
            <p:cNvSpPr txBox="1"/>
            <p:nvPr/>
          </p:nvSpPr>
          <p:spPr>
            <a:xfrm>
              <a:off x="1511998" y="4738725"/>
              <a:ext cx="5472010" cy="3362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Supervisors: Dr. Julie Grèzes, Victor Chung · Laboratory of Cognitive and Computational Neurosciences (LNC2) – Social Cognition group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575995" y="5176621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grpSp>
        <p:nvGrpSpPr>
          <p:cNvPr id="36" name="Undergraduate internship, then Research engineer"/>
          <p:cNvGrpSpPr/>
          <p:nvPr/>
        </p:nvGrpSpPr>
        <p:grpSpPr>
          <a:xfrm>
            <a:off x="575995" y="5290921"/>
            <a:ext cx="6408013" cy="801269"/>
            <a:chOff x="575995" y="5290921"/>
            <a:chExt cx="6408013" cy="801269"/>
          </a:xfrm>
        </p:grpSpPr>
        <p:sp>
          <p:nvSpPr>
            <p:cNvPr id="31" name="2021"/>
            <p:cNvSpPr txBox="1"/>
            <p:nvPr/>
          </p:nvSpPr>
          <p:spPr>
            <a:xfrm>
              <a:off x="575995" y="5290921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2021</a:t>
              </a:r>
            </a:p>
          </p:txBody>
        </p:sp>
        <p:sp>
          <p:nvSpPr>
            <p:cNvPr id="32" name="Undergraduate internship, then Research engineer"/>
            <p:cNvSpPr txBox="1"/>
            <p:nvPr/>
          </p:nvSpPr>
          <p:spPr>
            <a:xfrm>
              <a:off x="1511998" y="5290921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Undergraduate internship, then Research engineer</a:t>
              </a:r>
            </a:p>
          </p:txBody>
        </p:sp>
        <p:sp>
          <p:nvSpPr>
            <p:cNvPr id="33" name="Broca's involvement in language fluency"/>
            <p:cNvSpPr txBox="1"/>
            <p:nvPr/>
          </p:nvSpPr>
          <p:spPr>
            <a:xfrm>
              <a:off x="1511998" y="5501182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 dirty="0">
                  <a:solidFill>
                    <a:srgbClr val="111111"/>
                  </a:solidFill>
                  <a:latin typeface="Helvetica" pitchFamily="2" charset="0"/>
                </a:rPr>
                <a:t>Broca's involvement in language fluency</a:t>
              </a:r>
            </a:p>
          </p:txBody>
        </p:sp>
        <p:sp>
          <p:nvSpPr>
            <p:cNvPr id="34" name="Followed by 3 months as research engineer: evaluation of cognitive and motor abi"/>
            <p:cNvSpPr txBox="1"/>
            <p:nvPr/>
          </p:nvSpPr>
          <p:spPr>
            <a:xfrm>
              <a:off x="1511998" y="5711444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Followed by 3 months as research engineer: evaluation of cognitive and motor abilities</a:t>
              </a:r>
            </a:p>
          </p:txBody>
        </p:sp>
        <p:sp>
          <p:nvSpPr>
            <p:cNvPr id="35" name="Supervisor: Dr. Irene Cristofori · Marc Jeannerod Institute of Cognitive Science"/>
            <p:cNvSpPr txBox="1"/>
            <p:nvPr/>
          </p:nvSpPr>
          <p:spPr>
            <a:xfrm>
              <a:off x="1511998" y="5911342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Supervisor: Dr. Irene Cristofori · Marc Jeannerod Institute of Cognitive Sciences (ISC) – CNRS, Lyon</a:t>
              </a:r>
            </a:p>
          </p:txBody>
        </p:sp>
      </p:grpSp>
      <p:grpSp>
        <p:nvGrpSpPr>
          <p:cNvPr id="41" name="Internship"/>
          <p:cNvGrpSpPr/>
          <p:nvPr/>
        </p:nvGrpSpPr>
        <p:grpSpPr>
          <a:xfrm>
            <a:off x="575995" y="6168390"/>
            <a:ext cx="6408013" cy="601370"/>
            <a:chOff x="575995" y="6168390"/>
            <a:chExt cx="6408013" cy="601370"/>
          </a:xfrm>
        </p:grpSpPr>
        <p:sp>
          <p:nvSpPr>
            <p:cNvPr id="37" name="2021"/>
            <p:cNvSpPr txBox="1"/>
            <p:nvPr/>
          </p:nvSpPr>
          <p:spPr>
            <a:xfrm>
              <a:off x="575995" y="6168390"/>
              <a:ext cx="864006" cy="3362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2021</a:t>
              </a:r>
            </a:p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2 months</a:t>
              </a:r>
            </a:p>
          </p:txBody>
        </p:sp>
        <p:sp>
          <p:nvSpPr>
            <p:cNvPr id="38" name="Internship"/>
            <p:cNvSpPr txBox="1"/>
            <p:nvPr/>
          </p:nvSpPr>
          <p:spPr>
            <a:xfrm>
              <a:off x="1511998" y="6168390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Internship</a:t>
              </a:r>
            </a:p>
          </p:txBody>
        </p:sp>
        <p:sp>
          <p:nvSpPr>
            <p:cNvPr id="39" name="Cognitive and cerebral bases of auditory hallucinations in schizophrenia"/>
            <p:cNvSpPr txBox="1"/>
            <p:nvPr/>
          </p:nvSpPr>
          <p:spPr>
            <a:xfrm>
              <a:off x="1511998" y="6378651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Cognitive and cerebral bases of auditory hallucinations in schizophrenia</a:t>
              </a:r>
            </a:p>
          </p:txBody>
        </p:sp>
        <p:sp>
          <p:nvSpPr>
            <p:cNvPr id="40" name="Supervisor: Dr. Marine Mondino · Lyon Neuroscience Research Center (CRNL) – PSYR"/>
            <p:cNvSpPr txBox="1"/>
            <p:nvPr/>
          </p:nvSpPr>
          <p:spPr>
            <a:xfrm>
              <a:off x="1511998" y="6588912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Supervisor: Dr. Marine Mondino · Lyon Neuroscience Research Center (CRNL) – PSYR2 team</a:t>
              </a:r>
            </a:p>
          </p:txBody>
        </p:sp>
      </p:grpSp>
      <p:grpSp>
        <p:nvGrpSpPr>
          <p:cNvPr id="46" name="Internship"/>
          <p:cNvGrpSpPr/>
          <p:nvPr/>
        </p:nvGrpSpPr>
        <p:grpSpPr>
          <a:xfrm>
            <a:off x="575995" y="6845960"/>
            <a:ext cx="6408013" cy="756818"/>
            <a:chOff x="575995" y="6845960"/>
            <a:chExt cx="6408013" cy="756818"/>
          </a:xfrm>
        </p:grpSpPr>
        <p:sp>
          <p:nvSpPr>
            <p:cNvPr id="42" name="2020"/>
            <p:cNvSpPr txBox="1"/>
            <p:nvPr/>
          </p:nvSpPr>
          <p:spPr>
            <a:xfrm>
              <a:off x="575995" y="6845960"/>
              <a:ext cx="864006" cy="3362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2020</a:t>
              </a:r>
            </a:p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1 month</a:t>
              </a:r>
            </a:p>
          </p:txBody>
        </p:sp>
        <p:sp>
          <p:nvSpPr>
            <p:cNvPr id="43" name="Internship"/>
            <p:cNvSpPr txBox="1"/>
            <p:nvPr/>
          </p:nvSpPr>
          <p:spPr>
            <a:xfrm>
              <a:off x="1511998" y="6845960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Internship</a:t>
              </a:r>
            </a:p>
          </p:txBody>
        </p:sp>
        <p:sp>
          <p:nvSpPr>
            <p:cNvPr id="44" name="Introduction to clinical research"/>
            <p:cNvSpPr txBox="1"/>
            <p:nvPr/>
          </p:nvSpPr>
          <p:spPr>
            <a:xfrm>
              <a:off x="1511998" y="7056221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Introduction to clinical research</a:t>
              </a:r>
            </a:p>
          </p:txBody>
        </p:sp>
        <p:sp>
          <p:nvSpPr>
            <p:cNvPr id="45" name="Supervisors: Dr. Alice Poisson, Dr. Caroline Demily · CH Le Vinatier &amp; Marc Jean"/>
            <p:cNvSpPr txBox="1"/>
            <p:nvPr/>
          </p:nvSpPr>
          <p:spPr>
            <a:xfrm>
              <a:off x="1511998" y="7266482"/>
              <a:ext cx="5472010" cy="3362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Supervisors: Dr. Alice Poisson, Dr. Caroline Demily · CH Le 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Vinatier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 &amp; Marc 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Jeannerod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 Institute of Cognitive Sciences (ISC), Lyon</a:t>
              </a:r>
            </a:p>
          </p:txBody>
        </p:sp>
      </p:grpSp>
      <p:sp>
        <p:nvSpPr>
          <p:cNvPr id="47" name="Rectangle 46"/>
          <p:cNvSpPr/>
          <p:nvPr/>
        </p:nvSpPr>
        <p:spPr>
          <a:xfrm>
            <a:off x="4385665" y="7935601"/>
            <a:ext cx="57600" cy="57150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48" name="EDUCATION"/>
          <p:cNvSpPr txBox="1"/>
          <p:nvPr/>
        </p:nvSpPr>
        <p:spPr>
          <a:xfrm>
            <a:off x="4538067" y="7884801"/>
            <a:ext cx="3442244" cy="1704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Helvetica" pitchFamily="2" charset="0"/>
              </a:rPr>
              <a:t>EDUCATION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5667" y="8088001"/>
            <a:ext cx="2808000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grpSp>
        <p:nvGrpSpPr>
          <p:cNvPr id="54" name="M.Sc in Cognitive Science (Cogmaster)"/>
          <p:cNvGrpSpPr/>
          <p:nvPr/>
        </p:nvGrpSpPr>
        <p:grpSpPr>
          <a:xfrm>
            <a:off x="4385667" y="8189601"/>
            <a:ext cx="3526104" cy="423063"/>
            <a:chOff x="575995" y="8059978"/>
            <a:chExt cx="6408013" cy="423063"/>
          </a:xfrm>
        </p:grpSpPr>
        <p:sp>
          <p:nvSpPr>
            <p:cNvPr id="50" name="2021 – 2023"/>
            <p:cNvSpPr txBox="1"/>
            <p:nvPr/>
          </p:nvSpPr>
          <p:spPr>
            <a:xfrm>
              <a:off x="575995" y="8059978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2021 – 2023</a:t>
              </a:r>
            </a:p>
          </p:txBody>
        </p:sp>
        <p:sp>
          <p:nvSpPr>
            <p:cNvPr id="51" name="M.Sc in Cognitive Science (Cogmaster)"/>
            <p:cNvSpPr txBox="1"/>
            <p:nvPr/>
          </p:nvSpPr>
          <p:spPr>
            <a:xfrm>
              <a:off x="1348925" y="8059978"/>
              <a:ext cx="5635083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 dirty="0" err="1">
                  <a:solidFill>
                    <a:srgbClr val="111111"/>
                  </a:solidFill>
                  <a:latin typeface="Helvetica" pitchFamily="2" charset="0"/>
                </a:rPr>
                <a:t>M.Sc</a:t>
              </a:r>
              <a:r>
                <a:rPr sz="960" b="1" dirty="0">
                  <a:solidFill>
                    <a:srgbClr val="111111"/>
                  </a:solidFill>
                  <a:latin typeface="Helvetica" pitchFamily="2" charset="0"/>
                </a:rPr>
                <a:t> in Cognitive Science (</a:t>
              </a:r>
              <a:r>
                <a:rPr sz="960" b="1" dirty="0" err="1">
                  <a:solidFill>
                    <a:srgbClr val="111111"/>
                  </a:solidFill>
                  <a:latin typeface="Helvetica" pitchFamily="2" charset="0"/>
                </a:rPr>
                <a:t>Cogmaster</a:t>
              </a:r>
              <a:r>
                <a:rPr sz="960" b="1" dirty="0">
                  <a:solidFill>
                    <a:srgbClr val="111111"/>
                  </a:solidFill>
                  <a:latin typeface="Helvetica" pitchFamily="2" charset="0"/>
                </a:rPr>
                <a:t>)</a:t>
              </a:r>
            </a:p>
          </p:txBody>
        </p:sp>
        <p:sp>
          <p:nvSpPr>
            <p:cNvPr id="53" name="École Normale Supérieure (ENS – PSL), Paris"/>
            <p:cNvSpPr txBox="1"/>
            <p:nvPr/>
          </p:nvSpPr>
          <p:spPr>
            <a:xfrm>
              <a:off x="1348925" y="8302193"/>
              <a:ext cx="5635083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École Normale Supérieure (ENS – PSL), Paris</a:t>
              </a:r>
            </a:p>
          </p:txBody>
        </p:sp>
      </p:grpSp>
      <p:grpSp>
        <p:nvGrpSpPr>
          <p:cNvPr id="60" name="B.Sc in Human Physiology"/>
          <p:cNvGrpSpPr/>
          <p:nvPr/>
        </p:nvGrpSpPr>
        <p:grpSpPr>
          <a:xfrm>
            <a:off x="4385667" y="8856809"/>
            <a:ext cx="3526104" cy="406044"/>
            <a:chOff x="575995" y="8727186"/>
            <a:chExt cx="6408013" cy="406044"/>
          </a:xfrm>
        </p:grpSpPr>
        <p:sp>
          <p:nvSpPr>
            <p:cNvPr id="55" name="2018 – 2021"/>
            <p:cNvSpPr txBox="1"/>
            <p:nvPr/>
          </p:nvSpPr>
          <p:spPr>
            <a:xfrm>
              <a:off x="575995" y="8727186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2018 – 2021</a:t>
              </a:r>
            </a:p>
          </p:txBody>
        </p:sp>
        <p:sp>
          <p:nvSpPr>
            <p:cNvPr id="56" name="B.Sc in Human Physiology"/>
            <p:cNvSpPr txBox="1"/>
            <p:nvPr/>
          </p:nvSpPr>
          <p:spPr>
            <a:xfrm>
              <a:off x="1348925" y="8727186"/>
              <a:ext cx="5635083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 dirty="0" err="1">
                  <a:solidFill>
                    <a:srgbClr val="111111"/>
                  </a:solidFill>
                  <a:latin typeface="Helvetica" pitchFamily="2" charset="0"/>
                </a:rPr>
                <a:t>B.Sc</a:t>
              </a:r>
              <a:r>
                <a:rPr sz="960" b="1" dirty="0">
                  <a:solidFill>
                    <a:srgbClr val="111111"/>
                  </a:solidFill>
                  <a:latin typeface="Helvetica" pitchFamily="2" charset="0"/>
                </a:rPr>
                <a:t> in Human Physiology</a:t>
              </a:r>
            </a:p>
          </p:txBody>
        </p:sp>
        <p:sp>
          <p:nvSpPr>
            <p:cNvPr id="59" name="Claude Bernard University Lyon 1"/>
            <p:cNvSpPr txBox="1"/>
            <p:nvPr/>
          </p:nvSpPr>
          <p:spPr>
            <a:xfrm>
              <a:off x="1348925" y="8952382"/>
              <a:ext cx="5635083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Claude Bernard University Lyon 1</a:t>
              </a:r>
            </a:p>
          </p:txBody>
        </p:sp>
      </p:grpSp>
      <p:sp>
        <p:nvSpPr>
          <p:cNvPr id="61" name="Gino Battistello · Curriculum Vitae"/>
          <p:cNvSpPr txBox="1"/>
          <p:nvPr/>
        </p:nvSpPr>
        <p:spPr>
          <a:xfrm>
            <a:off x="575995" y="10349103"/>
            <a:ext cx="5773013" cy="163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Helvetica" pitchFamily="2" charset="0"/>
              </a:rPr>
              <a:t>Gino Battistello · Curriculum Vitae</a:t>
            </a:r>
          </a:p>
        </p:txBody>
      </p:sp>
      <p:sp>
        <p:nvSpPr>
          <p:cNvPr id="62" name="1 / 6"/>
          <p:cNvSpPr txBox="1"/>
          <p:nvPr/>
        </p:nvSpPr>
        <p:spPr>
          <a:xfrm>
            <a:off x="6412509" y="10349103"/>
            <a:ext cx="571500" cy="163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Helvetica" pitchFamily="2" charset="0"/>
              </a:rPr>
              <a:t>1 / 6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C9E5509-4E54-1050-DB57-E76ACE210336}"/>
              </a:ext>
            </a:extLst>
          </p:cNvPr>
          <p:cNvSpPr/>
          <p:nvPr/>
        </p:nvSpPr>
        <p:spPr>
          <a:xfrm>
            <a:off x="575666" y="152679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65" name="Rectangle 64">
            <a:hlinkClick r:id="rId3"/>
            <a:extLst>
              <a:ext uri="{FF2B5EF4-FFF2-40B4-BE49-F238E27FC236}">
                <a16:creationId xmlns:a16="http://schemas.microsoft.com/office/drawing/2014/main" id="{69710B91-F141-F072-BF2B-76D5D1D48D39}"/>
              </a:ext>
            </a:extLst>
          </p:cNvPr>
          <p:cNvSpPr/>
          <p:nvPr/>
        </p:nvSpPr>
        <p:spPr>
          <a:xfrm>
            <a:off x="5305425" y="591871"/>
            <a:ext cx="1678254" cy="14472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6" name="Rectangle 65">
            <a:hlinkClick r:id="rId4"/>
            <a:extLst>
              <a:ext uri="{FF2B5EF4-FFF2-40B4-BE49-F238E27FC236}">
                <a16:creationId xmlns:a16="http://schemas.microsoft.com/office/drawing/2014/main" id="{3E33FA57-8B24-1481-4D5F-779C4670E1D9}"/>
              </a:ext>
            </a:extLst>
          </p:cNvPr>
          <p:cNvSpPr/>
          <p:nvPr/>
        </p:nvSpPr>
        <p:spPr>
          <a:xfrm>
            <a:off x="5746749" y="750976"/>
            <a:ext cx="1236929" cy="14472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8" name="Rectangle 67">
            <a:hlinkClick r:id="rId5"/>
            <a:extLst>
              <a:ext uri="{FF2B5EF4-FFF2-40B4-BE49-F238E27FC236}">
                <a16:creationId xmlns:a16="http://schemas.microsoft.com/office/drawing/2014/main" id="{E7A4622B-E0F3-8F22-1AB2-40DC52CAF0F0}"/>
              </a:ext>
            </a:extLst>
          </p:cNvPr>
          <p:cNvSpPr/>
          <p:nvPr/>
        </p:nvSpPr>
        <p:spPr>
          <a:xfrm>
            <a:off x="5435601" y="906969"/>
            <a:ext cx="1548078" cy="13112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9" name="Rectangle 68">
            <a:hlinkClick r:id="rId6"/>
            <a:extLst>
              <a:ext uri="{FF2B5EF4-FFF2-40B4-BE49-F238E27FC236}">
                <a16:creationId xmlns:a16="http://schemas.microsoft.com/office/drawing/2014/main" id="{E0CCAAE4-B2D6-47CB-75BB-60241CC71F0E}"/>
              </a:ext>
            </a:extLst>
          </p:cNvPr>
          <p:cNvSpPr/>
          <p:nvPr/>
        </p:nvSpPr>
        <p:spPr>
          <a:xfrm>
            <a:off x="5699125" y="1052474"/>
            <a:ext cx="843229" cy="14472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1" name="Rectangle 70">
            <a:hlinkClick r:id="rId7"/>
            <a:extLst>
              <a:ext uri="{FF2B5EF4-FFF2-40B4-BE49-F238E27FC236}">
                <a16:creationId xmlns:a16="http://schemas.microsoft.com/office/drawing/2014/main" id="{082BA54C-E981-3670-9019-328DE2CFCE2F}"/>
              </a:ext>
            </a:extLst>
          </p:cNvPr>
          <p:cNvSpPr/>
          <p:nvPr/>
        </p:nvSpPr>
        <p:spPr>
          <a:xfrm>
            <a:off x="6597650" y="1052043"/>
            <a:ext cx="386028" cy="14472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E7F0D4B-148E-BEF4-348A-4BF76E47CA99}"/>
              </a:ext>
            </a:extLst>
          </p:cNvPr>
          <p:cNvSpPr/>
          <p:nvPr/>
        </p:nvSpPr>
        <p:spPr>
          <a:xfrm>
            <a:off x="575829" y="7932013"/>
            <a:ext cx="57600" cy="57600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73" name="AWARDS &amp; GRANTS">
            <a:extLst>
              <a:ext uri="{FF2B5EF4-FFF2-40B4-BE49-F238E27FC236}">
                <a16:creationId xmlns:a16="http://schemas.microsoft.com/office/drawing/2014/main" id="{D613675B-2E72-A1BC-5AC0-7D3ED81FECC5}"/>
              </a:ext>
            </a:extLst>
          </p:cNvPr>
          <p:cNvSpPr txBox="1"/>
          <p:nvPr/>
        </p:nvSpPr>
        <p:spPr>
          <a:xfrm>
            <a:off x="728231" y="7881213"/>
            <a:ext cx="3442244" cy="1704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Helvetica" pitchFamily="2" charset="0"/>
              </a:rPr>
              <a:t>AWARDS &amp; GRANTS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63DB14B-05FB-47E4-E4D0-08618BBCB2D1}"/>
              </a:ext>
            </a:extLst>
          </p:cNvPr>
          <p:cNvSpPr/>
          <p:nvPr/>
        </p:nvSpPr>
        <p:spPr>
          <a:xfrm>
            <a:off x="575829" y="8084413"/>
            <a:ext cx="3600000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grpSp>
        <p:nvGrpSpPr>
          <p:cNvPr id="75" name="Training grant in computational psychiatry">
            <a:extLst>
              <a:ext uri="{FF2B5EF4-FFF2-40B4-BE49-F238E27FC236}">
                <a16:creationId xmlns:a16="http://schemas.microsoft.com/office/drawing/2014/main" id="{725BB571-7790-BDD9-91A7-3595BEC76F35}"/>
              </a:ext>
            </a:extLst>
          </p:cNvPr>
          <p:cNvGrpSpPr/>
          <p:nvPr/>
        </p:nvGrpSpPr>
        <p:grpSpPr>
          <a:xfrm>
            <a:off x="575830" y="8186013"/>
            <a:ext cx="3907271" cy="394512"/>
            <a:chOff x="575995" y="4540504"/>
            <a:chExt cx="6267530" cy="394512"/>
          </a:xfrm>
        </p:grpSpPr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A85D0AB5-EC9E-3486-6F2B-B075804DAF52}"/>
                </a:ext>
              </a:extLst>
            </p:cNvPr>
            <p:cNvSpPr/>
            <p:nvPr/>
          </p:nvSpPr>
          <p:spPr>
            <a:xfrm>
              <a:off x="1180199" y="4553432"/>
              <a:ext cx="692433" cy="152400"/>
            </a:xfrm>
            <a:prstGeom prst="roundRect">
              <a:avLst>
                <a:gd name="adj" fmla="val 12000"/>
              </a:avLst>
            </a:prstGeom>
            <a:solidFill>
              <a:srgbClr val="7A2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78" name="GRANTS">
              <a:extLst>
                <a:ext uri="{FF2B5EF4-FFF2-40B4-BE49-F238E27FC236}">
                  <a16:creationId xmlns:a16="http://schemas.microsoft.com/office/drawing/2014/main" id="{EB7604B0-1012-09FA-934C-5A132092FD11}"/>
                </a:ext>
              </a:extLst>
            </p:cNvPr>
            <p:cNvSpPr txBox="1"/>
            <p:nvPr/>
          </p:nvSpPr>
          <p:spPr>
            <a:xfrm>
              <a:off x="1210757" y="4553432"/>
              <a:ext cx="636477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 dirty="0">
                  <a:solidFill>
                    <a:srgbClr val="FFB36B"/>
                  </a:solidFill>
                  <a:latin typeface="Helvetica" pitchFamily="2" charset="0"/>
                </a:rPr>
                <a:t>GRANTS</a:t>
              </a:r>
            </a:p>
          </p:txBody>
        </p:sp>
        <p:sp>
          <p:nvSpPr>
            <p:cNvPr id="76" name="2026">
              <a:extLst>
                <a:ext uri="{FF2B5EF4-FFF2-40B4-BE49-F238E27FC236}">
                  <a16:creationId xmlns:a16="http://schemas.microsoft.com/office/drawing/2014/main" id="{25D4758C-EFAB-1485-A547-A2955439A676}"/>
                </a:ext>
              </a:extLst>
            </p:cNvPr>
            <p:cNvSpPr txBox="1"/>
            <p:nvPr/>
          </p:nvSpPr>
          <p:spPr>
            <a:xfrm>
              <a:off x="575995" y="4540504"/>
              <a:ext cx="527811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2026</a:t>
              </a:r>
            </a:p>
          </p:txBody>
        </p:sp>
        <p:sp>
          <p:nvSpPr>
            <p:cNvPr id="79" name="Training grant in computational psychiatry">
              <a:extLst>
                <a:ext uri="{FF2B5EF4-FFF2-40B4-BE49-F238E27FC236}">
                  <a16:creationId xmlns:a16="http://schemas.microsoft.com/office/drawing/2014/main" id="{BB376CBF-22F6-0B03-F36C-58D35BF3D5E6}"/>
                </a:ext>
              </a:extLst>
            </p:cNvPr>
            <p:cNvSpPr txBox="1"/>
            <p:nvPr/>
          </p:nvSpPr>
          <p:spPr>
            <a:xfrm>
              <a:off x="1936134" y="4540732"/>
              <a:ext cx="4905272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 dirty="0">
                  <a:solidFill>
                    <a:srgbClr val="111111"/>
                  </a:solidFill>
                  <a:latin typeface="Helvetica" pitchFamily="2" charset="0"/>
                </a:rPr>
                <a:t>Training grant in computational psychiatry</a:t>
              </a:r>
            </a:p>
          </p:txBody>
        </p:sp>
        <p:sp>
          <p:nvSpPr>
            <p:cNvPr id="80" name="PROPSY-EDU, University of Bordeaux">
              <a:extLst>
                <a:ext uri="{FF2B5EF4-FFF2-40B4-BE49-F238E27FC236}">
                  <a16:creationId xmlns:a16="http://schemas.microsoft.com/office/drawing/2014/main" id="{91E8BAA0-C2CD-EDDB-BB9B-41A4D656D571}"/>
                </a:ext>
              </a:extLst>
            </p:cNvPr>
            <p:cNvSpPr txBox="1"/>
            <p:nvPr/>
          </p:nvSpPr>
          <p:spPr>
            <a:xfrm>
              <a:off x="1180958" y="4754168"/>
              <a:ext cx="5662567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PROPSY-EDU, University of Bordeaux</a:t>
              </a:r>
            </a:p>
          </p:txBody>
        </p:sp>
      </p:grpSp>
      <p:grpSp>
        <p:nvGrpSpPr>
          <p:cNvPr id="81" name="Project Prize, Hacktion Potential hackathon">
            <a:extLst>
              <a:ext uri="{FF2B5EF4-FFF2-40B4-BE49-F238E27FC236}">
                <a16:creationId xmlns:a16="http://schemas.microsoft.com/office/drawing/2014/main" id="{C4EC9BA7-3EA0-6F6C-EC71-36A2D6704459}"/>
              </a:ext>
            </a:extLst>
          </p:cNvPr>
          <p:cNvGrpSpPr/>
          <p:nvPr/>
        </p:nvGrpSpPr>
        <p:grpSpPr>
          <a:xfrm>
            <a:off x="575830" y="8653322"/>
            <a:ext cx="3905949" cy="394417"/>
            <a:chOff x="575995" y="5007813"/>
            <a:chExt cx="6265412" cy="394417"/>
          </a:xfrm>
        </p:grpSpPr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1F5B3D47-5822-C400-B082-1B0188F9265D}"/>
                </a:ext>
              </a:extLst>
            </p:cNvPr>
            <p:cNvSpPr/>
            <p:nvPr/>
          </p:nvSpPr>
          <p:spPr>
            <a:xfrm>
              <a:off x="1185294" y="5023821"/>
              <a:ext cx="714180" cy="152400"/>
            </a:xfrm>
            <a:prstGeom prst="roundRect">
              <a:avLst>
                <a:gd name="adj" fmla="val 12000"/>
              </a:avLst>
            </a:prstGeom>
            <a:solidFill>
              <a:srgbClr val="FFE4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84" name="AWARDS">
              <a:extLst>
                <a:ext uri="{FF2B5EF4-FFF2-40B4-BE49-F238E27FC236}">
                  <a16:creationId xmlns:a16="http://schemas.microsoft.com/office/drawing/2014/main" id="{2B555E51-5B6C-285C-C321-8A7B4C0C50B1}"/>
                </a:ext>
              </a:extLst>
            </p:cNvPr>
            <p:cNvSpPr txBox="1"/>
            <p:nvPr/>
          </p:nvSpPr>
          <p:spPr>
            <a:xfrm>
              <a:off x="1195478" y="5023821"/>
              <a:ext cx="688781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 dirty="0">
                  <a:solidFill>
                    <a:srgbClr val="8A3800"/>
                  </a:solidFill>
                  <a:latin typeface="Helvetica" pitchFamily="2" charset="0"/>
                </a:rPr>
                <a:t>AWARDS</a:t>
              </a:r>
            </a:p>
          </p:txBody>
        </p:sp>
        <p:sp>
          <p:nvSpPr>
            <p:cNvPr id="82" name="2026">
              <a:extLst>
                <a:ext uri="{FF2B5EF4-FFF2-40B4-BE49-F238E27FC236}">
                  <a16:creationId xmlns:a16="http://schemas.microsoft.com/office/drawing/2014/main" id="{B3BBDF0F-9010-92F4-A311-249113C8F0E6}"/>
                </a:ext>
              </a:extLst>
            </p:cNvPr>
            <p:cNvSpPr txBox="1"/>
            <p:nvPr/>
          </p:nvSpPr>
          <p:spPr>
            <a:xfrm>
              <a:off x="575995" y="5007813"/>
              <a:ext cx="487067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dirty="0">
                  <a:solidFill>
                    <a:srgbClr val="666666"/>
                  </a:solidFill>
                  <a:latin typeface="Helvetica" pitchFamily="2" charset="0"/>
                </a:rPr>
                <a:t>2026</a:t>
              </a:r>
            </a:p>
          </p:txBody>
        </p:sp>
        <p:sp>
          <p:nvSpPr>
            <p:cNvPr id="85" name="Project Prize, Hacktion Potential hackathon">
              <a:extLst>
                <a:ext uri="{FF2B5EF4-FFF2-40B4-BE49-F238E27FC236}">
                  <a16:creationId xmlns:a16="http://schemas.microsoft.com/office/drawing/2014/main" id="{512807E2-72F3-F362-63F5-ED03679017A4}"/>
                </a:ext>
              </a:extLst>
            </p:cNvPr>
            <p:cNvSpPr txBox="1"/>
            <p:nvPr/>
          </p:nvSpPr>
          <p:spPr>
            <a:xfrm>
              <a:off x="1962972" y="5011121"/>
              <a:ext cx="4878434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 dirty="0">
                  <a:solidFill>
                    <a:srgbClr val="111111"/>
                  </a:solidFill>
                  <a:latin typeface="Helvetica" pitchFamily="2" charset="0"/>
                </a:rPr>
                <a:t>Project Prize, </a:t>
              </a:r>
              <a:r>
                <a:rPr sz="960" b="1" dirty="0" err="1">
                  <a:solidFill>
                    <a:srgbClr val="111111"/>
                  </a:solidFill>
                  <a:latin typeface="Helvetica" pitchFamily="2" charset="0"/>
                </a:rPr>
                <a:t>Hacktion</a:t>
              </a:r>
              <a:r>
                <a:rPr sz="960" b="1" dirty="0">
                  <a:solidFill>
                    <a:srgbClr val="111111"/>
                  </a:solidFill>
                  <a:latin typeface="Helvetica" pitchFamily="2" charset="0"/>
                </a:rPr>
                <a:t> Potential hackathon</a:t>
              </a:r>
            </a:p>
          </p:txBody>
        </p:sp>
        <p:sp>
          <p:nvSpPr>
            <p:cNvPr id="86" name="Paris Brain Institute">
              <a:extLst>
                <a:ext uri="{FF2B5EF4-FFF2-40B4-BE49-F238E27FC236}">
                  <a16:creationId xmlns:a16="http://schemas.microsoft.com/office/drawing/2014/main" id="{07977E4A-BEEF-6FFC-3D9D-C4112002F650}"/>
                </a:ext>
              </a:extLst>
            </p:cNvPr>
            <p:cNvSpPr txBox="1"/>
            <p:nvPr/>
          </p:nvSpPr>
          <p:spPr>
            <a:xfrm>
              <a:off x="1180200" y="5221382"/>
              <a:ext cx="5661207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Paris Brain Institute</a:t>
              </a:r>
            </a:p>
          </p:txBody>
        </p:sp>
      </p:grpSp>
      <p:grpSp>
        <p:nvGrpSpPr>
          <p:cNvPr id="87" name="Doctoral scholarship">
            <a:extLst>
              <a:ext uri="{FF2B5EF4-FFF2-40B4-BE49-F238E27FC236}">
                <a16:creationId xmlns:a16="http://schemas.microsoft.com/office/drawing/2014/main" id="{074D3357-1B09-2E00-AFCE-12002A1B28D1}"/>
              </a:ext>
            </a:extLst>
          </p:cNvPr>
          <p:cNvGrpSpPr/>
          <p:nvPr/>
        </p:nvGrpSpPr>
        <p:grpSpPr>
          <a:xfrm>
            <a:off x="575830" y="9120631"/>
            <a:ext cx="3905950" cy="394869"/>
            <a:chOff x="575995" y="5475122"/>
            <a:chExt cx="6265413" cy="394869"/>
          </a:xfrm>
        </p:grpSpPr>
        <p:sp>
          <p:nvSpPr>
            <p:cNvPr id="89" name="Rounded Rectangle 88">
              <a:extLst>
                <a:ext uri="{FF2B5EF4-FFF2-40B4-BE49-F238E27FC236}">
                  <a16:creationId xmlns:a16="http://schemas.microsoft.com/office/drawing/2014/main" id="{BBBDF98A-AC26-5318-9AC6-BBCC44AD5E8A}"/>
                </a:ext>
              </a:extLst>
            </p:cNvPr>
            <p:cNvSpPr/>
            <p:nvPr/>
          </p:nvSpPr>
          <p:spPr>
            <a:xfrm>
              <a:off x="1180200" y="5491582"/>
              <a:ext cx="692433" cy="152400"/>
            </a:xfrm>
            <a:prstGeom prst="roundRect">
              <a:avLst>
                <a:gd name="adj" fmla="val 12000"/>
              </a:avLst>
            </a:prstGeom>
            <a:solidFill>
              <a:srgbClr val="7A2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Helvetica" pitchFamily="2" charset="0"/>
              </a:endParaRPr>
            </a:p>
          </p:txBody>
        </p:sp>
        <p:sp>
          <p:nvSpPr>
            <p:cNvPr id="90" name="GRANTS">
              <a:extLst>
                <a:ext uri="{FF2B5EF4-FFF2-40B4-BE49-F238E27FC236}">
                  <a16:creationId xmlns:a16="http://schemas.microsoft.com/office/drawing/2014/main" id="{B2D5C5D6-8BF7-DD49-FDF3-5D25BF501D6E}"/>
                </a:ext>
              </a:extLst>
            </p:cNvPr>
            <p:cNvSpPr txBox="1"/>
            <p:nvPr/>
          </p:nvSpPr>
          <p:spPr>
            <a:xfrm>
              <a:off x="1195478" y="5491582"/>
              <a:ext cx="667034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 dirty="0">
                  <a:solidFill>
                    <a:srgbClr val="FFB36B"/>
                  </a:solidFill>
                  <a:latin typeface="Helvetica" pitchFamily="2" charset="0"/>
                </a:rPr>
                <a:t>GRANTS</a:t>
              </a:r>
            </a:p>
          </p:txBody>
        </p:sp>
        <p:sp>
          <p:nvSpPr>
            <p:cNvPr id="88" name="2023">
              <a:extLst>
                <a:ext uri="{FF2B5EF4-FFF2-40B4-BE49-F238E27FC236}">
                  <a16:creationId xmlns:a16="http://schemas.microsoft.com/office/drawing/2014/main" id="{572D9C28-D014-7EAF-95CA-42FB9D21E5B9}"/>
                </a:ext>
              </a:extLst>
            </p:cNvPr>
            <p:cNvSpPr txBox="1"/>
            <p:nvPr/>
          </p:nvSpPr>
          <p:spPr>
            <a:xfrm>
              <a:off x="575995" y="5475122"/>
              <a:ext cx="451417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dirty="0">
                  <a:solidFill>
                    <a:srgbClr val="666666"/>
                  </a:solidFill>
                  <a:latin typeface="Helvetica" pitchFamily="2" charset="0"/>
                </a:rPr>
                <a:t>2023</a:t>
              </a:r>
            </a:p>
          </p:txBody>
        </p:sp>
        <p:sp>
          <p:nvSpPr>
            <p:cNvPr id="91" name="Doctoral scholarship">
              <a:extLst>
                <a:ext uri="{FF2B5EF4-FFF2-40B4-BE49-F238E27FC236}">
                  <a16:creationId xmlns:a16="http://schemas.microsoft.com/office/drawing/2014/main" id="{8D0FBCF4-47C3-C810-4028-BEDBFDA80DFB}"/>
                </a:ext>
              </a:extLst>
            </p:cNvPr>
            <p:cNvSpPr txBox="1"/>
            <p:nvPr/>
          </p:nvSpPr>
          <p:spPr>
            <a:xfrm>
              <a:off x="1936135" y="5478882"/>
              <a:ext cx="4905273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 dirty="0">
                  <a:solidFill>
                    <a:srgbClr val="111111"/>
                  </a:solidFill>
                  <a:latin typeface="Helvetica" pitchFamily="2" charset="0"/>
                </a:rPr>
                <a:t>Doctoral scholarship</a:t>
              </a:r>
            </a:p>
          </p:txBody>
        </p:sp>
        <p:sp>
          <p:nvSpPr>
            <p:cNvPr id="92" name="Sorbonne University">
              <a:extLst>
                <a:ext uri="{FF2B5EF4-FFF2-40B4-BE49-F238E27FC236}">
                  <a16:creationId xmlns:a16="http://schemas.microsoft.com/office/drawing/2014/main" id="{A4C7E58D-C83D-E073-2E2D-77161ECD8D40}"/>
                </a:ext>
              </a:extLst>
            </p:cNvPr>
            <p:cNvSpPr txBox="1"/>
            <p:nvPr/>
          </p:nvSpPr>
          <p:spPr>
            <a:xfrm>
              <a:off x="1185294" y="5689143"/>
              <a:ext cx="5656113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Sorbonne University</a:t>
              </a:r>
            </a:p>
          </p:txBody>
        </p:sp>
      </p:grpSp>
      <p:grpSp>
        <p:nvGrpSpPr>
          <p:cNvPr id="93" name="Poster Prize of the Ajité·es">
            <a:extLst>
              <a:ext uri="{FF2B5EF4-FFF2-40B4-BE49-F238E27FC236}">
                <a16:creationId xmlns:a16="http://schemas.microsoft.com/office/drawing/2014/main" id="{B8B84908-520A-8FE3-F07F-1A90B68491A3}"/>
              </a:ext>
            </a:extLst>
          </p:cNvPr>
          <p:cNvGrpSpPr/>
          <p:nvPr/>
        </p:nvGrpSpPr>
        <p:grpSpPr>
          <a:xfrm>
            <a:off x="575830" y="9587940"/>
            <a:ext cx="3905949" cy="395321"/>
            <a:chOff x="575995" y="5942431"/>
            <a:chExt cx="6265412" cy="395321"/>
          </a:xfrm>
        </p:grpSpPr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ED68C6D0-79DB-5072-83CC-D77210ECFA2A}"/>
                </a:ext>
              </a:extLst>
            </p:cNvPr>
            <p:cNvSpPr/>
            <p:nvPr/>
          </p:nvSpPr>
          <p:spPr>
            <a:xfrm>
              <a:off x="1185294" y="5959343"/>
              <a:ext cx="714180" cy="152400"/>
            </a:xfrm>
            <a:prstGeom prst="roundRect">
              <a:avLst>
                <a:gd name="adj" fmla="val 12000"/>
              </a:avLst>
            </a:prstGeom>
            <a:solidFill>
              <a:srgbClr val="FFE4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96" name="AWARDS">
              <a:extLst>
                <a:ext uri="{FF2B5EF4-FFF2-40B4-BE49-F238E27FC236}">
                  <a16:creationId xmlns:a16="http://schemas.microsoft.com/office/drawing/2014/main" id="{46D8B257-FF06-CCD9-A3B3-E66BC90059C1}"/>
                </a:ext>
              </a:extLst>
            </p:cNvPr>
            <p:cNvSpPr txBox="1"/>
            <p:nvPr/>
          </p:nvSpPr>
          <p:spPr>
            <a:xfrm>
              <a:off x="1195478" y="5959343"/>
              <a:ext cx="698967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 dirty="0">
                  <a:solidFill>
                    <a:srgbClr val="8A3800"/>
                  </a:solidFill>
                  <a:latin typeface="Helvetica" pitchFamily="2" charset="0"/>
                </a:rPr>
                <a:t>AWARDS</a:t>
              </a:r>
            </a:p>
          </p:txBody>
        </p:sp>
        <p:sp>
          <p:nvSpPr>
            <p:cNvPr id="94" name="2023">
              <a:extLst>
                <a:ext uri="{FF2B5EF4-FFF2-40B4-BE49-F238E27FC236}">
                  <a16:creationId xmlns:a16="http://schemas.microsoft.com/office/drawing/2014/main" id="{F4BA96CE-E778-8210-8E79-9A8F8E7FED5F}"/>
                </a:ext>
              </a:extLst>
            </p:cNvPr>
            <p:cNvSpPr txBox="1"/>
            <p:nvPr/>
          </p:nvSpPr>
          <p:spPr>
            <a:xfrm>
              <a:off x="575995" y="5942431"/>
              <a:ext cx="451417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dirty="0">
                  <a:solidFill>
                    <a:srgbClr val="666666"/>
                  </a:solidFill>
                  <a:latin typeface="Helvetica" pitchFamily="2" charset="0"/>
                </a:rPr>
                <a:t>2023</a:t>
              </a:r>
            </a:p>
          </p:txBody>
        </p:sp>
        <p:sp>
          <p:nvSpPr>
            <p:cNvPr id="97" name="Poster Prize of the Ajité·es">
              <a:extLst>
                <a:ext uri="{FF2B5EF4-FFF2-40B4-BE49-F238E27FC236}">
                  <a16:creationId xmlns:a16="http://schemas.microsoft.com/office/drawing/2014/main" id="{28CFD4EB-3522-4F20-B330-3497145286DA}"/>
                </a:ext>
              </a:extLst>
            </p:cNvPr>
            <p:cNvSpPr txBox="1"/>
            <p:nvPr/>
          </p:nvSpPr>
          <p:spPr>
            <a:xfrm>
              <a:off x="1962972" y="5946643"/>
              <a:ext cx="4878434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 dirty="0">
                  <a:solidFill>
                    <a:srgbClr val="111111"/>
                  </a:solidFill>
                  <a:latin typeface="Helvetica" pitchFamily="2" charset="0"/>
                </a:rPr>
                <a:t>Poster Prize of the </a:t>
              </a:r>
              <a:r>
                <a:rPr sz="960" b="1" dirty="0" err="1">
                  <a:solidFill>
                    <a:srgbClr val="111111"/>
                  </a:solidFill>
                  <a:latin typeface="Helvetica" pitchFamily="2" charset="0"/>
                </a:rPr>
                <a:t>Ajité·es</a:t>
              </a:r>
              <a:endParaRPr sz="960" b="1" dirty="0">
                <a:solidFill>
                  <a:srgbClr val="111111"/>
                </a:solidFill>
                <a:latin typeface="Helvetica" pitchFamily="2" charset="0"/>
              </a:endParaRPr>
            </a:p>
          </p:txBody>
        </p:sp>
        <p:sp>
          <p:nvSpPr>
            <p:cNvPr id="98" name="Paris Brain Institute">
              <a:extLst>
                <a:ext uri="{FF2B5EF4-FFF2-40B4-BE49-F238E27FC236}">
                  <a16:creationId xmlns:a16="http://schemas.microsoft.com/office/drawing/2014/main" id="{0C56C060-92EB-C93F-17B2-8A960CBD3802}"/>
                </a:ext>
              </a:extLst>
            </p:cNvPr>
            <p:cNvSpPr txBox="1"/>
            <p:nvPr/>
          </p:nvSpPr>
          <p:spPr>
            <a:xfrm>
              <a:off x="1180200" y="6156904"/>
              <a:ext cx="5661207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Paris Brain Institute</a:t>
              </a: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29F0E30-116F-C93E-A4C4-EF77472000D1}"/>
              </a:ext>
            </a:extLst>
          </p:cNvPr>
          <p:cNvSpPr/>
          <p:nvPr/>
        </p:nvSpPr>
        <p:spPr>
          <a:xfrm>
            <a:off x="4385665" y="9507354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102" name="LANGUAGES">
            <a:extLst>
              <a:ext uri="{FF2B5EF4-FFF2-40B4-BE49-F238E27FC236}">
                <a16:creationId xmlns:a16="http://schemas.microsoft.com/office/drawing/2014/main" id="{3E84A96E-D128-9C7A-673A-80468A23EA7C}"/>
              </a:ext>
            </a:extLst>
          </p:cNvPr>
          <p:cNvSpPr txBox="1"/>
          <p:nvPr/>
        </p:nvSpPr>
        <p:spPr>
          <a:xfrm>
            <a:off x="4538065" y="9456554"/>
            <a:ext cx="6255613" cy="1704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 dirty="0">
                <a:solidFill>
                  <a:srgbClr val="111111"/>
                </a:solidFill>
                <a:latin typeface="Helvetica" pitchFamily="2" charset="0"/>
              </a:rPr>
              <a:t>LANGUAGES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BED47DB-BDAF-F994-5B84-E47A7EADD355}"/>
              </a:ext>
            </a:extLst>
          </p:cNvPr>
          <p:cNvSpPr/>
          <p:nvPr/>
        </p:nvSpPr>
        <p:spPr>
          <a:xfrm>
            <a:off x="4382365" y="9660061"/>
            <a:ext cx="2808000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104" name="French (native) · English (C1) · Spanish (B1) · Italian (A2)">
            <a:extLst>
              <a:ext uri="{FF2B5EF4-FFF2-40B4-BE49-F238E27FC236}">
                <a16:creationId xmlns:a16="http://schemas.microsoft.com/office/drawing/2014/main" id="{75071825-6794-E235-E8E8-DD2AEC03AB6F}"/>
              </a:ext>
            </a:extLst>
          </p:cNvPr>
          <p:cNvSpPr txBox="1"/>
          <p:nvPr/>
        </p:nvSpPr>
        <p:spPr>
          <a:xfrm>
            <a:off x="4382365" y="9761661"/>
            <a:ext cx="3306937" cy="191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60" b="0" dirty="0">
                <a:solidFill>
                  <a:srgbClr val="111111"/>
                </a:solidFill>
                <a:latin typeface="Helvetica" pitchFamily="2" charset="0"/>
              </a:rPr>
              <a:t>French · English (C1) · Spanish (B1) · Italian (A2)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575995" y="584153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23" name="PUBLICATIONS"/>
          <p:cNvSpPr txBox="1"/>
          <p:nvPr/>
        </p:nvSpPr>
        <p:spPr>
          <a:xfrm>
            <a:off x="728395" y="533353"/>
            <a:ext cx="6255613" cy="1704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 dirty="0">
                <a:solidFill>
                  <a:srgbClr val="111111"/>
                </a:solidFill>
                <a:latin typeface="Helvetica" pitchFamily="2" charset="0"/>
              </a:rPr>
              <a:t>PUBLICATIONS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5995" y="736553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grpSp>
        <p:nvGrpSpPr>
          <p:cNvPr id="29" name="Subjective valuation as a domain-general process in creative thinking"/>
          <p:cNvGrpSpPr/>
          <p:nvPr/>
        </p:nvGrpSpPr>
        <p:grpSpPr>
          <a:xfrm>
            <a:off x="575995" y="838153"/>
            <a:ext cx="6408013" cy="591008"/>
            <a:chOff x="575995" y="3418890"/>
            <a:chExt cx="6408013" cy="591008"/>
          </a:xfrm>
        </p:grpSpPr>
        <p:sp>
          <p:nvSpPr>
            <p:cNvPr id="25" name="2025"/>
            <p:cNvSpPr txBox="1"/>
            <p:nvPr/>
          </p:nvSpPr>
          <p:spPr>
            <a:xfrm>
              <a:off x="575995" y="3418890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2025</a:t>
              </a:r>
            </a:p>
          </p:txBody>
        </p:sp>
        <p:sp>
          <p:nvSpPr>
            <p:cNvPr id="26" name="Subjective valuation as a domain-general process in creative thinking"/>
            <p:cNvSpPr txBox="1"/>
            <p:nvPr/>
          </p:nvSpPr>
          <p:spPr>
            <a:xfrm>
              <a:off x="1511998" y="3418890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Subjective valuation as a domain-general process in creative thinking</a:t>
              </a:r>
            </a:p>
          </p:txBody>
        </p:sp>
        <p:sp>
          <p:nvSpPr>
            <p:cNvPr id="27" name="Battistello, G., Moreno-Rodriguez, S., Volle, E. &amp; Lopez-Persem, A."/>
            <p:cNvSpPr txBox="1"/>
            <p:nvPr/>
          </p:nvSpPr>
          <p:spPr>
            <a:xfrm>
              <a:off x="1511998" y="3629152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>
              <a:defPPr>
                <a:defRPr lang="en-US"/>
              </a:defPPr>
              <a:lvl1pPr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666666"/>
                  </a:solidFill>
                  <a:latin typeface="Helvetica" pitchFamily="2" charset="0"/>
                </a:defRPr>
              </a:lvl1pPr>
            </a:lstStyle>
            <a:p>
              <a:r>
                <a:rPr dirty="0" err="1"/>
                <a:t>Battistello</a:t>
              </a:r>
              <a:r>
                <a:rPr dirty="0"/>
                <a:t>, G., </a:t>
              </a:r>
              <a:r>
                <a:rPr b="0" dirty="0"/>
                <a:t>Moreno-Rodriguez, S., Volle, E. &amp; Lopez-</a:t>
              </a:r>
              <a:r>
                <a:rPr b="0" dirty="0" err="1"/>
                <a:t>Persem</a:t>
              </a:r>
              <a:r>
                <a:rPr b="0" dirty="0"/>
                <a:t>, A.</a:t>
              </a:r>
            </a:p>
          </p:txBody>
        </p:sp>
        <p:sp>
          <p:nvSpPr>
            <p:cNvPr id="28" name="Communications Psychology, 3, 108 · doi:10.1038/s44271-025-00285-8"/>
            <p:cNvSpPr txBox="1"/>
            <p:nvPr/>
          </p:nvSpPr>
          <p:spPr>
            <a:xfrm>
              <a:off x="1511998" y="3829050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>
              <a:defPPr>
                <a:defRPr lang="en-US"/>
              </a:defPPr>
              <a:lvl1pPr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  <a:defRPr sz="900">
                  <a:solidFill>
                    <a:srgbClr val="666666"/>
                  </a:solidFill>
                  <a:latin typeface="Helvetica Light" panose="020B0403020202020204" pitchFamily="34" charset="0"/>
                </a:defRPr>
              </a:lvl1pPr>
            </a:lstStyle>
            <a:p>
              <a:r>
                <a:rPr lang="en-GB" i="1" dirty="0">
                  <a:solidFill>
                    <a:srgbClr val="888888"/>
                  </a:solidFill>
                </a:rPr>
                <a:t>Communications Psychology</a:t>
              </a:r>
              <a:r>
                <a:rPr lang="en-GB" dirty="0">
                  <a:solidFill>
                    <a:srgbClr val="888888"/>
                  </a:solidFill>
                </a:rPr>
                <a:t>, 3, 108 · doi:</a:t>
              </a:r>
              <a:r>
                <a:rPr lang="en-GB" dirty="0">
                  <a:solidFill>
                    <a:schemeClr val="bg1">
                      <a:lumMod val="50000"/>
                    </a:schemeClr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10.1038/s44271-025-00285-8</a:t>
              </a:r>
              <a:endParaRPr lang="en-GB" dirty="0">
                <a:solidFill>
                  <a:schemeClr val="bg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</p:grpSp>
      <p:sp>
        <p:nvSpPr>
          <p:cNvPr id="30" name="Dissertations"/>
          <p:cNvSpPr txBox="1"/>
          <p:nvPr/>
        </p:nvSpPr>
        <p:spPr>
          <a:xfrm>
            <a:off x="1511998" y="1530761"/>
            <a:ext cx="547201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66666"/>
                </a:solidFill>
                <a:latin typeface="Helvetica" pitchFamily="2" charset="0"/>
              </a:rPr>
              <a:t>Dissertations</a:t>
            </a:r>
          </a:p>
        </p:txBody>
      </p:sp>
      <p:grpSp>
        <p:nvGrpSpPr>
          <p:cNvPr id="35" name="Interpersonal synchrony as a substrate of emotion alignment"/>
          <p:cNvGrpSpPr/>
          <p:nvPr/>
        </p:nvGrpSpPr>
        <p:grpSpPr>
          <a:xfrm>
            <a:off x="575995" y="1766981"/>
            <a:ext cx="6408013" cy="591007"/>
            <a:chOff x="575995" y="4347718"/>
            <a:chExt cx="6408013" cy="591007"/>
          </a:xfrm>
        </p:grpSpPr>
        <p:sp>
          <p:nvSpPr>
            <p:cNvPr id="31" name="2021"/>
            <p:cNvSpPr txBox="1"/>
            <p:nvPr/>
          </p:nvSpPr>
          <p:spPr>
            <a:xfrm>
              <a:off x="575995" y="4347718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2021</a:t>
              </a:r>
            </a:p>
          </p:txBody>
        </p:sp>
        <p:sp>
          <p:nvSpPr>
            <p:cNvPr id="32" name="Interpersonal synchrony as a substrate of emotion alignment"/>
            <p:cNvSpPr txBox="1"/>
            <p:nvPr/>
          </p:nvSpPr>
          <p:spPr>
            <a:xfrm>
              <a:off x="1511998" y="4347718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 dirty="0">
                  <a:solidFill>
                    <a:srgbClr val="111111"/>
                  </a:solidFill>
                  <a:latin typeface="Helvetica" pitchFamily="2" charset="0"/>
                </a:rPr>
                <a:t>Interpersonal synchrony as a substrate of emotion alignment</a:t>
              </a:r>
            </a:p>
          </p:txBody>
        </p:sp>
        <p:sp>
          <p:nvSpPr>
            <p:cNvPr id="33" name="Battistello, G., Chung, V. &amp; Grèzes, J."/>
            <p:cNvSpPr txBox="1"/>
            <p:nvPr/>
          </p:nvSpPr>
          <p:spPr>
            <a:xfrm>
              <a:off x="1511998" y="4557979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>
              <a:defPPr>
                <a:defRPr lang="en-US"/>
              </a:defPPr>
              <a:lvl1pPr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666666"/>
                  </a:solidFill>
                  <a:latin typeface="Helvetica" pitchFamily="2" charset="0"/>
                </a:defRPr>
              </a:lvl1pPr>
            </a:lstStyle>
            <a:p>
              <a:r>
                <a:rPr dirty="0" err="1"/>
                <a:t>Battistello</a:t>
              </a:r>
              <a:r>
                <a:rPr dirty="0"/>
                <a:t>, G., </a:t>
              </a:r>
              <a:r>
                <a:rPr b="0" dirty="0"/>
                <a:t>Chung, V. &amp; </a:t>
              </a:r>
              <a:r>
                <a:rPr b="0" dirty="0" err="1"/>
                <a:t>Grèzes</a:t>
              </a:r>
              <a:r>
                <a:rPr b="0" dirty="0"/>
                <a:t>, J.</a:t>
              </a:r>
            </a:p>
          </p:txBody>
        </p:sp>
        <p:sp>
          <p:nvSpPr>
            <p:cNvPr id="34" name="M.Sc dissertation, École Normale Supérieure, Paris"/>
            <p:cNvSpPr txBox="1"/>
            <p:nvPr/>
          </p:nvSpPr>
          <p:spPr>
            <a:xfrm>
              <a:off x="1511998" y="4757877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M.Sc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 dissertation, École Normale Supérieure, Paris</a:t>
              </a:r>
            </a:p>
          </p:txBody>
        </p:sp>
      </p:grpSp>
      <p:grpSp>
        <p:nvGrpSpPr>
          <p:cNvPr id="40" name="Broca's involvement in peripheral motor activities: a lesion study"/>
          <p:cNvGrpSpPr/>
          <p:nvPr/>
        </p:nvGrpSpPr>
        <p:grpSpPr>
          <a:xfrm>
            <a:off x="575995" y="2434188"/>
            <a:ext cx="6408013" cy="591007"/>
            <a:chOff x="575995" y="5014925"/>
            <a:chExt cx="6408013" cy="591007"/>
          </a:xfrm>
        </p:grpSpPr>
        <p:sp>
          <p:nvSpPr>
            <p:cNvPr id="36" name="2020"/>
            <p:cNvSpPr txBox="1"/>
            <p:nvPr/>
          </p:nvSpPr>
          <p:spPr>
            <a:xfrm>
              <a:off x="575995" y="5014925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2020</a:t>
              </a:r>
            </a:p>
          </p:txBody>
        </p:sp>
        <p:sp>
          <p:nvSpPr>
            <p:cNvPr id="37" name="Broca's involvement in peripheral motor activities: a lesion study"/>
            <p:cNvSpPr txBox="1"/>
            <p:nvPr/>
          </p:nvSpPr>
          <p:spPr>
            <a:xfrm>
              <a:off x="1511998" y="5014925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Broca's involvement in peripheral motor activities: a lesion study</a:t>
              </a:r>
            </a:p>
          </p:txBody>
        </p:sp>
        <p:sp>
          <p:nvSpPr>
            <p:cNvPr id="38" name="Battistello, G. &amp; Cristofori, I."/>
            <p:cNvSpPr txBox="1"/>
            <p:nvPr/>
          </p:nvSpPr>
          <p:spPr>
            <a:xfrm>
              <a:off x="1511998" y="5225186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>
              <a:defPPr>
                <a:defRPr lang="en-US"/>
              </a:defPPr>
              <a:lvl1pPr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666666"/>
                  </a:solidFill>
                  <a:latin typeface="Helvetica" pitchFamily="2" charset="0"/>
                </a:defRPr>
              </a:lvl1pPr>
            </a:lstStyle>
            <a:p>
              <a:r>
                <a:rPr dirty="0" err="1"/>
                <a:t>Battistello</a:t>
              </a:r>
              <a:r>
                <a:rPr dirty="0"/>
                <a:t>, G. </a:t>
              </a:r>
              <a:r>
                <a:rPr b="0" dirty="0"/>
                <a:t>&amp; Cristofori, I.</a:t>
              </a:r>
            </a:p>
          </p:txBody>
        </p:sp>
        <p:sp>
          <p:nvSpPr>
            <p:cNvPr id="39" name="B.Sc dissertation, Claude Bernard University Lyon 1"/>
            <p:cNvSpPr txBox="1"/>
            <p:nvPr/>
          </p:nvSpPr>
          <p:spPr>
            <a:xfrm>
              <a:off x="1511998" y="5425084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B.Sc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 dissertation, Claude Bernard University Lyon 1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575995" y="3152195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42" name="TALKS &amp; POSTERS"/>
          <p:cNvSpPr txBox="1"/>
          <p:nvPr/>
        </p:nvSpPr>
        <p:spPr>
          <a:xfrm>
            <a:off x="728395" y="3101395"/>
            <a:ext cx="6255613" cy="1704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Helvetica" pitchFamily="2" charset="0"/>
              </a:rPr>
              <a:t>TALKS &amp; POSTERS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5995" y="3304595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grpSp>
        <p:nvGrpSpPr>
          <p:cNvPr id="50" name="The modulatory role of emotions on creativity through the lens of individual pre"/>
          <p:cNvGrpSpPr/>
          <p:nvPr/>
        </p:nvGrpSpPr>
        <p:grpSpPr>
          <a:xfrm>
            <a:off x="575995" y="3406195"/>
            <a:ext cx="6408014" cy="591007"/>
            <a:chOff x="575995" y="5986932"/>
            <a:chExt cx="6408014" cy="591007"/>
          </a:xfrm>
        </p:grpSpPr>
        <p:sp>
          <p:nvSpPr>
            <p:cNvPr id="44" name="2026"/>
            <p:cNvSpPr txBox="1"/>
            <p:nvPr/>
          </p:nvSpPr>
          <p:spPr>
            <a:xfrm>
              <a:off x="575995" y="5986932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2026</a:t>
              </a:r>
            </a:p>
          </p:txBody>
        </p:sp>
        <p:sp>
          <p:nvSpPr>
            <p:cNvPr id="45" name="The modulatory role of emotions on creativity through the lens of individual pre"/>
            <p:cNvSpPr txBox="1"/>
            <p:nvPr/>
          </p:nvSpPr>
          <p:spPr>
            <a:xfrm>
              <a:off x="1511998" y="5986932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The modulatory role of emotions on creativity through the lens of individual preferences</a:t>
              </a:r>
            </a:p>
          </p:txBody>
        </p:sp>
        <p:sp>
          <p:nvSpPr>
            <p:cNvPr id="46" name="Battistello, G., Tang, J. &amp; Lopez-Persem, A."/>
            <p:cNvSpPr txBox="1"/>
            <p:nvPr/>
          </p:nvSpPr>
          <p:spPr>
            <a:xfrm>
              <a:off x="1511998" y="6197193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 dirty="0" err="1">
                  <a:solidFill>
                    <a:srgbClr val="666666"/>
                  </a:solidFill>
                  <a:latin typeface="Helvetica" pitchFamily="2" charset="0"/>
                </a:rPr>
                <a:t>Battistello</a:t>
              </a:r>
              <a:r>
                <a:rPr sz="900" b="1" dirty="0">
                  <a:solidFill>
                    <a:srgbClr val="666666"/>
                  </a:solidFill>
                  <a:latin typeface="Helvetica" pitchFamily="2" charset="0"/>
                </a:rPr>
                <a:t>, G.</a:t>
              </a:r>
              <a:r>
                <a:rPr sz="900" dirty="0">
                  <a:solidFill>
                    <a:srgbClr val="666666"/>
                  </a:solidFill>
                  <a:latin typeface="Helvetica" pitchFamily="2" charset="0"/>
                </a:rPr>
                <a:t>, Tang, J. &amp; Lopez-</a:t>
              </a:r>
              <a:r>
                <a:rPr sz="900" dirty="0" err="1">
                  <a:solidFill>
                    <a:srgbClr val="666666"/>
                  </a:solidFill>
                  <a:latin typeface="Helvetica" pitchFamily="2" charset="0"/>
                </a:rPr>
                <a:t>Persem</a:t>
              </a:r>
              <a:r>
                <a:rPr sz="900" dirty="0">
                  <a:solidFill>
                    <a:srgbClr val="666666"/>
                  </a:solidFill>
                  <a:latin typeface="Helvetica" pitchFamily="2" charset="0"/>
                </a:rPr>
                <a:t>, A.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1511998" y="6409791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48" name="POSTER"/>
            <p:cNvSpPr txBox="1"/>
            <p:nvPr/>
          </p:nvSpPr>
          <p:spPr>
            <a:xfrm>
              <a:off x="1537398" y="6409791"/>
              <a:ext cx="442912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Helvetica" pitchFamily="2" charset="0"/>
                </a:rPr>
                <a:t>POSTER</a:t>
              </a:r>
            </a:p>
          </p:txBody>
        </p:sp>
        <p:sp>
          <p:nvSpPr>
            <p:cNvPr id="49" name="Symposium on the Biology of Decision Making (SBDM), Paris, France"/>
            <p:cNvSpPr txBox="1"/>
            <p:nvPr/>
          </p:nvSpPr>
          <p:spPr>
            <a:xfrm>
              <a:off x="2069211" y="6397091"/>
              <a:ext cx="4914798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Symposium on the Biology of Decision Making (SBDM), Paris, France</a:t>
              </a:r>
            </a:p>
          </p:txBody>
        </p:sp>
      </p:grpSp>
      <p:grpSp>
        <p:nvGrpSpPr>
          <p:cNvPr id="57" name="How is mood related to creative idea evaluation?"/>
          <p:cNvGrpSpPr/>
          <p:nvPr/>
        </p:nvGrpSpPr>
        <p:grpSpPr>
          <a:xfrm>
            <a:off x="575995" y="4073402"/>
            <a:ext cx="6408014" cy="591007"/>
            <a:chOff x="575995" y="6654139"/>
            <a:chExt cx="6408014" cy="591007"/>
          </a:xfrm>
        </p:grpSpPr>
        <p:sp>
          <p:nvSpPr>
            <p:cNvPr id="51" name="2025"/>
            <p:cNvSpPr txBox="1"/>
            <p:nvPr/>
          </p:nvSpPr>
          <p:spPr>
            <a:xfrm>
              <a:off x="575995" y="6654139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2025</a:t>
              </a:r>
            </a:p>
          </p:txBody>
        </p:sp>
        <p:sp>
          <p:nvSpPr>
            <p:cNvPr id="52" name="How is mood related to creative idea evaluation?"/>
            <p:cNvSpPr txBox="1"/>
            <p:nvPr/>
          </p:nvSpPr>
          <p:spPr>
            <a:xfrm>
              <a:off x="1511998" y="6654139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How is mood related to creative idea evaluation?</a:t>
              </a:r>
            </a:p>
          </p:txBody>
        </p:sp>
        <p:sp>
          <p:nvSpPr>
            <p:cNvPr id="53" name="Battistello, G., Tang, J., Vinckier, F. &amp; Lopez-Persem, A."/>
            <p:cNvSpPr txBox="1"/>
            <p:nvPr/>
          </p:nvSpPr>
          <p:spPr>
            <a:xfrm>
              <a:off x="1511998" y="6864400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 dirty="0" err="1">
                  <a:solidFill>
                    <a:srgbClr val="666666"/>
                  </a:solidFill>
                  <a:latin typeface="Helvetica" pitchFamily="2" charset="0"/>
                </a:rPr>
                <a:t>Battistello</a:t>
              </a:r>
              <a:r>
                <a:rPr sz="900" b="1" dirty="0">
                  <a:solidFill>
                    <a:srgbClr val="666666"/>
                  </a:solidFill>
                  <a:latin typeface="Helvetica" pitchFamily="2" charset="0"/>
                </a:rPr>
                <a:t>, G.</a:t>
              </a:r>
              <a:r>
                <a:rPr sz="900" dirty="0">
                  <a:solidFill>
                    <a:srgbClr val="666666"/>
                  </a:solidFill>
                  <a:latin typeface="Helvetica" pitchFamily="2" charset="0"/>
                </a:rPr>
                <a:t>, Tang, J., </a:t>
              </a:r>
              <a:r>
                <a:rPr sz="900" dirty="0" err="1">
                  <a:solidFill>
                    <a:srgbClr val="666666"/>
                  </a:solidFill>
                  <a:latin typeface="Helvetica" pitchFamily="2" charset="0"/>
                </a:rPr>
                <a:t>Vinckier</a:t>
              </a:r>
              <a:r>
                <a:rPr sz="900" dirty="0">
                  <a:solidFill>
                    <a:srgbClr val="666666"/>
                  </a:solidFill>
                  <a:latin typeface="Helvetica" pitchFamily="2" charset="0"/>
                </a:rPr>
                <a:t>, F. &amp; Lopez-</a:t>
              </a:r>
              <a:r>
                <a:rPr sz="900" dirty="0" err="1">
                  <a:solidFill>
                    <a:srgbClr val="666666"/>
                  </a:solidFill>
                  <a:latin typeface="Helvetica" pitchFamily="2" charset="0"/>
                </a:rPr>
                <a:t>Persem</a:t>
              </a:r>
              <a:r>
                <a:rPr sz="900" dirty="0">
                  <a:solidFill>
                    <a:srgbClr val="666666"/>
                  </a:solidFill>
                  <a:latin typeface="Helvetica" pitchFamily="2" charset="0"/>
                </a:rPr>
                <a:t>, A.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1511998" y="7076998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55" name="POSTER"/>
            <p:cNvSpPr txBox="1"/>
            <p:nvPr/>
          </p:nvSpPr>
          <p:spPr>
            <a:xfrm>
              <a:off x="1537398" y="7076998"/>
              <a:ext cx="442912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Helvetica" pitchFamily="2" charset="0"/>
                </a:rPr>
                <a:t>POSTER</a:t>
              </a:r>
            </a:p>
          </p:txBody>
        </p:sp>
        <p:sp>
          <p:nvSpPr>
            <p:cNvPr id="56" name="Society for the Neuroscience of Creativity (SfNC), Paris, France"/>
            <p:cNvSpPr txBox="1"/>
            <p:nvPr/>
          </p:nvSpPr>
          <p:spPr>
            <a:xfrm>
              <a:off x="2069211" y="7064298"/>
              <a:ext cx="4914798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Society for the Neuroscience of Creativity (</a:t>
              </a:r>
              <a:r>
                <a:rPr sz="900" dirty="0" err="1">
                  <a:solidFill>
                    <a:srgbClr val="111111"/>
                  </a:solidFill>
                  <a:latin typeface="Helvetica Light" panose="020B0403020202020204" pitchFamily="34" charset="0"/>
                </a:rPr>
                <a:t>SfNC</a:t>
              </a: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), Paris, France</a:t>
              </a:r>
            </a:p>
          </p:txBody>
        </p:sp>
      </p:grpSp>
      <p:grpSp>
        <p:nvGrpSpPr>
          <p:cNvPr id="64" name="Dissecting decision processes of creativity in depression: preserved valuation m"/>
          <p:cNvGrpSpPr/>
          <p:nvPr/>
        </p:nvGrpSpPr>
        <p:grpSpPr>
          <a:xfrm>
            <a:off x="575995" y="4740609"/>
            <a:ext cx="6408014" cy="756819"/>
            <a:chOff x="575995" y="7321346"/>
            <a:chExt cx="6408014" cy="756819"/>
          </a:xfrm>
        </p:grpSpPr>
        <p:sp>
          <p:nvSpPr>
            <p:cNvPr id="58" name="2025"/>
            <p:cNvSpPr txBox="1"/>
            <p:nvPr/>
          </p:nvSpPr>
          <p:spPr>
            <a:xfrm>
              <a:off x="575995" y="7321346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2025</a:t>
              </a:r>
            </a:p>
          </p:txBody>
        </p:sp>
        <p:sp>
          <p:nvSpPr>
            <p:cNvPr id="59" name="Dissecting decision processes of creativity in depression: preserved valuation m"/>
            <p:cNvSpPr txBox="1"/>
            <p:nvPr/>
          </p:nvSpPr>
          <p:spPr>
            <a:xfrm>
              <a:off x="1511998" y="7321346"/>
              <a:ext cx="5472010" cy="3570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 dirty="0">
                  <a:solidFill>
                    <a:srgbClr val="111111"/>
                  </a:solidFill>
                  <a:latin typeface="Helvetica" pitchFamily="2" charset="0"/>
                </a:rPr>
                <a:t>Dissecting decision processes of creativity in depression: preserved valuation mechanisms aside from altered monitoring of goal-directed dimensions</a:t>
              </a:r>
            </a:p>
          </p:txBody>
        </p:sp>
        <p:sp>
          <p:nvSpPr>
            <p:cNvPr id="60" name="Battistello, G., Tang, J., Vinckier, F. &amp; Lopez-Persem, A."/>
            <p:cNvSpPr txBox="1"/>
            <p:nvPr/>
          </p:nvSpPr>
          <p:spPr>
            <a:xfrm>
              <a:off x="1511998" y="7697419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 dirty="0" err="1">
                  <a:solidFill>
                    <a:srgbClr val="666666"/>
                  </a:solidFill>
                  <a:latin typeface="Helvetica" pitchFamily="2" charset="0"/>
                </a:rPr>
                <a:t>Battistello</a:t>
              </a:r>
              <a:r>
                <a:rPr sz="900" b="1" dirty="0">
                  <a:solidFill>
                    <a:srgbClr val="666666"/>
                  </a:solidFill>
                  <a:latin typeface="Helvetica" pitchFamily="2" charset="0"/>
                </a:rPr>
                <a:t>, G.</a:t>
              </a:r>
              <a:r>
                <a:rPr sz="900" dirty="0">
                  <a:solidFill>
                    <a:srgbClr val="666666"/>
                  </a:solidFill>
                  <a:latin typeface="Helvetica" pitchFamily="2" charset="0"/>
                </a:rPr>
                <a:t>, Tang, J., </a:t>
              </a:r>
              <a:r>
                <a:rPr sz="900" dirty="0" err="1">
                  <a:solidFill>
                    <a:srgbClr val="666666"/>
                  </a:solidFill>
                  <a:latin typeface="Helvetica" pitchFamily="2" charset="0"/>
                </a:rPr>
                <a:t>Vinckier</a:t>
              </a:r>
              <a:r>
                <a:rPr sz="900" dirty="0">
                  <a:solidFill>
                    <a:srgbClr val="666666"/>
                  </a:solidFill>
                  <a:latin typeface="Helvetica" pitchFamily="2" charset="0"/>
                </a:rPr>
                <a:t>, F. &amp; Lopez-</a:t>
              </a:r>
              <a:r>
                <a:rPr sz="900" dirty="0" err="1">
                  <a:solidFill>
                    <a:srgbClr val="666666"/>
                  </a:solidFill>
                  <a:latin typeface="Helvetica" pitchFamily="2" charset="0"/>
                </a:rPr>
                <a:t>Persem</a:t>
              </a:r>
              <a:r>
                <a:rPr sz="900" dirty="0">
                  <a:solidFill>
                    <a:srgbClr val="666666"/>
                  </a:solidFill>
                  <a:latin typeface="Helvetica" pitchFamily="2" charset="0"/>
                </a:rPr>
                <a:t>, A.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1511998" y="7910017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62" name="POSTER"/>
            <p:cNvSpPr txBox="1"/>
            <p:nvPr/>
          </p:nvSpPr>
          <p:spPr>
            <a:xfrm>
              <a:off x="1537398" y="7910017"/>
              <a:ext cx="442912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Helvetica" pitchFamily="2" charset="0"/>
                </a:rPr>
                <a:t>POSTER</a:t>
              </a:r>
            </a:p>
          </p:txBody>
        </p:sp>
        <p:sp>
          <p:nvSpPr>
            <p:cNvPr id="63" name="Symposium on the Biology of Decision Making (SBDM), Lyon, France"/>
            <p:cNvSpPr txBox="1"/>
            <p:nvPr/>
          </p:nvSpPr>
          <p:spPr>
            <a:xfrm>
              <a:off x="2069211" y="7897317"/>
              <a:ext cx="4914798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Symposium on the Biology of Decision Making (SBDM), Lyon, France</a:t>
              </a:r>
            </a:p>
          </p:txBody>
        </p:sp>
      </p:grpSp>
      <p:grpSp>
        <p:nvGrpSpPr>
          <p:cNvPr id="83" name="Domain-generalization of valuation in creative ideation"/>
          <p:cNvGrpSpPr/>
          <p:nvPr/>
        </p:nvGrpSpPr>
        <p:grpSpPr>
          <a:xfrm>
            <a:off x="575995" y="5573628"/>
            <a:ext cx="6408014" cy="1390599"/>
            <a:chOff x="575995" y="8154365"/>
            <a:chExt cx="6408014" cy="1390599"/>
          </a:xfrm>
        </p:grpSpPr>
        <p:sp>
          <p:nvSpPr>
            <p:cNvPr id="65" name="2024"/>
            <p:cNvSpPr txBox="1"/>
            <p:nvPr/>
          </p:nvSpPr>
          <p:spPr>
            <a:xfrm>
              <a:off x="575995" y="8154365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2024</a:t>
              </a:r>
            </a:p>
          </p:txBody>
        </p:sp>
        <p:sp>
          <p:nvSpPr>
            <p:cNvPr id="66" name="Domain-generalization of valuation in creative ideation"/>
            <p:cNvSpPr txBox="1"/>
            <p:nvPr/>
          </p:nvSpPr>
          <p:spPr>
            <a:xfrm>
              <a:off x="1511998" y="8154365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Domain-generalization of valuation in creative ideation</a:t>
              </a:r>
            </a:p>
          </p:txBody>
        </p:sp>
        <p:sp>
          <p:nvSpPr>
            <p:cNvPr id="67" name="Battistello, G., Moreno-Rodriguez, S., Volle, E. &amp; Lopez-Persem, A."/>
            <p:cNvSpPr txBox="1"/>
            <p:nvPr/>
          </p:nvSpPr>
          <p:spPr>
            <a:xfrm>
              <a:off x="1511998" y="8364626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 dirty="0" err="1">
                  <a:solidFill>
                    <a:srgbClr val="666666"/>
                  </a:solidFill>
                  <a:latin typeface="Helvetica" pitchFamily="2" charset="0"/>
                </a:rPr>
                <a:t>Battistello</a:t>
              </a:r>
              <a:r>
                <a:rPr sz="900" b="1" dirty="0">
                  <a:solidFill>
                    <a:srgbClr val="666666"/>
                  </a:solidFill>
                  <a:latin typeface="Helvetica" pitchFamily="2" charset="0"/>
                </a:rPr>
                <a:t>, G.</a:t>
              </a:r>
              <a:r>
                <a:rPr sz="900" dirty="0">
                  <a:solidFill>
                    <a:srgbClr val="666666"/>
                  </a:solidFill>
                  <a:latin typeface="Helvetica" pitchFamily="2" charset="0"/>
                </a:rPr>
                <a:t>, Moreno-Rodriguez, S., Volle, E. &amp; Lopez-</a:t>
              </a:r>
              <a:r>
                <a:rPr sz="900" dirty="0" err="1">
                  <a:solidFill>
                    <a:srgbClr val="666666"/>
                  </a:solidFill>
                  <a:latin typeface="Helvetica" pitchFamily="2" charset="0"/>
                </a:rPr>
                <a:t>Persem</a:t>
              </a:r>
              <a:r>
                <a:rPr sz="900" dirty="0">
                  <a:solidFill>
                    <a:srgbClr val="666666"/>
                  </a:solidFill>
                  <a:latin typeface="Helvetica" pitchFamily="2" charset="0"/>
                </a:rPr>
                <a:t>, A.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1511998" y="8577224"/>
              <a:ext cx="431800" cy="152400"/>
            </a:xfrm>
            <a:prstGeom prst="roundRect">
              <a:avLst>
                <a:gd name="adj" fmla="val 12000"/>
              </a:avLst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69" name="TALK"/>
            <p:cNvSpPr txBox="1"/>
            <p:nvPr/>
          </p:nvSpPr>
          <p:spPr>
            <a:xfrm>
              <a:off x="1537398" y="8577224"/>
              <a:ext cx="38100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FFFFFF"/>
                  </a:solidFill>
                  <a:latin typeface="Helvetica" pitchFamily="2" charset="0"/>
                </a:rPr>
                <a:t>TALK</a:t>
              </a:r>
            </a:p>
          </p:txBody>
        </p:sp>
        <p:sp>
          <p:nvSpPr>
            <p:cNvPr id="70" name="Society for the Neuroscience of Creativity (SfNC), Toronto, Canada"/>
            <p:cNvSpPr txBox="1"/>
            <p:nvPr/>
          </p:nvSpPr>
          <p:spPr>
            <a:xfrm>
              <a:off x="2007298" y="8564524"/>
              <a:ext cx="49767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Society for the Neuroscience of Creativity (</a:t>
              </a:r>
              <a:r>
                <a:rPr sz="900" dirty="0" err="1">
                  <a:solidFill>
                    <a:srgbClr val="111111"/>
                  </a:solidFill>
                  <a:latin typeface="Helvetica Light" panose="020B0403020202020204" pitchFamily="34" charset="0"/>
                </a:rPr>
                <a:t>SfNC</a:t>
              </a: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), Toronto, Canada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511998" y="8777122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72" name="POSTER"/>
            <p:cNvSpPr txBox="1"/>
            <p:nvPr/>
          </p:nvSpPr>
          <p:spPr>
            <a:xfrm>
              <a:off x="1537398" y="8777122"/>
              <a:ext cx="442912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Helvetica" pitchFamily="2" charset="0"/>
                </a:rPr>
                <a:t>POSTER</a:t>
              </a:r>
            </a:p>
          </p:txBody>
        </p:sp>
        <p:sp>
          <p:nvSpPr>
            <p:cNvPr id="73" name="Cognitive Neuroscience Society (CNS), Toronto, Canada"/>
            <p:cNvSpPr txBox="1"/>
            <p:nvPr/>
          </p:nvSpPr>
          <p:spPr>
            <a:xfrm>
              <a:off x="2069211" y="8764422"/>
              <a:ext cx="4914798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Cognitive Neuroscience Society (CNS), Toronto, Canada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1511998" y="8977020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75" name="POSTER"/>
            <p:cNvSpPr txBox="1"/>
            <p:nvPr/>
          </p:nvSpPr>
          <p:spPr>
            <a:xfrm>
              <a:off x="1537398" y="8977020"/>
              <a:ext cx="442912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Helvetica" pitchFamily="2" charset="0"/>
                </a:rPr>
                <a:t>POSTER</a:t>
              </a:r>
            </a:p>
          </p:txBody>
        </p:sp>
        <p:sp>
          <p:nvSpPr>
            <p:cNvPr id="76" name="Society for NeuroEconomics (SNE), Lisbon, Portugal"/>
            <p:cNvSpPr txBox="1"/>
            <p:nvPr/>
          </p:nvSpPr>
          <p:spPr>
            <a:xfrm>
              <a:off x="2069211" y="8964320"/>
              <a:ext cx="4914798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Society for </a:t>
              </a:r>
              <a:r>
                <a:rPr sz="900" dirty="0" err="1">
                  <a:solidFill>
                    <a:srgbClr val="111111"/>
                  </a:solidFill>
                  <a:latin typeface="Helvetica Light" panose="020B0403020202020204" pitchFamily="34" charset="0"/>
                </a:rPr>
                <a:t>NeuroEconomics</a:t>
              </a: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 (SNE), Lisbon, Portugal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1511998" y="9176918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78" name="POSTER"/>
            <p:cNvSpPr txBox="1"/>
            <p:nvPr/>
          </p:nvSpPr>
          <p:spPr>
            <a:xfrm>
              <a:off x="1537398" y="9176918"/>
              <a:ext cx="442912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Helvetica" pitchFamily="2" charset="0"/>
                </a:rPr>
                <a:t>POSTER</a:t>
              </a:r>
            </a:p>
          </p:txBody>
        </p:sp>
        <p:sp>
          <p:nvSpPr>
            <p:cNvPr id="79" name="Marconi Institute for Creativity (MIC), Cagliari, Italy"/>
            <p:cNvSpPr txBox="1"/>
            <p:nvPr/>
          </p:nvSpPr>
          <p:spPr>
            <a:xfrm>
              <a:off x="2069211" y="9164218"/>
              <a:ext cx="4914798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Marconi Institute for Creativity (MIC), Cagliari, Italy</a:t>
              </a:r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1511998" y="9376816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81" name="POSTER"/>
            <p:cNvSpPr txBox="1"/>
            <p:nvPr/>
          </p:nvSpPr>
          <p:spPr>
            <a:xfrm>
              <a:off x="1537398" y="9376816"/>
              <a:ext cx="442912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 dirty="0">
                  <a:solidFill>
                    <a:srgbClr val="666666"/>
                  </a:solidFill>
                  <a:latin typeface="Helvetica" pitchFamily="2" charset="0"/>
                </a:rPr>
                <a:t>POSTER</a:t>
              </a:r>
            </a:p>
          </p:txBody>
        </p:sp>
        <p:sp>
          <p:nvSpPr>
            <p:cNvPr id="82" name="Orbitofrontal Cortex meeting (OFC), Paris, France"/>
            <p:cNvSpPr txBox="1"/>
            <p:nvPr/>
          </p:nvSpPr>
          <p:spPr>
            <a:xfrm>
              <a:off x="2069211" y="9364116"/>
              <a:ext cx="4914798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Orbitofrontal Cortex meeting (OFC), Paris, France</a:t>
              </a:r>
            </a:p>
          </p:txBody>
        </p:sp>
      </p:grpSp>
      <p:sp>
        <p:nvSpPr>
          <p:cNvPr id="84" name="Gino Battistello · Curriculum Vitae"/>
          <p:cNvSpPr txBox="1"/>
          <p:nvPr/>
        </p:nvSpPr>
        <p:spPr>
          <a:xfrm>
            <a:off x="575995" y="10349103"/>
            <a:ext cx="5773013" cy="163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Helvetica" pitchFamily="2" charset="0"/>
              </a:rPr>
              <a:t>Gino Battistello · Curriculum Vitae</a:t>
            </a:r>
          </a:p>
        </p:txBody>
      </p:sp>
      <p:sp>
        <p:nvSpPr>
          <p:cNvPr id="85" name="2 / 6"/>
          <p:cNvSpPr txBox="1"/>
          <p:nvPr/>
        </p:nvSpPr>
        <p:spPr>
          <a:xfrm>
            <a:off x="6412509" y="10349103"/>
            <a:ext cx="571500" cy="163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Helvetica" pitchFamily="2" charset="0"/>
              </a:rPr>
              <a:t>2 / 6</a:t>
            </a:r>
          </a:p>
        </p:txBody>
      </p:sp>
      <p:grpSp>
        <p:nvGrpSpPr>
          <p:cNvPr id="90" name="Generalization of the role of subjective valuation in creativity">
            <a:extLst>
              <a:ext uri="{FF2B5EF4-FFF2-40B4-BE49-F238E27FC236}">
                <a16:creationId xmlns:a16="http://schemas.microsoft.com/office/drawing/2014/main" id="{96FC1076-EA93-5155-CC51-15A8FA0B140D}"/>
              </a:ext>
            </a:extLst>
          </p:cNvPr>
          <p:cNvGrpSpPr/>
          <p:nvPr/>
        </p:nvGrpSpPr>
        <p:grpSpPr>
          <a:xfrm>
            <a:off x="575830" y="7045529"/>
            <a:ext cx="6408014" cy="990803"/>
            <a:chOff x="575995" y="844804"/>
            <a:chExt cx="6408014" cy="990803"/>
          </a:xfrm>
        </p:grpSpPr>
        <p:sp>
          <p:nvSpPr>
            <p:cNvPr id="91" name="2023">
              <a:extLst>
                <a:ext uri="{FF2B5EF4-FFF2-40B4-BE49-F238E27FC236}">
                  <a16:creationId xmlns:a16="http://schemas.microsoft.com/office/drawing/2014/main" id="{05DF38D1-DD37-4D78-01D6-05F38934E684}"/>
                </a:ext>
              </a:extLst>
            </p:cNvPr>
            <p:cNvSpPr txBox="1"/>
            <p:nvPr/>
          </p:nvSpPr>
          <p:spPr>
            <a:xfrm>
              <a:off x="575995" y="844804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2023</a:t>
              </a:r>
            </a:p>
          </p:txBody>
        </p:sp>
        <p:sp>
          <p:nvSpPr>
            <p:cNvPr id="92" name="Generalization of the role of subjective valuation in creativity">
              <a:extLst>
                <a:ext uri="{FF2B5EF4-FFF2-40B4-BE49-F238E27FC236}">
                  <a16:creationId xmlns:a16="http://schemas.microsoft.com/office/drawing/2014/main" id="{5421C3FD-5A22-93B0-06F5-DFC8063264C1}"/>
                </a:ext>
              </a:extLst>
            </p:cNvPr>
            <p:cNvSpPr txBox="1"/>
            <p:nvPr/>
          </p:nvSpPr>
          <p:spPr>
            <a:xfrm>
              <a:off x="1511998" y="844804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Generalization of the role of subjective valuation in creativity</a:t>
              </a:r>
            </a:p>
          </p:txBody>
        </p:sp>
        <p:sp>
          <p:nvSpPr>
            <p:cNvPr id="93" name="Battistello, G., Moreno-Rodriguez, S., Volle, E. &amp; Lopez-Persem, A.">
              <a:extLst>
                <a:ext uri="{FF2B5EF4-FFF2-40B4-BE49-F238E27FC236}">
                  <a16:creationId xmlns:a16="http://schemas.microsoft.com/office/drawing/2014/main" id="{4D215EB0-618E-E6A1-87BA-14C0CF26CD9F}"/>
                </a:ext>
              </a:extLst>
            </p:cNvPr>
            <p:cNvSpPr txBox="1"/>
            <p:nvPr/>
          </p:nvSpPr>
          <p:spPr>
            <a:xfrm>
              <a:off x="1511998" y="1055065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 dirty="0" err="1">
                  <a:solidFill>
                    <a:srgbClr val="666666"/>
                  </a:solidFill>
                  <a:latin typeface="Helvetica" pitchFamily="2" charset="0"/>
                </a:rPr>
                <a:t>Battistello</a:t>
              </a:r>
              <a:r>
                <a:rPr sz="900" b="1" dirty="0">
                  <a:solidFill>
                    <a:srgbClr val="666666"/>
                  </a:solidFill>
                  <a:latin typeface="Helvetica" pitchFamily="2" charset="0"/>
                </a:rPr>
                <a:t>, G.</a:t>
              </a:r>
              <a:r>
                <a:rPr sz="900" b="0" dirty="0">
                  <a:solidFill>
                    <a:srgbClr val="666666"/>
                  </a:solidFill>
                  <a:latin typeface="Helvetica" pitchFamily="2" charset="0"/>
                </a:rPr>
                <a:t>, Moreno-Rodriguez, S., Volle, E. &amp; Lopez-</a:t>
              </a:r>
              <a:r>
                <a:rPr sz="900" b="0" dirty="0" err="1">
                  <a:solidFill>
                    <a:srgbClr val="666666"/>
                  </a:solidFill>
                  <a:latin typeface="Helvetica" pitchFamily="2" charset="0"/>
                </a:rPr>
                <a:t>Persem</a:t>
              </a:r>
              <a:r>
                <a:rPr sz="900" b="0" dirty="0">
                  <a:solidFill>
                    <a:srgbClr val="666666"/>
                  </a:solidFill>
                  <a:latin typeface="Helvetica" pitchFamily="2" charset="0"/>
                </a:rPr>
                <a:t>, A.</a:t>
              </a:r>
            </a:p>
          </p:txBody>
        </p:sp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4827BA6C-3B73-FEB5-7653-C5CB434468BF}"/>
                </a:ext>
              </a:extLst>
            </p:cNvPr>
            <p:cNvSpPr/>
            <p:nvPr/>
          </p:nvSpPr>
          <p:spPr>
            <a:xfrm>
              <a:off x="1511998" y="1267663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95" name="POSTER">
              <a:extLst>
                <a:ext uri="{FF2B5EF4-FFF2-40B4-BE49-F238E27FC236}">
                  <a16:creationId xmlns:a16="http://schemas.microsoft.com/office/drawing/2014/main" id="{C268F162-71ED-4BCB-DCD8-B533F2C80204}"/>
                </a:ext>
              </a:extLst>
            </p:cNvPr>
            <p:cNvSpPr txBox="1"/>
            <p:nvPr/>
          </p:nvSpPr>
          <p:spPr>
            <a:xfrm>
              <a:off x="1537398" y="1267663"/>
              <a:ext cx="442912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Helvetica" pitchFamily="2" charset="0"/>
                </a:rPr>
                <a:t>POSTER</a:t>
              </a:r>
            </a:p>
          </p:txBody>
        </p:sp>
        <p:sp>
          <p:nvSpPr>
            <p:cNvPr id="96" name="Ajité·es poster session, Paris Brain Institute (ICM), Paris, France · Poster Pri">
              <a:extLst>
                <a:ext uri="{FF2B5EF4-FFF2-40B4-BE49-F238E27FC236}">
                  <a16:creationId xmlns:a16="http://schemas.microsoft.com/office/drawing/2014/main" id="{03BC26FC-7114-FC82-54FF-23154BAE4414}"/>
                </a:ext>
              </a:extLst>
            </p:cNvPr>
            <p:cNvSpPr txBox="1"/>
            <p:nvPr/>
          </p:nvSpPr>
          <p:spPr>
            <a:xfrm>
              <a:off x="2069211" y="1254963"/>
              <a:ext cx="4914798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Ajité·es poster session, Paris Brain Institute (ICM), Paris, France · Poster Prize</a:t>
              </a:r>
            </a:p>
          </p:txBody>
        </p:sp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37E4218F-BF3A-8518-2E9D-8375365DF800}"/>
                </a:ext>
              </a:extLst>
            </p:cNvPr>
            <p:cNvSpPr/>
            <p:nvPr/>
          </p:nvSpPr>
          <p:spPr>
            <a:xfrm>
              <a:off x="1511998" y="1467561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98" name="POSTER">
              <a:extLst>
                <a:ext uri="{FF2B5EF4-FFF2-40B4-BE49-F238E27FC236}">
                  <a16:creationId xmlns:a16="http://schemas.microsoft.com/office/drawing/2014/main" id="{644068ED-3187-14E0-8C37-4D5D16145909}"/>
                </a:ext>
              </a:extLst>
            </p:cNvPr>
            <p:cNvSpPr txBox="1"/>
            <p:nvPr/>
          </p:nvSpPr>
          <p:spPr>
            <a:xfrm>
              <a:off x="1537398" y="1467561"/>
              <a:ext cx="442912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Helvetica" pitchFamily="2" charset="0"/>
                </a:rPr>
                <a:t>POSTER</a:t>
              </a:r>
            </a:p>
          </p:txBody>
        </p:sp>
        <p:sp>
          <p:nvSpPr>
            <p:cNvPr id="99" name="Colloque Jeunes Chercheurs (CJC FRESCO), Paris, France">
              <a:extLst>
                <a:ext uri="{FF2B5EF4-FFF2-40B4-BE49-F238E27FC236}">
                  <a16:creationId xmlns:a16="http://schemas.microsoft.com/office/drawing/2014/main" id="{352FA649-44C3-1C43-4FE1-B58A01CCABA1}"/>
                </a:ext>
              </a:extLst>
            </p:cNvPr>
            <p:cNvSpPr txBox="1"/>
            <p:nvPr/>
          </p:nvSpPr>
          <p:spPr>
            <a:xfrm>
              <a:off x="2069211" y="1454861"/>
              <a:ext cx="4914798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Colloque Jeunes </a:t>
              </a:r>
              <a:r>
                <a:rPr sz="900" dirty="0" err="1">
                  <a:solidFill>
                    <a:srgbClr val="111111"/>
                  </a:solidFill>
                  <a:latin typeface="Helvetica Light" panose="020B0403020202020204" pitchFamily="34" charset="0"/>
                </a:rPr>
                <a:t>Chercheurs</a:t>
              </a: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 (CJC FRESCO), Paris, France</a:t>
              </a:r>
            </a:p>
          </p:txBody>
        </p:sp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BAE1B934-CEB5-08D4-F483-0D1E925E0860}"/>
                </a:ext>
              </a:extLst>
            </p:cNvPr>
            <p:cNvSpPr/>
            <p:nvPr/>
          </p:nvSpPr>
          <p:spPr>
            <a:xfrm>
              <a:off x="1511998" y="1667459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101" name="POSTER">
              <a:extLst>
                <a:ext uri="{FF2B5EF4-FFF2-40B4-BE49-F238E27FC236}">
                  <a16:creationId xmlns:a16="http://schemas.microsoft.com/office/drawing/2014/main" id="{AC593965-159D-0B00-A9D9-344230EBCFCB}"/>
                </a:ext>
              </a:extLst>
            </p:cNvPr>
            <p:cNvSpPr txBox="1"/>
            <p:nvPr/>
          </p:nvSpPr>
          <p:spPr>
            <a:xfrm>
              <a:off x="1537398" y="1667459"/>
              <a:ext cx="442912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Helvetica" pitchFamily="2" charset="0"/>
                </a:rPr>
                <a:t>POSTER</a:t>
              </a:r>
            </a:p>
          </p:txBody>
        </p:sp>
        <p:sp>
          <p:nvSpPr>
            <p:cNvPr id="102" name="Forum of Cognitive Sciences (FSC), Paris, France">
              <a:extLst>
                <a:ext uri="{FF2B5EF4-FFF2-40B4-BE49-F238E27FC236}">
                  <a16:creationId xmlns:a16="http://schemas.microsoft.com/office/drawing/2014/main" id="{7435F0A4-9AED-A474-4583-BD2DAC184847}"/>
                </a:ext>
              </a:extLst>
            </p:cNvPr>
            <p:cNvSpPr txBox="1"/>
            <p:nvPr/>
          </p:nvSpPr>
          <p:spPr>
            <a:xfrm>
              <a:off x="2069211" y="1654759"/>
              <a:ext cx="4914798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Forum of Cognitive Sciences (FSC), Paris, France</a:t>
              </a:r>
            </a:p>
          </p:txBody>
        </p:sp>
      </p:grpSp>
      <p:grpSp>
        <p:nvGrpSpPr>
          <p:cNvPr id="103" name="Implicit and explicit mechanisms of collective emotion: moderators and correlate">
            <a:extLst>
              <a:ext uri="{FF2B5EF4-FFF2-40B4-BE49-F238E27FC236}">
                <a16:creationId xmlns:a16="http://schemas.microsoft.com/office/drawing/2014/main" id="{2945DCBD-4C93-C1F0-9D43-84E2376B3C89}"/>
              </a:ext>
            </a:extLst>
          </p:cNvPr>
          <p:cNvGrpSpPr/>
          <p:nvPr/>
        </p:nvGrpSpPr>
        <p:grpSpPr>
          <a:xfrm>
            <a:off x="575830" y="8112532"/>
            <a:ext cx="6408013" cy="756818"/>
            <a:chOff x="575995" y="1911807"/>
            <a:chExt cx="6408013" cy="756818"/>
          </a:xfrm>
        </p:grpSpPr>
        <p:sp>
          <p:nvSpPr>
            <p:cNvPr id="104" name="2022">
              <a:extLst>
                <a:ext uri="{FF2B5EF4-FFF2-40B4-BE49-F238E27FC236}">
                  <a16:creationId xmlns:a16="http://schemas.microsoft.com/office/drawing/2014/main" id="{51F7B42D-46A8-A9E3-3D78-2FB9894A12D8}"/>
                </a:ext>
              </a:extLst>
            </p:cNvPr>
            <p:cNvSpPr txBox="1"/>
            <p:nvPr/>
          </p:nvSpPr>
          <p:spPr>
            <a:xfrm>
              <a:off x="575995" y="1911807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2022</a:t>
              </a:r>
            </a:p>
          </p:txBody>
        </p:sp>
        <p:sp>
          <p:nvSpPr>
            <p:cNvPr id="105" name="Implicit and explicit mechanisms of collective emotion: moderators and correlate">
              <a:extLst>
                <a:ext uri="{FF2B5EF4-FFF2-40B4-BE49-F238E27FC236}">
                  <a16:creationId xmlns:a16="http://schemas.microsoft.com/office/drawing/2014/main" id="{4AEC4216-8DAB-4B81-5778-65DFD977BE21}"/>
                </a:ext>
              </a:extLst>
            </p:cNvPr>
            <p:cNvSpPr txBox="1"/>
            <p:nvPr/>
          </p:nvSpPr>
          <p:spPr>
            <a:xfrm>
              <a:off x="1511998" y="1911807"/>
              <a:ext cx="5472010" cy="3570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Implicit and explicit mechanisms of collective emotion: moderators and correlates of interpersonal emotion alignment in dyads watching film clips together</a:t>
              </a:r>
            </a:p>
          </p:txBody>
        </p:sp>
        <p:sp>
          <p:nvSpPr>
            <p:cNvPr id="106" name="Chung, V., Battistello, G., Pacherie, E., Mennella, R. &amp; Grèzes, J.">
              <a:extLst>
                <a:ext uri="{FF2B5EF4-FFF2-40B4-BE49-F238E27FC236}">
                  <a16:creationId xmlns:a16="http://schemas.microsoft.com/office/drawing/2014/main" id="{86967AC1-2513-2A04-0232-901EB12BDA39}"/>
                </a:ext>
              </a:extLst>
            </p:cNvPr>
            <p:cNvSpPr txBox="1"/>
            <p:nvPr/>
          </p:nvSpPr>
          <p:spPr>
            <a:xfrm>
              <a:off x="1511998" y="2287879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Chung, V., </a:t>
              </a:r>
              <a:r>
                <a:rPr sz="900" b="1">
                  <a:solidFill>
                    <a:srgbClr val="666666"/>
                  </a:solidFill>
                  <a:latin typeface="Helvetica" pitchFamily="2" charset="0"/>
                </a:rPr>
                <a:t>Battistello, G.</a:t>
              </a: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, Pacherie, E., Mennella, R. &amp; Grèzes, J.</a:t>
              </a:r>
            </a:p>
          </p:txBody>
        </p:sp>
        <p:sp>
          <p:nvSpPr>
            <p:cNvPr id="107" name="Rounded Rectangle 106">
              <a:extLst>
                <a:ext uri="{FF2B5EF4-FFF2-40B4-BE49-F238E27FC236}">
                  <a16:creationId xmlns:a16="http://schemas.microsoft.com/office/drawing/2014/main" id="{359DEF38-92BA-45F8-C895-9D4E5FD87DA9}"/>
                </a:ext>
              </a:extLst>
            </p:cNvPr>
            <p:cNvSpPr/>
            <p:nvPr/>
          </p:nvSpPr>
          <p:spPr>
            <a:xfrm>
              <a:off x="1511998" y="2500477"/>
              <a:ext cx="431800" cy="152400"/>
            </a:xfrm>
            <a:prstGeom prst="roundRect">
              <a:avLst>
                <a:gd name="adj" fmla="val 12000"/>
              </a:avLst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108" name="TALK">
              <a:extLst>
                <a:ext uri="{FF2B5EF4-FFF2-40B4-BE49-F238E27FC236}">
                  <a16:creationId xmlns:a16="http://schemas.microsoft.com/office/drawing/2014/main" id="{B67D9512-D3ED-6967-81D9-4093D6778D8B}"/>
                </a:ext>
              </a:extLst>
            </p:cNvPr>
            <p:cNvSpPr txBox="1"/>
            <p:nvPr/>
          </p:nvSpPr>
          <p:spPr>
            <a:xfrm>
              <a:off x="1537398" y="2500477"/>
              <a:ext cx="38100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FFFFFF"/>
                  </a:solidFill>
                  <a:latin typeface="Helvetica" pitchFamily="2" charset="0"/>
                </a:rPr>
                <a:t>TALK</a:t>
              </a:r>
            </a:p>
          </p:txBody>
        </p:sp>
        <p:sp>
          <p:nvSpPr>
            <p:cNvPr id="109" name="Central European Cognitive Science Association (DUCOG 2022), Dubrovnik, Croatia">
              <a:extLst>
                <a:ext uri="{FF2B5EF4-FFF2-40B4-BE49-F238E27FC236}">
                  <a16:creationId xmlns:a16="http://schemas.microsoft.com/office/drawing/2014/main" id="{4588FC12-28AB-537E-3BA1-E0B56E9A3D49}"/>
                </a:ext>
              </a:extLst>
            </p:cNvPr>
            <p:cNvSpPr txBox="1"/>
            <p:nvPr/>
          </p:nvSpPr>
          <p:spPr>
            <a:xfrm>
              <a:off x="2007298" y="2487777"/>
              <a:ext cx="49767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Central European Cognitive Science Association (DUCOG 2022), Dubrovnik, Croatia</a:t>
              </a:r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DD0DF5B-6AB2-7B07-8BD2-B7342EA2634B}"/>
              </a:ext>
            </a:extLst>
          </p:cNvPr>
          <p:cNvSpPr/>
          <p:nvPr/>
        </p:nvSpPr>
        <p:spPr>
          <a:xfrm>
            <a:off x="578596" y="9149998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111" name="SOFTWARE &amp; TOOLS">
            <a:extLst>
              <a:ext uri="{FF2B5EF4-FFF2-40B4-BE49-F238E27FC236}">
                <a16:creationId xmlns:a16="http://schemas.microsoft.com/office/drawing/2014/main" id="{CE6C5A0C-F2E3-C7F6-653F-4112462B1FB8}"/>
              </a:ext>
            </a:extLst>
          </p:cNvPr>
          <p:cNvSpPr txBox="1"/>
          <p:nvPr/>
        </p:nvSpPr>
        <p:spPr>
          <a:xfrm>
            <a:off x="730996" y="9099198"/>
            <a:ext cx="6255613" cy="1704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 dirty="0">
                <a:solidFill>
                  <a:srgbClr val="111111"/>
                </a:solidFill>
                <a:latin typeface="Helvetica" pitchFamily="2" charset="0"/>
              </a:rPr>
              <a:t>SOFTWARE &amp; TOOLS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EB55BA5-D710-0918-6CAF-067D2062194D}"/>
              </a:ext>
            </a:extLst>
          </p:cNvPr>
          <p:cNvSpPr/>
          <p:nvPr/>
        </p:nvSpPr>
        <p:spPr>
          <a:xfrm>
            <a:off x="578595" y="9302398"/>
            <a:ext cx="3780000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grpSp>
        <p:nvGrpSpPr>
          <p:cNvPr id="113" name="Generative Bayesian/Brain/Behavior Modelling (GBM) toolbox">
            <a:extLst>
              <a:ext uri="{FF2B5EF4-FFF2-40B4-BE49-F238E27FC236}">
                <a16:creationId xmlns:a16="http://schemas.microsoft.com/office/drawing/2014/main" id="{38C92F2F-8EAF-8FEF-CB50-06599BAD9324}"/>
              </a:ext>
            </a:extLst>
          </p:cNvPr>
          <p:cNvGrpSpPr/>
          <p:nvPr/>
        </p:nvGrpSpPr>
        <p:grpSpPr>
          <a:xfrm>
            <a:off x="730996" y="9364932"/>
            <a:ext cx="3869994" cy="801268"/>
            <a:chOff x="1511998" y="844804"/>
            <a:chExt cx="5472010" cy="801268"/>
          </a:xfrm>
        </p:grpSpPr>
        <p:sp>
          <p:nvSpPr>
            <p:cNvPr id="115" name="Generative Bayesian/Brain/Behavior Modelling (GBM) toolbox">
              <a:extLst>
                <a:ext uri="{FF2B5EF4-FFF2-40B4-BE49-F238E27FC236}">
                  <a16:creationId xmlns:a16="http://schemas.microsoft.com/office/drawing/2014/main" id="{7EF0BBBE-AAAE-55CF-27E3-9AFCEBAF4B3D}"/>
                </a:ext>
              </a:extLst>
            </p:cNvPr>
            <p:cNvSpPr txBox="1"/>
            <p:nvPr/>
          </p:nvSpPr>
          <p:spPr>
            <a:xfrm>
              <a:off x="1511998" y="844804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 dirty="0">
                  <a:latin typeface="Helvetica" pitchFamily="2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Generative Bayesian/Brain/Behavior Modelling (GBM) toolbox</a:t>
              </a:r>
            </a:p>
          </p:txBody>
        </p:sp>
        <p:sp>
          <p:nvSpPr>
            <p:cNvPr id="116" name="Developer: Gino Battistello">
              <a:extLst>
                <a:ext uri="{FF2B5EF4-FFF2-40B4-BE49-F238E27FC236}">
                  <a16:creationId xmlns:a16="http://schemas.microsoft.com/office/drawing/2014/main" id="{C9A26FFF-F93C-F941-EE6F-75AA1E0021C6}"/>
                </a:ext>
              </a:extLst>
            </p:cNvPr>
            <p:cNvSpPr txBox="1"/>
            <p:nvPr/>
          </p:nvSpPr>
          <p:spPr>
            <a:xfrm>
              <a:off x="1511998" y="1055065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 dirty="0">
                  <a:solidFill>
                    <a:srgbClr val="111111"/>
                  </a:solidFill>
                  <a:latin typeface="Helvetica" pitchFamily="2" charset="0"/>
                </a:rPr>
                <a:t>Developer: Gino </a:t>
              </a:r>
              <a:r>
                <a:rPr sz="960" b="0" dirty="0" err="1">
                  <a:solidFill>
                    <a:srgbClr val="111111"/>
                  </a:solidFill>
                  <a:latin typeface="Helvetica" pitchFamily="2" charset="0"/>
                </a:rPr>
                <a:t>Battistello</a:t>
              </a:r>
              <a:endParaRPr sz="960" b="0" dirty="0">
                <a:solidFill>
                  <a:srgbClr val="111111"/>
                </a:solidFill>
                <a:latin typeface="Helvetica" pitchFamily="2" charset="0"/>
              </a:endParaRPr>
            </a:p>
          </p:txBody>
        </p:sp>
        <p:sp>
          <p:nvSpPr>
            <p:cNvPr id="117" name="Bayesian generative modelling of brain and behaviour in Python.">
              <a:extLst>
                <a:ext uri="{FF2B5EF4-FFF2-40B4-BE49-F238E27FC236}">
                  <a16:creationId xmlns:a16="http://schemas.microsoft.com/office/drawing/2014/main" id="{03590B15-FE25-4C89-1763-88098DF6A487}"/>
                </a:ext>
              </a:extLst>
            </p:cNvPr>
            <p:cNvSpPr txBox="1"/>
            <p:nvPr/>
          </p:nvSpPr>
          <p:spPr>
            <a:xfrm>
              <a:off x="1511998" y="1265326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Bayesian generative modelling of brain and 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behaviour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 in Python.</a:t>
              </a:r>
            </a:p>
          </p:txBody>
        </p:sp>
        <p:sp>
          <p:nvSpPr>
            <p:cNvPr id="118" name="Parameter estimation, uncertainty quantification and model comparison.">
              <a:extLst>
                <a:ext uri="{FF2B5EF4-FFF2-40B4-BE49-F238E27FC236}">
                  <a16:creationId xmlns:a16="http://schemas.microsoft.com/office/drawing/2014/main" id="{715270E9-7882-5858-0573-8F9EA3E4F4A7}"/>
                </a:ext>
              </a:extLst>
            </p:cNvPr>
            <p:cNvSpPr txBox="1"/>
            <p:nvPr/>
          </p:nvSpPr>
          <p:spPr>
            <a:xfrm>
              <a:off x="1511998" y="1465224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Parameter estimation, uncertainty quantification and model comparison.</a:t>
              </a:r>
            </a:p>
          </p:txBody>
        </p:sp>
      </p:grp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883EEE9-1448-5DF1-DA4C-C9BD855171DE}"/>
              </a:ext>
            </a:extLst>
          </p:cNvPr>
          <p:cNvSpPr/>
          <p:nvPr/>
        </p:nvSpPr>
        <p:spPr>
          <a:xfrm>
            <a:off x="4571999" y="9149998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120" name="TEAM RESPONSIBILITIES">
            <a:extLst>
              <a:ext uri="{FF2B5EF4-FFF2-40B4-BE49-F238E27FC236}">
                <a16:creationId xmlns:a16="http://schemas.microsoft.com/office/drawing/2014/main" id="{DFC341DF-8814-B04E-2035-D42BE11D3571}"/>
              </a:ext>
            </a:extLst>
          </p:cNvPr>
          <p:cNvSpPr txBox="1"/>
          <p:nvPr/>
        </p:nvSpPr>
        <p:spPr>
          <a:xfrm>
            <a:off x="4724399" y="9099198"/>
            <a:ext cx="2686479" cy="1704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Helvetica" pitchFamily="2" charset="0"/>
              </a:rPr>
              <a:t>TEAM RESPONSIBILITIES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6F128624-B773-F5AA-2E5F-3B8E09C9A8DB}"/>
              </a:ext>
            </a:extLst>
          </p:cNvPr>
          <p:cNvSpPr/>
          <p:nvPr/>
        </p:nvSpPr>
        <p:spPr>
          <a:xfrm>
            <a:off x="4571998" y="9302398"/>
            <a:ext cx="2772000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grpSp>
        <p:nvGrpSpPr>
          <p:cNvPr id="122" name="Social event organiser">
            <a:extLst>
              <a:ext uri="{FF2B5EF4-FFF2-40B4-BE49-F238E27FC236}">
                <a16:creationId xmlns:a16="http://schemas.microsoft.com/office/drawing/2014/main" id="{C5359CB7-79B8-3344-A681-74C96C027CBE}"/>
              </a:ext>
            </a:extLst>
          </p:cNvPr>
          <p:cNvGrpSpPr/>
          <p:nvPr/>
        </p:nvGrpSpPr>
        <p:grpSpPr>
          <a:xfrm>
            <a:off x="4572000" y="9403998"/>
            <a:ext cx="3737490" cy="391109"/>
            <a:chOff x="575995" y="2103272"/>
            <a:chExt cx="6408013" cy="391109"/>
          </a:xfrm>
        </p:grpSpPr>
        <p:sp>
          <p:nvSpPr>
            <p:cNvPr id="123" name="2025 – present">
              <a:extLst>
                <a:ext uri="{FF2B5EF4-FFF2-40B4-BE49-F238E27FC236}">
                  <a16:creationId xmlns:a16="http://schemas.microsoft.com/office/drawing/2014/main" id="{84E0C4BF-5EAD-D933-9F1E-38C743C1F6A3}"/>
                </a:ext>
              </a:extLst>
            </p:cNvPr>
            <p:cNvSpPr txBox="1"/>
            <p:nvPr/>
          </p:nvSpPr>
          <p:spPr>
            <a:xfrm>
              <a:off x="575995" y="2103272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2025 – present</a:t>
              </a:r>
            </a:p>
          </p:txBody>
        </p:sp>
        <p:sp>
          <p:nvSpPr>
            <p:cNvPr id="124" name="Social event organiser">
              <a:extLst>
                <a:ext uri="{FF2B5EF4-FFF2-40B4-BE49-F238E27FC236}">
                  <a16:creationId xmlns:a16="http://schemas.microsoft.com/office/drawing/2014/main" id="{EE99A460-E925-E633-BB27-420A6EED2ACC}"/>
                </a:ext>
              </a:extLst>
            </p:cNvPr>
            <p:cNvSpPr txBox="1"/>
            <p:nvPr/>
          </p:nvSpPr>
          <p:spPr>
            <a:xfrm>
              <a:off x="1511998" y="2103272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 dirty="0">
                  <a:solidFill>
                    <a:srgbClr val="111111"/>
                  </a:solidFill>
                  <a:latin typeface="Helvetica" pitchFamily="2" charset="0"/>
                </a:rPr>
                <a:t>Social event </a:t>
              </a:r>
              <a:r>
                <a:rPr sz="960" b="1" dirty="0" err="1">
                  <a:solidFill>
                    <a:srgbClr val="111111"/>
                  </a:solidFill>
                  <a:latin typeface="Helvetica" pitchFamily="2" charset="0"/>
                </a:rPr>
                <a:t>organiser</a:t>
              </a:r>
              <a:endParaRPr sz="960" b="1" dirty="0">
                <a:solidFill>
                  <a:srgbClr val="111111"/>
                </a:solidFill>
                <a:latin typeface="Helvetica" pitchFamily="2" charset="0"/>
              </a:endParaRPr>
            </a:p>
          </p:txBody>
        </p:sp>
        <p:sp>
          <p:nvSpPr>
            <p:cNvPr id="125" name="FrontLab – CreaTeam, Paris Brain Institute">
              <a:extLst>
                <a:ext uri="{FF2B5EF4-FFF2-40B4-BE49-F238E27FC236}">
                  <a16:creationId xmlns:a16="http://schemas.microsoft.com/office/drawing/2014/main" id="{61D82990-EE9B-6098-45FC-01B6B3366BEA}"/>
                </a:ext>
              </a:extLst>
            </p:cNvPr>
            <p:cNvSpPr txBox="1"/>
            <p:nvPr/>
          </p:nvSpPr>
          <p:spPr>
            <a:xfrm>
              <a:off x="1511998" y="2313533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FrontLab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 – 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CreaTeam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, Paris Brain Institute</a:t>
              </a:r>
            </a:p>
          </p:txBody>
        </p:sp>
      </p:grpSp>
      <p:grpSp>
        <p:nvGrpSpPr>
          <p:cNvPr id="126" name="Meeting manager">
            <a:extLst>
              <a:ext uri="{FF2B5EF4-FFF2-40B4-BE49-F238E27FC236}">
                <a16:creationId xmlns:a16="http://schemas.microsoft.com/office/drawing/2014/main" id="{81C29FFF-213F-0E34-1341-2B7DAE0FB9D7}"/>
              </a:ext>
            </a:extLst>
          </p:cNvPr>
          <p:cNvGrpSpPr/>
          <p:nvPr/>
        </p:nvGrpSpPr>
        <p:grpSpPr>
          <a:xfrm>
            <a:off x="4572000" y="9871307"/>
            <a:ext cx="3737490" cy="391109"/>
            <a:chOff x="575995" y="2570581"/>
            <a:chExt cx="6408013" cy="391109"/>
          </a:xfrm>
        </p:grpSpPr>
        <p:sp>
          <p:nvSpPr>
            <p:cNvPr id="127" name="2024 – 2025">
              <a:extLst>
                <a:ext uri="{FF2B5EF4-FFF2-40B4-BE49-F238E27FC236}">
                  <a16:creationId xmlns:a16="http://schemas.microsoft.com/office/drawing/2014/main" id="{CF9ADFBB-3F60-C923-0988-65B9FAD22A7D}"/>
                </a:ext>
              </a:extLst>
            </p:cNvPr>
            <p:cNvSpPr txBox="1"/>
            <p:nvPr/>
          </p:nvSpPr>
          <p:spPr>
            <a:xfrm>
              <a:off x="575995" y="2570581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2024 – 2025</a:t>
              </a:r>
            </a:p>
          </p:txBody>
        </p:sp>
        <p:sp>
          <p:nvSpPr>
            <p:cNvPr id="128" name="Meeting manager">
              <a:extLst>
                <a:ext uri="{FF2B5EF4-FFF2-40B4-BE49-F238E27FC236}">
                  <a16:creationId xmlns:a16="http://schemas.microsoft.com/office/drawing/2014/main" id="{26A0ADF5-B5C6-B256-16AD-F5650853B17A}"/>
                </a:ext>
              </a:extLst>
            </p:cNvPr>
            <p:cNvSpPr txBox="1"/>
            <p:nvPr/>
          </p:nvSpPr>
          <p:spPr>
            <a:xfrm>
              <a:off x="1511998" y="2570581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Meeting manager</a:t>
              </a:r>
            </a:p>
          </p:txBody>
        </p:sp>
        <p:sp>
          <p:nvSpPr>
            <p:cNvPr id="129" name="FrontLab – CreaTeam, Paris Brain Institute">
              <a:extLst>
                <a:ext uri="{FF2B5EF4-FFF2-40B4-BE49-F238E27FC236}">
                  <a16:creationId xmlns:a16="http://schemas.microsoft.com/office/drawing/2014/main" id="{15D9EBA0-953D-4D19-511D-E7784269FCCB}"/>
                </a:ext>
              </a:extLst>
            </p:cNvPr>
            <p:cNvSpPr txBox="1"/>
            <p:nvPr/>
          </p:nvSpPr>
          <p:spPr>
            <a:xfrm>
              <a:off x="1511998" y="2780842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FrontLab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 – 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CreaTeam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, Paris Brain Institute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575830" y="6300058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26" name="TRAINING"/>
          <p:cNvSpPr txBox="1"/>
          <p:nvPr/>
        </p:nvSpPr>
        <p:spPr>
          <a:xfrm>
            <a:off x="728230" y="6249258"/>
            <a:ext cx="6255613" cy="1704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Helvetica" pitchFamily="2" charset="0"/>
              </a:rPr>
              <a:t>TRAINING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5830" y="6452458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grpSp>
        <p:nvGrpSpPr>
          <p:cNvPr id="32" name="Computational Psychiatry Course (CPC)"/>
          <p:cNvGrpSpPr/>
          <p:nvPr/>
        </p:nvGrpSpPr>
        <p:grpSpPr>
          <a:xfrm>
            <a:off x="575830" y="6554058"/>
            <a:ext cx="6408013" cy="601371"/>
            <a:chOff x="575995" y="3049625"/>
            <a:chExt cx="6408013" cy="601371"/>
          </a:xfrm>
        </p:grpSpPr>
        <p:sp>
          <p:nvSpPr>
            <p:cNvPr id="28" name="2026"/>
            <p:cNvSpPr txBox="1"/>
            <p:nvPr/>
          </p:nvSpPr>
          <p:spPr>
            <a:xfrm>
              <a:off x="575995" y="3049625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2026</a:t>
              </a:r>
            </a:p>
          </p:txBody>
        </p:sp>
        <p:sp>
          <p:nvSpPr>
            <p:cNvPr id="29" name="Computational Psychiatry Course (CPC)"/>
            <p:cNvSpPr txBox="1"/>
            <p:nvPr/>
          </p:nvSpPr>
          <p:spPr>
            <a:xfrm>
              <a:off x="1511998" y="3049625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Computational Psychiatry Course (CPC)</a:t>
              </a:r>
            </a:p>
          </p:txBody>
        </p:sp>
        <p:sp>
          <p:nvSpPr>
            <p:cNvPr id="30" name="Theoretical and hands-on modelling of brain and behaviour applied to psychiatry"/>
            <p:cNvSpPr txBox="1"/>
            <p:nvPr/>
          </p:nvSpPr>
          <p:spPr>
            <a:xfrm>
              <a:off x="1511998" y="3259886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Theoretical and hands-on modelling of brain and behaviour applied to psychiatry</a:t>
              </a:r>
            </a:p>
          </p:txBody>
        </p:sp>
        <p:sp>
          <p:nvSpPr>
            <p:cNvPr id="31" name="Translational Neuromodelling Unit, University of Zurich &amp; ETH Zurich"/>
            <p:cNvSpPr txBox="1"/>
            <p:nvPr/>
          </p:nvSpPr>
          <p:spPr>
            <a:xfrm>
              <a:off x="1511998" y="3470148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Translational 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Neuromodelling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 Unit, University of Zurich &amp; ETH Zurich</a:t>
              </a:r>
            </a:p>
          </p:txBody>
        </p:sp>
      </p:grpSp>
      <p:grpSp>
        <p:nvGrpSpPr>
          <p:cNvPr id="37" name="Computational Decision Sciences (CDS)"/>
          <p:cNvGrpSpPr/>
          <p:nvPr/>
        </p:nvGrpSpPr>
        <p:grpSpPr>
          <a:xfrm>
            <a:off x="575830" y="7231629"/>
            <a:ext cx="6408013" cy="601370"/>
            <a:chOff x="575995" y="3727196"/>
            <a:chExt cx="6408013" cy="601370"/>
          </a:xfrm>
        </p:grpSpPr>
        <p:sp>
          <p:nvSpPr>
            <p:cNvPr id="33" name="2025"/>
            <p:cNvSpPr txBox="1"/>
            <p:nvPr/>
          </p:nvSpPr>
          <p:spPr>
            <a:xfrm>
              <a:off x="575995" y="3727196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2025</a:t>
              </a:r>
            </a:p>
          </p:txBody>
        </p:sp>
        <p:sp>
          <p:nvSpPr>
            <p:cNvPr id="34" name="Computational Decision Sciences (CDS)"/>
            <p:cNvSpPr txBox="1"/>
            <p:nvPr/>
          </p:nvSpPr>
          <p:spPr>
            <a:xfrm>
              <a:off x="1511998" y="3727196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Computational Decision Sciences (CDS)</a:t>
              </a:r>
            </a:p>
          </p:txBody>
        </p:sp>
        <p:sp>
          <p:nvSpPr>
            <p:cNvPr id="35" name="From reinforcement learning to complex collective behaviour"/>
            <p:cNvSpPr txBox="1"/>
            <p:nvPr/>
          </p:nvSpPr>
          <p:spPr>
            <a:xfrm>
              <a:off x="1511998" y="3937457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From reinforcement learning to complex collective behaviour</a:t>
              </a:r>
            </a:p>
          </p:txBody>
        </p:sp>
        <p:sp>
          <p:nvSpPr>
            <p:cNvPr id="36" name="Royal Holloway, University of London"/>
            <p:cNvSpPr txBox="1"/>
            <p:nvPr/>
          </p:nvSpPr>
          <p:spPr>
            <a:xfrm>
              <a:off x="1511998" y="4147718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Royal Holloway, University of London</a:t>
              </a:r>
            </a:p>
          </p:txBody>
        </p:sp>
      </p:grpSp>
      <p:grpSp>
        <p:nvGrpSpPr>
          <p:cNvPr id="42" name="COGNESTIC"/>
          <p:cNvGrpSpPr/>
          <p:nvPr/>
        </p:nvGrpSpPr>
        <p:grpSpPr>
          <a:xfrm>
            <a:off x="575830" y="7909199"/>
            <a:ext cx="6408013" cy="601370"/>
            <a:chOff x="575995" y="4404766"/>
            <a:chExt cx="6408013" cy="601370"/>
          </a:xfrm>
        </p:grpSpPr>
        <p:sp>
          <p:nvSpPr>
            <p:cNvPr id="38" name="2025"/>
            <p:cNvSpPr txBox="1"/>
            <p:nvPr/>
          </p:nvSpPr>
          <p:spPr>
            <a:xfrm>
              <a:off x="575995" y="4404766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2025</a:t>
              </a:r>
            </a:p>
          </p:txBody>
        </p:sp>
        <p:sp>
          <p:nvSpPr>
            <p:cNvPr id="39" name="COGNESTIC"/>
            <p:cNvSpPr txBox="1"/>
            <p:nvPr/>
          </p:nvSpPr>
          <p:spPr>
            <a:xfrm>
              <a:off x="1511998" y="4404766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COGNESTIC</a:t>
              </a:r>
            </a:p>
          </p:txBody>
        </p:sp>
        <p:sp>
          <p:nvSpPr>
            <p:cNvPr id="40" name="Neuroimaging analysis with open-source libraries"/>
            <p:cNvSpPr txBox="1"/>
            <p:nvPr/>
          </p:nvSpPr>
          <p:spPr>
            <a:xfrm>
              <a:off x="1511998" y="4615027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Neuroimaging analysis with open-source libraries</a:t>
              </a:r>
            </a:p>
          </p:txBody>
        </p:sp>
        <p:sp>
          <p:nvSpPr>
            <p:cNvPr id="41" name="MRC Cognition and Brain Sciences Unit, University of Cambridge"/>
            <p:cNvSpPr txBox="1"/>
            <p:nvPr/>
          </p:nvSpPr>
          <p:spPr>
            <a:xfrm>
              <a:off x="1511998" y="4825288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MRC Cognition and Brain Sciences Unit, University of Cambridge</a:t>
              </a:r>
            </a:p>
          </p:txBody>
        </p:sp>
      </p:grpSp>
      <p:grpSp>
        <p:nvGrpSpPr>
          <p:cNvPr id="46" name="Neuromatch Academy (online)"/>
          <p:cNvGrpSpPr/>
          <p:nvPr/>
        </p:nvGrpSpPr>
        <p:grpSpPr>
          <a:xfrm>
            <a:off x="575830" y="8586769"/>
            <a:ext cx="6408013" cy="401472"/>
            <a:chOff x="575995" y="5082336"/>
            <a:chExt cx="6408013" cy="401472"/>
          </a:xfrm>
        </p:grpSpPr>
        <p:sp>
          <p:nvSpPr>
            <p:cNvPr id="43" name="2025"/>
            <p:cNvSpPr txBox="1"/>
            <p:nvPr/>
          </p:nvSpPr>
          <p:spPr>
            <a:xfrm>
              <a:off x="575995" y="5082336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2025</a:t>
              </a:r>
            </a:p>
          </p:txBody>
        </p:sp>
        <p:sp>
          <p:nvSpPr>
            <p:cNvPr id="44" name="Neuromatch Academy (online)"/>
            <p:cNvSpPr txBox="1"/>
            <p:nvPr/>
          </p:nvSpPr>
          <p:spPr>
            <a:xfrm>
              <a:off x="1511998" y="5082336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Neuromatch Academy (online)</a:t>
              </a:r>
            </a:p>
          </p:txBody>
        </p:sp>
        <p:sp>
          <p:nvSpPr>
            <p:cNvPr id="45" name="Computational neuroscience methods in Python"/>
            <p:cNvSpPr txBox="1"/>
            <p:nvPr/>
          </p:nvSpPr>
          <p:spPr>
            <a:xfrm>
              <a:off x="1511998" y="5292597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Computational neuroscience methods in Python</a:t>
              </a:r>
            </a:p>
          </p:txBody>
        </p:sp>
      </p:grpSp>
      <p:grpSp>
        <p:nvGrpSpPr>
          <p:cNvPr id="51" name="Human Brain Anatomy Course"/>
          <p:cNvGrpSpPr/>
          <p:nvPr/>
        </p:nvGrpSpPr>
        <p:grpSpPr>
          <a:xfrm>
            <a:off x="575830" y="9064442"/>
            <a:ext cx="6408013" cy="601370"/>
            <a:chOff x="575995" y="5560009"/>
            <a:chExt cx="6408013" cy="601370"/>
          </a:xfrm>
        </p:grpSpPr>
        <p:sp>
          <p:nvSpPr>
            <p:cNvPr id="47" name="2024"/>
            <p:cNvSpPr txBox="1"/>
            <p:nvPr/>
          </p:nvSpPr>
          <p:spPr>
            <a:xfrm>
              <a:off x="575995" y="5560009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2024</a:t>
              </a:r>
            </a:p>
          </p:txBody>
        </p:sp>
        <p:sp>
          <p:nvSpPr>
            <p:cNvPr id="48" name="Human Brain Anatomy Course"/>
            <p:cNvSpPr txBox="1"/>
            <p:nvPr/>
          </p:nvSpPr>
          <p:spPr>
            <a:xfrm>
              <a:off x="1511998" y="5560009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Human Brain Anatomy Course</a:t>
              </a:r>
            </a:p>
          </p:txBody>
        </p:sp>
        <p:sp>
          <p:nvSpPr>
            <p:cNvPr id="49" name="Descriptive and practical observation of human brain specimens"/>
            <p:cNvSpPr txBox="1"/>
            <p:nvPr/>
          </p:nvSpPr>
          <p:spPr>
            <a:xfrm>
              <a:off x="1511998" y="5770270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Descriptive and practical observation of human brain specimens</a:t>
              </a:r>
            </a:p>
          </p:txBody>
        </p:sp>
        <p:sp>
          <p:nvSpPr>
            <p:cNvPr id="50" name="King's College London, with Dr. Paul Johns (Institute of Neurology, UCL)"/>
            <p:cNvSpPr txBox="1"/>
            <p:nvPr/>
          </p:nvSpPr>
          <p:spPr>
            <a:xfrm>
              <a:off x="1511998" y="5980531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King's College London, with Dr. Paul Johns (Institute of Neurology, UCL)</a:t>
              </a:r>
            </a:p>
          </p:txBody>
        </p:sp>
      </p:grpSp>
      <p:grpSp>
        <p:nvGrpSpPr>
          <p:cNvPr id="56" name="Information Theory and Self-Organisation (online)"/>
          <p:cNvGrpSpPr/>
          <p:nvPr/>
        </p:nvGrpSpPr>
        <p:grpSpPr>
          <a:xfrm>
            <a:off x="575830" y="9742012"/>
            <a:ext cx="6408013" cy="601370"/>
            <a:chOff x="575995" y="6237579"/>
            <a:chExt cx="6408013" cy="601370"/>
          </a:xfrm>
        </p:grpSpPr>
        <p:sp>
          <p:nvSpPr>
            <p:cNvPr id="52" name="2024"/>
            <p:cNvSpPr txBox="1"/>
            <p:nvPr/>
          </p:nvSpPr>
          <p:spPr>
            <a:xfrm>
              <a:off x="575995" y="6237579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2024</a:t>
              </a:r>
            </a:p>
          </p:txBody>
        </p:sp>
        <p:sp>
          <p:nvSpPr>
            <p:cNvPr id="53" name="Information Theory and Self-Organisation (online)"/>
            <p:cNvSpPr txBox="1"/>
            <p:nvPr/>
          </p:nvSpPr>
          <p:spPr>
            <a:xfrm>
              <a:off x="1511998" y="6237579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Information Theory and Self-Organisation (online)</a:t>
              </a:r>
            </a:p>
          </p:txBody>
        </p:sp>
        <p:sp>
          <p:nvSpPr>
            <p:cNvPr id="54" name="System dynamics and information-theoretic measures"/>
            <p:cNvSpPr txBox="1"/>
            <p:nvPr/>
          </p:nvSpPr>
          <p:spPr>
            <a:xfrm>
              <a:off x="1511998" y="6447840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System dynamics and information-theoretic measures</a:t>
              </a:r>
            </a:p>
          </p:txBody>
        </p:sp>
        <p:sp>
          <p:nvSpPr>
            <p:cNvPr id="55" name="University of Sydney, with Dr. Joseph Lizier"/>
            <p:cNvSpPr txBox="1"/>
            <p:nvPr/>
          </p:nvSpPr>
          <p:spPr>
            <a:xfrm>
              <a:off x="1511998" y="6658101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University of Sydney, with Dr. Joseph Lizier</a:t>
              </a:r>
            </a:p>
          </p:txBody>
        </p:sp>
      </p:grpSp>
      <p:sp>
        <p:nvSpPr>
          <p:cNvPr id="76" name="Gino Battistello · Curriculum Vitae"/>
          <p:cNvSpPr txBox="1"/>
          <p:nvPr/>
        </p:nvSpPr>
        <p:spPr>
          <a:xfrm>
            <a:off x="575995" y="10349103"/>
            <a:ext cx="5773013" cy="163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Helvetica" pitchFamily="2" charset="0"/>
              </a:rPr>
              <a:t>Gino Battistello · Curriculum Vitae</a:t>
            </a:r>
          </a:p>
        </p:txBody>
      </p:sp>
      <p:sp>
        <p:nvSpPr>
          <p:cNvPr id="77" name="3 / 6"/>
          <p:cNvSpPr txBox="1"/>
          <p:nvPr/>
        </p:nvSpPr>
        <p:spPr>
          <a:xfrm>
            <a:off x="6412509" y="10349103"/>
            <a:ext cx="571500" cy="163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Helvetica" pitchFamily="2" charset="0"/>
              </a:rPr>
              <a:t>3 / 6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580C7BF-8C0F-6905-F746-8376197DFF2D}"/>
              </a:ext>
            </a:extLst>
          </p:cNvPr>
          <p:cNvSpPr/>
          <p:nvPr/>
        </p:nvSpPr>
        <p:spPr>
          <a:xfrm>
            <a:off x="575995" y="577162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79" name="TEACHING &amp; SUPERVISION">
            <a:extLst>
              <a:ext uri="{FF2B5EF4-FFF2-40B4-BE49-F238E27FC236}">
                <a16:creationId xmlns:a16="http://schemas.microsoft.com/office/drawing/2014/main" id="{AEE88D4F-D95D-B671-EE33-E226F9213F8F}"/>
              </a:ext>
            </a:extLst>
          </p:cNvPr>
          <p:cNvSpPr txBox="1"/>
          <p:nvPr/>
        </p:nvSpPr>
        <p:spPr>
          <a:xfrm>
            <a:off x="728395" y="526362"/>
            <a:ext cx="6255613" cy="1704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Helvetica" pitchFamily="2" charset="0"/>
              </a:rPr>
              <a:t>TEACHING &amp; SUPERVISION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98B326-3BF7-B4BC-6067-D3E9BAD7B6DE}"/>
              </a:ext>
            </a:extLst>
          </p:cNvPr>
          <p:cNvSpPr/>
          <p:nvPr/>
        </p:nvSpPr>
        <p:spPr>
          <a:xfrm>
            <a:off x="575993" y="729562"/>
            <a:ext cx="3276000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81" name="Teaching">
            <a:extLst>
              <a:ext uri="{FF2B5EF4-FFF2-40B4-BE49-F238E27FC236}">
                <a16:creationId xmlns:a16="http://schemas.microsoft.com/office/drawing/2014/main" id="{8C1BF08E-4AE6-801D-429B-EDB979A5233B}"/>
              </a:ext>
            </a:extLst>
          </p:cNvPr>
          <p:cNvSpPr txBox="1"/>
          <p:nvPr/>
        </p:nvSpPr>
        <p:spPr>
          <a:xfrm>
            <a:off x="1071394" y="858338"/>
            <a:ext cx="2896172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66666"/>
                </a:solidFill>
                <a:latin typeface="Helvetica" pitchFamily="2" charset="0"/>
              </a:rPr>
              <a:t>Teaching</a:t>
            </a:r>
          </a:p>
        </p:txBody>
      </p:sp>
      <p:grpSp>
        <p:nvGrpSpPr>
          <p:cNvPr id="82" name="Teaching Assistant">
            <a:extLst>
              <a:ext uri="{FF2B5EF4-FFF2-40B4-BE49-F238E27FC236}">
                <a16:creationId xmlns:a16="http://schemas.microsoft.com/office/drawing/2014/main" id="{7AA020F8-A2E2-CFA3-BBC1-0CC56CF56878}"/>
              </a:ext>
            </a:extLst>
          </p:cNvPr>
          <p:cNvGrpSpPr/>
          <p:nvPr/>
        </p:nvGrpSpPr>
        <p:grpSpPr>
          <a:xfrm>
            <a:off x="575995" y="1092782"/>
            <a:ext cx="3391571" cy="601371"/>
            <a:chOff x="575995" y="7557769"/>
            <a:chExt cx="6408013" cy="601371"/>
          </a:xfrm>
        </p:grpSpPr>
        <p:sp>
          <p:nvSpPr>
            <p:cNvPr id="83" name="2026">
              <a:extLst>
                <a:ext uri="{FF2B5EF4-FFF2-40B4-BE49-F238E27FC236}">
                  <a16:creationId xmlns:a16="http://schemas.microsoft.com/office/drawing/2014/main" id="{37B16054-E9A0-91F0-C074-A59FF1DB38EC}"/>
                </a:ext>
              </a:extLst>
            </p:cNvPr>
            <p:cNvSpPr txBox="1"/>
            <p:nvPr/>
          </p:nvSpPr>
          <p:spPr>
            <a:xfrm>
              <a:off x="575995" y="7557769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2026</a:t>
              </a:r>
            </a:p>
          </p:txBody>
        </p:sp>
        <p:sp>
          <p:nvSpPr>
            <p:cNvPr id="84" name="Teaching Assistant">
              <a:extLst>
                <a:ext uri="{FF2B5EF4-FFF2-40B4-BE49-F238E27FC236}">
                  <a16:creationId xmlns:a16="http://schemas.microsoft.com/office/drawing/2014/main" id="{4C701E9E-E1C0-A51E-1389-CE25322C9315}"/>
                </a:ext>
              </a:extLst>
            </p:cNvPr>
            <p:cNvSpPr txBox="1"/>
            <p:nvPr/>
          </p:nvSpPr>
          <p:spPr>
            <a:xfrm>
              <a:off x="1511998" y="7557769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Teaching Assistant</a:t>
              </a:r>
            </a:p>
          </p:txBody>
        </p:sp>
        <p:sp>
          <p:nvSpPr>
            <p:cNvPr id="85" name="Literature review &amp; meta-analysis">
              <a:extLst>
                <a:ext uri="{FF2B5EF4-FFF2-40B4-BE49-F238E27FC236}">
                  <a16:creationId xmlns:a16="http://schemas.microsoft.com/office/drawing/2014/main" id="{56ADBCBB-2EFA-A1EC-524C-40457BBFA2C2}"/>
                </a:ext>
              </a:extLst>
            </p:cNvPr>
            <p:cNvSpPr txBox="1"/>
            <p:nvPr/>
          </p:nvSpPr>
          <p:spPr>
            <a:xfrm>
              <a:off x="1511998" y="7768031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Literature review &amp; meta-analysis</a:t>
              </a:r>
            </a:p>
          </p:txBody>
        </p:sp>
        <p:sp>
          <p:nvSpPr>
            <p:cNvPr id="86" name="Master of Cognitive Science (Cogmaster), ENS – PSL">
              <a:extLst>
                <a:ext uri="{FF2B5EF4-FFF2-40B4-BE49-F238E27FC236}">
                  <a16:creationId xmlns:a16="http://schemas.microsoft.com/office/drawing/2014/main" id="{321B6011-CA4D-C077-CB90-9047781A8349}"/>
                </a:ext>
              </a:extLst>
            </p:cNvPr>
            <p:cNvSpPr txBox="1"/>
            <p:nvPr/>
          </p:nvSpPr>
          <p:spPr>
            <a:xfrm>
              <a:off x="1511998" y="7978292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Master of Cognitive Science (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Cogmaster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), ENS – PSL</a:t>
              </a:r>
            </a:p>
          </p:txBody>
        </p:sp>
      </p:grpSp>
      <p:grpSp>
        <p:nvGrpSpPr>
          <p:cNvPr id="87" name="Teaching Assistant">
            <a:extLst>
              <a:ext uri="{FF2B5EF4-FFF2-40B4-BE49-F238E27FC236}">
                <a16:creationId xmlns:a16="http://schemas.microsoft.com/office/drawing/2014/main" id="{99685F06-80CD-F09B-927B-D1FC66B2802C}"/>
              </a:ext>
            </a:extLst>
          </p:cNvPr>
          <p:cNvGrpSpPr/>
          <p:nvPr/>
        </p:nvGrpSpPr>
        <p:grpSpPr>
          <a:xfrm>
            <a:off x="575995" y="1770353"/>
            <a:ext cx="3391571" cy="601370"/>
            <a:chOff x="575995" y="8235340"/>
            <a:chExt cx="6408013" cy="601370"/>
          </a:xfrm>
        </p:grpSpPr>
        <p:sp>
          <p:nvSpPr>
            <p:cNvPr id="88" name="2025">
              <a:extLst>
                <a:ext uri="{FF2B5EF4-FFF2-40B4-BE49-F238E27FC236}">
                  <a16:creationId xmlns:a16="http://schemas.microsoft.com/office/drawing/2014/main" id="{A3332D4A-3CDD-027D-E5C2-87FC7EAF0521}"/>
                </a:ext>
              </a:extLst>
            </p:cNvPr>
            <p:cNvSpPr txBox="1"/>
            <p:nvPr/>
          </p:nvSpPr>
          <p:spPr>
            <a:xfrm>
              <a:off x="575995" y="8235340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2025</a:t>
              </a:r>
            </a:p>
          </p:txBody>
        </p:sp>
        <p:sp>
          <p:nvSpPr>
            <p:cNvPr id="89" name="Teaching Assistant">
              <a:extLst>
                <a:ext uri="{FF2B5EF4-FFF2-40B4-BE49-F238E27FC236}">
                  <a16:creationId xmlns:a16="http://schemas.microsoft.com/office/drawing/2014/main" id="{56EF15D3-4883-2722-1EF8-CC2BA738EB59}"/>
                </a:ext>
              </a:extLst>
            </p:cNvPr>
            <p:cNvSpPr txBox="1"/>
            <p:nvPr/>
          </p:nvSpPr>
          <p:spPr>
            <a:xfrm>
              <a:off x="1511998" y="8235340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Teaching Assistant</a:t>
              </a:r>
            </a:p>
          </p:txBody>
        </p:sp>
        <p:sp>
          <p:nvSpPr>
            <p:cNvPr id="90" name="Literature review &amp; meta-analysis">
              <a:extLst>
                <a:ext uri="{FF2B5EF4-FFF2-40B4-BE49-F238E27FC236}">
                  <a16:creationId xmlns:a16="http://schemas.microsoft.com/office/drawing/2014/main" id="{1D0F51CB-C40F-0818-4A45-864AB64954FF}"/>
                </a:ext>
              </a:extLst>
            </p:cNvPr>
            <p:cNvSpPr txBox="1"/>
            <p:nvPr/>
          </p:nvSpPr>
          <p:spPr>
            <a:xfrm>
              <a:off x="1511998" y="8445601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Literature review &amp; meta-analysis</a:t>
              </a:r>
            </a:p>
          </p:txBody>
        </p:sp>
        <p:sp>
          <p:nvSpPr>
            <p:cNvPr id="91" name="Master of Cognitive Science (Cogmaster), ENS – PSL">
              <a:extLst>
                <a:ext uri="{FF2B5EF4-FFF2-40B4-BE49-F238E27FC236}">
                  <a16:creationId xmlns:a16="http://schemas.microsoft.com/office/drawing/2014/main" id="{EA837329-F352-46AC-60C1-0F93647F14E0}"/>
                </a:ext>
              </a:extLst>
            </p:cNvPr>
            <p:cNvSpPr txBox="1"/>
            <p:nvPr/>
          </p:nvSpPr>
          <p:spPr>
            <a:xfrm>
              <a:off x="1511998" y="8655862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Master of Cognitive Science (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Cogmaster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), ENS – PSL</a:t>
              </a:r>
            </a:p>
          </p:txBody>
        </p:sp>
      </p:grpSp>
      <p:grpSp>
        <p:nvGrpSpPr>
          <p:cNvPr id="92" name="Invited lecturer">
            <a:extLst>
              <a:ext uri="{FF2B5EF4-FFF2-40B4-BE49-F238E27FC236}">
                <a16:creationId xmlns:a16="http://schemas.microsoft.com/office/drawing/2014/main" id="{26B501C7-1B4A-C911-7AC8-E278CEA87781}"/>
              </a:ext>
            </a:extLst>
          </p:cNvPr>
          <p:cNvGrpSpPr/>
          <p:nvPr/>
        </p:nvGrpSpPr>
        <p:grpSpPr>
          <a:xfrm>
            <a:off x="575995" y="2447923"/>
            <a:ext cx="3391571" cy="601371"/>
            <a:chOff x="575995" y="8912910"/>
            <a:chExt cx="6408013" cy="601371"/>
          </a:xfrm>
        </p:grpSpPr>
        <p:sp>
          <p:nvSpPr>
            <p:cNvPr id="93" name="2025">
              <a:extLst>
                <a:ext uri="{FF2B5EF4-FFF2-40B4-BE49-F238E27FC236}">
                  <a16:creationId xmlns:a16="http://schemas.microsoft.com/office/drawing/2014/main" id="{4CA51477-225D-D32A-7FAE-B0DDB5715F29}"/>
                </a:ext>
              </a:extLst>
            </p:cNvPr>
            <p:cNvSpPr txBox="1"/>
            <p:nvPr/>
          </p:nvSpPr>
          <p:spPr>
            <a:xfrm>
              <a:off x="575995" y="8912910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2025</a:t>
              </a:r>
            </a:p>
          </p:txBody>
        </p:sp>
        <p:sp>
          <p:nvSpPr>
            <p:cNvPr id="94" name="Invited lecturer">
              <a:extLst>
                <a:ext uri="{FF2B5EF4-FFF2-40B4-BE49-F238E27FC236}">
                  <a16:creationId xmlns:a16="http://schemas.microsoft.com/office/drawing/2014/main" id="{03D2BB93-AC45-2495-698F-BFCC60D8F41F}"/>
                </a:ext>
              </a:extLst>
            </p:cNvPr>
            <p:cNvSpPr txBox="1"/>
            <p:nvPr/>
          </p:nvSpPr>
          <p:spPr>
            <a:xfrm>
              <a:off x="1511998" y="8912910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Invited lecturer</a:t>
              </a:r>
            </a:p>
          </p:txBody>
        </p:sp>
        <p:sp>
          <p:nvSpPr>
            <p:cNvPr id="95" name="Artificial neural networks to probe creativity">
              <a:extLst>
                <a:ext uri="{FF2B5EF4-FFF2-40B4-BE49-F238E27FC236}">
                  <a16:creationId xmlns:a16="http://schemas.microsoft.com/office/drawing/2014/main" id="{D2E17259-8ACC-B038-EE5A-17B6872B51E9}"/>
                </a:ext>
              </a:extLst>
            </p:cNvPr>
            <p:cNvSpPr txBox="1"/>
            <p:nvPr/>
          </p:nvSpPr>
          <p:spPr>
            <a:xfrm>
              <a:off x="1511998" y="9123172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Artificial neural networks to probe creativity</a:t>
              </a:r>
            </a:p>
          </p:txBody>
        </p:sp>
        <p:sp>
          <p:nvSpPr>
            <p:cNvPr id="96" name="Master iMind, PSL University">
              <a:extLst>
                <a:ext uri="{FF2B5EF4-FFF2-40B4-BE49-F238E27FC236}">
                  <a16:creationId xmlns:a16="http://schemas.microsoft.com/office/drawing/2014/main" id="{86BFB4AF-9843-E62F-358C-4766C8DD45DC}"/>
                </a:ext>
              </a:extLst>
            </p:cNvPr>
            <p:cNvSpPr txBox="1"/>
            <p:nvPr/>
          </p:nvSpPr>
          <p:spPr>
            <a:xfrm>
              <a:off x="1511998" y="9333433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Master 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iMind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, PSL University</a:t>
              </a:r>
            </a:p>
          </p:txBody>
        </p:sp>
      </p:grpSp>
      <p:grpSp>
        <p:nvGrpSpPr>
          <p:cNvPr id="103" name="Invited lecturer">
            <a:extLst>
              <a:ext uri="{FF2B5EF4-FFF2-40B4-BE49-F238E27FC236}">
                <a16:creationId xmlns:a16="http://schemas.microsoft.com/office/drawing/2014/main" id="{D5BF2AD0-30B7-96B1-B529-D4817F5B096F}"/>
              </a:ext>
            </a:extLst>
          </p:cNvPr>
          <p:cNvGrpSpPr/>
          <p:nvPr/>
        </p:nvGrpSpPr>
        <p:grpSpPr>
          <a:xfrm>
            <a:off x="575830" y="3128315"/>
            <a:ext cx="3391571" cy="601370"/>
            <a:chOff x="575995" y="1106424"/>
            <a:chExt cx="6408013" cy="601370"/>
          </a:xfrm>
        </p:grpSpPr>
        <p:sp>
          <p:nvSpPr>
            <p:cNvPr id="104" name="2024">
              <a:extLst>
                <a:ext uri="{FF2B5EF4-FFF2-40B4-BE49-F238E27FC236}">
                  <a16:creationId xmlns:a16="http://schemas.microsoft.com/office/drawing/2014/main" id="{22966BC5-E193-252D-B194-77EF388C07B9}"/>
                </a:ext>
              </a:extLst>
            </p:cNvPr>
            <p:cNvSpPr txBox="1"/>
            <p:nvPr/>
          </p:nvSpPr>
          <p:spPr>
            <a:xfrm>
              <a:off x="575995" y="1106424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2024</a:t>
              </a:r>
            </a:p>
          </p:txBody>
        </p:sp>
        <p:sp>
          <p:nvSpPr>
            <p:cNvPr id="105" name="Invited lecturer">
              <a:extLst>
                <a:ext uri="{FF2B5EF4-FFF2-40B4-BE49-F238E27FC236}">
                  <a16:creationId xmlns:a16="http://schemas.microsoft.com/office/drawing/2014/main" id="{973229EE-6286-5E8A-6063-0EA5A05F7154}"/>
                </a:ext>
              </a:extLst>
            </p:cNvPr>
            <p:cNvSpPr txBox="1"/>
            <p:nvPr/>
          </p:nvSpPr>
          <p:spPr>
            <a:xfrm>
              <a:off x="1511998" y="1106424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Helvetica" pitchFamily="2" charset="0"/>
                </a:rPr>
                <a:t>Invited lecturer</a:t>
              </a:r>
            </a:p>
          </p:txBody>
        </p:sp>
        <p:sp>
          <p:nvSpPr>
            <p:cNvPr id="106" name="Probing creativity with an experimental approach">
              <a:extLst>
                <a:ext uri="{FF2B5EF4-FFF2-40B4-BE49-F238E27FC236}">
                  <a16:creationId xmlns:a16="http://schemas.microsoft.com/office/drawing/2014/main" id="{DA2B137D-0C3B-2D18-436A-BE9AB74A9A3E}"/>
                </a:ext>
              </a:extLst>
            </p:cNvPr>
            <p:cNvSpPr txBox="1"/>
            <p:nvPr/>
          </p:nvSpPr>
          <p:spPr>
            <a:xfrm>
              <a:off x="1511998" y="1316685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Probing creativity with an experimental approach</a:t>
              </a:r>
            </a:p>
          </p:txBody>
        </p:sp>
        <p:sp>
          <p:nvSpPr>
            <p:cNvPr id="107" name="Master iMind, PSL University">
              <a:extLst>
                <a:ext uri="{FF2B5EF4-FFF2-40B4-BE49-F238E27FC236}">
                  <a16:creationId xmlns:a16="http://schemas.microsoft.com/office/drawing/2014/main" id="{550F02F3-191A-9845-A590-31364C2E3C32}"/>
                </a:ext>
              </a:extLst>
            </p:cNvPr>
            <p:cNvSpPr txBox="1"/>
            <p:nvPr/>
          </p:nvSpPr>
          <p:spPr>
            <a:xfrm>
              <a:off x="1511998" y="1526946"/>
              <a:ext cx="5472010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Master </a:t>
              </a: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iMind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, PSL University</a:t>
              </a:r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A6205ED-44B2-61D1-8EDA-DD16BE2EF59F}"/>
              </a:ext>
            </a:extLst>
          </p:cNvPr>
          <p:cNvSpPr/>
          <p:nvPr/>
        </p:nvSpPr>
        <p:spPr>
          <a:xfrm>
            <a:off x="575995" y="3820094"/>
            <a:ext cx="3276000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109" name="Student supervision">
            <a:extLst>
              <a:ext uri="{FF2B5EF4-FFF2-40B4-BE49-F238E27FC236}">
                <a16:creationId xmlns:a16="http://schemas.microsoft.com/office/drawing/2014/main" id="{958B4181-A3F9-0D2D-2DDB-63C1B5E43350}"/>
              </a:ext>
            </a:extLst>
          </p:cNvPr>
          <p:cNvSpPr txBox="1"/>
          <p:nvPr/>
        </p:nvSpPr>
        <p:spPr>
          <a:xfrm>
            <a:off x="1073150" y="3934394"/>
            <a:ext cx="2894416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66666"/>
                </a:solidFill>
                <a:latin typeface="Helvetica" pitchFamily="2" charset="0"/>
              </a:rPr>
              <a:t>Student supervision</a:t>
            </a:r>
          </a:p>
        </p:txBody>
      </p:sp>
      <p:grpSp>
        <p:nvGrpSpPr>
          <p:cNvPr id="110" name="Areti Daskalou">
            <a:extLst>
              <a:ext uri="{FF2B5EF4-FFF2-40B4-BE49-F238E27FC236}">
                <a16:creationId xmlns:a16="http://schemas.microsoft.com/office/drawing/2014/main" id="{ABEAADF0-C351-EC50-5903-DC1FDB661852}"/>
              </a:ext>
            </a:extLst>
          </p:cNvPr>
          <p:cNvGrpSpPr/>
          <p:nvPr/>
        </p:nvGrpSpPr>
        <p:grpSpPr>
          <a:xfrm>
            <a:off x="575995" y="4170614"/>
            <a:ext cx="3391571" cy="401472"/>
            <a:chOff x="575995" y="2248814"/>
            <a:chExt cx="6408013" cy="401472"/>
          </a:xfrm>
        </p:grpSpPr>
        <p:sp>
          <p:nvSpPr>
            <p:cNvPr id="111" name="2026">
              <a:extLst>
                <a:ext uri="{FF2B5EF4-FFF2-40B4-BE49-F238E27FC236}">
                  <a16:creationId xmlns:a16="http://schemas.microsoft.com/office/drawing/2014/main" id="{3FA6977C-A935-D849-5457-2DBAB63F9A1B}"/>
                </a:ext>
              </a:extLst>
            </p:cNvPr>
            <p:cNvSpPr txBox="1"/>
            <p:nvPr/>
          </p:nvSpPr>
          <p:spPr>
            <a:xfrm>
              <a:off x="575995" y="2248814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2026</a:t>
              </a:r>
            </a:p>
          </p:txBody>
        </p:sp>
        <p:sp>
          <p:nvSpPr>
            <p:cNvPr id="112" name="Areti Daskalou">
              <a:extLst>
                <a:ext uri="{FF2B5EF4-FFF2-40B4-BE49-F238E27FC236}">
                  <a16:creationId xmlns:a16="http://schemas.microsoft.com/office/drawing/2014/main" id="{968518E8-519B-8024-ECD7-E047C0A06E7A}"/>
                </a:ext>
              </a:extLst>
            </p:cNvPr>
            <p:cNvSpPr txBox="1"/>
            <p:nvPr/>
          </p:nvSpPr>
          <p:spPr>
            <a:xfrm>
              <a:off x="1511999" y="2248814"/>
              <a:ext cx="5472009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 dirty="0">
                  <a:solidFill>
                    <a:srgbClr val="111111"/>
                  </a:solidFill>
                  <a:latin typeface="Helvetica" pitchFamily="2" charset="0"/>
                </a:rPr>
                <a:t>Areti </a:t>
              </a:r>
              <a:r>
                <a:rPr sz="960" b="0" dirty="0" err="1">
                  <a:solidFill>
                    <a:srgbClr val="111111"/>
                  </a:solidFill>
                  <a:latin typeface="Helvetica" pitchFamily="2" charset="0"/>
                </a:rPr>
                <a:t>Daskalou</a:t>
              </a:r>
              <a:endParaRPr sz="960" b="0" dirty="0">
                <a:solidFill>
                  <a:srgbClr val="111111"/>
                </a:solidFill>
                <a:latin typeface="Helvetica" pitchFamily="2" charset="0"/>
              </a:endParaRPr>
            </a:p>
          </p:txBody>
        </p:sp>
        <p:sp>
          <p:nvSpPr>
            <p:cNvPr id="113" name="M.Sc · Methodological supervision">
              <a:extLst>
                <a:ext uri="{FF2B5EF4-FFF2-40B4-BE49-F238E27FC236}">
                  <a16:creationId xmlns:a16="http://schemas.microsoft.com/office/drawing/2014/main" id="{D3E52CB9-517A-CA86-76BE-2E16EA3406AC}"/>
                </a:ext>
              </a:extLst>
            </p:cNvPr>
            <p:cNvSpPr txBox="1"/>
            <p:nvPr/>
          </p:nvSpPr>
          <p:spPr>
            <a:xfrm>
              <a:off x="1511998" y="2459075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dirty="0" err="1">
                  <a:solidFill>
                    <a:srgbClr val="111111"/>
                  </a:solidFill>
                  <a:latin typeface="Helvetica Light" panose="020B0403020202020204" pitchFamily="34" charset="0"/>
                </a:rPr>
                <a:t>M.Sc</a:t>
              </a:r>
              <a:r>
                <a:rPr sz="96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 · Methodological supervision</a:t>
              </a:r>
            </a:p>
          </p:txBody>
        </p:sp>
      </p:grpSp>
      <p:grpSp>
        <p:nvGrpSpPr>
          <p:cNvPr id="114" name="Wissam Mokrani">
            <a:extLst>
              <a:ext uri="{FF2B5EF4-FFF2-40B4-BE49-F238E27FC236}">
                <a16:creationId xmlns:a16="http://schemas.microsoft.com/office/drawing/2014/main" id="{D15244B7-BA1C-E906-808F-79C5DD0EE2DB}"/>
              </a:ext>
            </a:extLst>
          </p:cNvPr>
          <p:cNvGrpSpPr/>
          <p:nvPr/>
        </p:nvGrpSpPr>
        <p:grpSpPr>
          <a:xfrm>
            <a:off x="575995" y="4648286"/>
            <a:ext cx="3391571" cy="401473"/>
            <a:chOff x="575995" y="2726486"/>
            <a:chExt cx="6408013" cy="401473"/>
          </a:xfrm>
        </p:grpSpPr>
        <p:sp>
          <p:nvSpPr>
            <p:cNvPr id="115" name="2026">
              <a:extLst>
                <a:ext uri="{FF2B5EF4-FFF2-40B4-BE49-F238E27FC236}">
                  <a16:creationId xmlns:a16="http://schemas.microsoft.com/office/drawing/2014/main" id="{AF1B4A49-13C1-92EA-CD38-A5C1191520B5}"/>
                </a:ext>
              </a:extLst>
            </p:cNvPr>
            <p:cNvSpPr txBox="1"/>
            <p:nvPr/>
          </p:nvSpPr>
          <p:spPr>
            <a:xfrm>
              <a:off x="575995" y="2726486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2026</a:t>
              </a:r>
            </a:p>
          </p:txBody>
        </p:sp>
        <p:sp>
          <p:nvSpPr>
            <p:cNvPr id="116" name="Wissam Mokrani">
              <a:extLst>
                <a:ext uri="{FF2B5EF4-FFF2-40B4-BE49-F238E27FC236}">
                  <a16:creationId xmlns:a16="http://schemas.microsoft.com/office/drawing/2014/main" id="{2B84058C-30B8-B423-D80B-23CD48CA13D8}"/>
                </a:ext>
              </a:extLst>
            </p:cNvPr>
            <p:cNvSpPr txBox="1"/>
            <p:nvPr/>
          </p:nvSpPr>
          <p:spPr>
            <a:xfrm>
              <a:off x="1511998" y="2726486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Wissam Mokrani</a:t>
              </a:r>
            </a:p>
          </p:txBody>
        </p:sp>
        <p:sp>
          <p:nvSpPr>
            <p:cNvPr id="117" name="B.Sc · Conceptual supervision">
              <a:extLst>
                <a:ext uri="{FF2B5EF4-FFF2-40B4-BE49-F238E27FC236}">
                  <a16:creationId xmlns:a16="http://schemas.microsoft.com/office/drawing/2014/main" id="{685723EB-1564-9294-5980-8D26BFCE1C1A}"/>
                </a:ext>
              </a:extLst>
            </p:cNvPr>
            <p:cNvSpPr txBox="1"/>
            <p:nvPr/>
          </p:nvSpPr>
          <p:spPr>
            <a:xfrm>
              <a:off x="1511998" y="2936748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dirty="0" err="1">
                  <a:solidFill>
                    <a:srgbClr val="111111"/>
                  </a:solidFill>
                  <a:latin typeface="Helvetica Light" panose="020B0403020202020204" pitchFamily="34" charset="0"/>
                </a:rPr>
                <a:t>B.Sc</a:t>
              </a:r>
              <a:r>
                <a:rPr sz="96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 · Conceptual supervision</a:t>
              </a:r>
            </a:p>
          </p:txBody>
        </p:sp>
      </p:grpSp>
      <p:grpSp>
        <p:nvGrpSpPr>
          <p:cNvPr id="118" name="Yasmin Schille">
            <a:extLst>
              <a:ext uri="{FF2B5EF4-FFF2-40B4-BE49-F238E27FC236}">
                <a16:creationId xmlns:a16="http://schemas.microsoft.com/office/drawing/2014/main" id="{FEE0D9EB-3233-905C-D6CA-606CBFA05CFB}"/>
              </a:ext>
            </a:extLst>
          </p:cNvPr>
          <p:cNvGrpSpPr/>
          <p:nvPr/>
        </p:nvGrpSpPr>
        <p:grpSpPr>
          <a:xfrm>
            <a:off x="575995" y="5125959"/>
            <a:ext cx="3391571" cy="401472"/>
            <a:chOff x="575995" y="3204159"/>
            <a:chExt cx="6408013" cy="401472"/>
          </a:xfrm>
        </p:grpSpPr>
        <p:sp>
          <p:nvSpPr>
            <p:cNvPr id="119" name="2025">
              <a:extLst>
                <a:ext uri="{FF2B5EF4-FFF2-40B4-BE49-F238E27FC236}">
                  <a16:creationId xmlns:a16="http://schemas.microsoft.com/office/drawing/2014/main" id="{1DA0A295-8F13-74CD-AF92-160CDEB3964C}"/>
                </a:ext>
              </a:extLst>
            </p:cNvPr>
            <p:cNvSpPr txBox="1"/>
            <p:nvPr/>
          </p:nvSpPr>
          <p:spPr>
            <a:xfrm>
              <a:off x="575995" y="3204159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2025</a:t>
              </a:r>
            </a:p>
          </p:txBody>
        </p:sp>
        <p:sp>
          <p:nvSpPr>
            <p:cNvPr id="120" name="Yasmin Schille">
              <a:extLst>
                <a:ext uri="{FF2B5EF4-FFF2-40B4-BE49-F238E27FC236}">
                  <a16:creationId xmlns:a16="http://schemas.microsoft.com/office/drawing/2014/main" id="{36A09E59-A54F-D8CD-B869-DAD0BEF9909E}"/>
                </a:ext>
              </a:extLst>
            </p:cNvPr>
            <p:cNvSpPr txBox="1"/>
            <p:nvPr/>
          </p:nvSpPr>
          <p:spPr>
            <a:xfrm>
              <a:off x="1511998" y="3204159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Yasmin Schille</a:t>
              </a:r>
            </a:p>
          </p:txBody>
        </p:sp>
        <p:sp>
          <p:nvSpPr>
            <p:cNvPr id="121" name="B.Sc · Methodological supervision">
              <a:extLst>
                <a:ext uri="{FF2B5EF4-FFF2-40B4-BE49-F238E27FC236}">
                  <a16:creationId xmlns:a16="http://schemas.microsoft.com/office/drawing/2014/main" id="{76AE7FB9-A012-BC0F-4DE9-C5288653689A}"/>
                </a:ext>
              </a:extLst>
            </p:cNvPr>
            <p:cNvSpPr txBox="1"/>
            <p:nvPr/>
          </p:nvSpPr>
          <p:spPr>
            <a:xfrm>
              <a:off x="1511998" y="3414420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dirty="0" err="1">
                  <a:solidFill>
                    <a:srgbClr val="111111"/>
                  </a:solidFill>
                  <a:latin typeface="Helvetica Light" panose="020B0403020202020204" pitchFamily="34" charset="0"/>
                </a:rPr>
                <a:t>B.Sc</a:t>
              </a:r>
              <a:r>
                <a:rPr sz="96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 · Methodological supervision</a:t>
              </a:r>
            </a:p>
          </p:txBody>
        </p:sp>
      </p:grpSp>
      <p:grpSp>
        <p:nvGrpSpPr>
          <p:cNvPr id="122" name="Julie Tang">
            <a:extLst>
              <a:ext uri="{FF2B5EF4-FFF2-40B4-BE49-F238E27FC236}">
                <a16:creationId xmlns:a16="http://schemas.microsoft.com/office/drawing/2014/main" id="{2A5AF8C5-D986-ABDC-6B0B-C6315FCB5BAC}"/>
              </a:ext>
            </a:extLst>
          </p:cNvPr>
          <p:cNvGrpSpPr/>
          <p:nvPr/>
        </p:nvGrpSpPr>
        <p:grpSpPr>
          <a:xfrm>
            <a:off x="575995" y="5603631"/>
            <a:ext cx="3391571" cy="401472"/>
            <a:chOff x="575995" y="3681831"/>
            <a:chExt cx="6408013" cy="401472"/>
          </a:xfrm>
        </p:grpSpPr>
        <p:sp>
          <p:nvSpPr>
            <p:cNvPr id="123" name="2024">
              <a:extLst>
                <a:ext uri="{FF2B5EF4-FFF2-40B4-BE49-F238E27FC236}">
                  <a16:creationId xmlns:a16="http://schemas.microsoft.com/office/drawing/2014/main" id="{167FC99C-C2BF-DC14-71C2-0CF6AAC7766B}"/>
                </a:ext>
              </a:extLst>
            </p:cNvPr>
            <p:cNvSpPr txBox="1"/>
            <p:nvPr/>
          </p:nvSpPr>
          <p:spPr>
            <a:xfrm>
              <a:off x="575995" y="3681831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2024</a:t>
              </a:r>
            </a:p>
          </p:txBody>
        </p:sp>
        <p:sp>
          <p:nvSpPr>
            <p:cNvPr id="124" name="Julie Tang">
              <a:extLst>
                <a:ext uri="{FF2B5EF4-FFF2-40B4-BE49-F238E27FC236}">
                  <a16:creationId xmlns:a16="http://schemas.microsoft.com/office/drawing/2014/main" id="{EDEDBD6E-46D0-BAE6-9627-7AF367A6F903}"/>
                </a:ext>
              </a:extLst>
            </p:cNvPr>
            <p:cNvSpPr txBox="1"/>
            <p:nvPr/>
          </p:nvSpPr>
          <p:spPr>
            <a:xfrm>
              <a:off x="1511998" y="3681831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Helvetica" pitchFamily="2" charset="0"/>
                </a:rPr>
                <a:t>Julie Tang</a:t>
              </a:r>
            </a:p>
          </p:txBody>
        </p:sp>
        <p:sp>
          <p:nvSpPr>
            <p:cNvPr id="125" name="M.Sc · Methodological supervision">
              <a:extLst>
                <a:ext uri="{FF2B5EF4-FFF2-40B4-BE49-F238E27FC236}">
                  <a16:creationId xmlns:a16="http://schemas.microsoft.com/office/drawing/2014/main" id="{1BC74C60-4C62-D3A0-F574-0BD1784913C1}"/>
                </a:ext>
              </a:extLst>
            </p:cNvPr>
            <p:cNvSpPr txBox="1"/>
            <p:nvPr/>
          </p:nvSpPr>
          <p:spPr>
            <a:xfrm>
              <a:off x="1511998" y="3892092"/>
              <a:ext cx="5472010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dirty="0" err="1">
                  <a:solidFill>
                    <a:srgbClr val="111111"/>
                  </a:solidFill>
                  <a:latin typeface="Helvetica Light" panose="020B0403020202020204" pitchFamily="34" charset="0"/>
                </a:rPr>
                <a:t>M.Sc</a:t>
              </a:r>
              <a:r>
                <a:rPr sz="960" dirty="0">
                  <a:solidFill>
                    <a:srgbClr val="111111"/>
                  </a:solidFill>
                  <a:latin typeface="Helvetica Light" panose="020B0403020202020204" pitchFamily="34" charset="0"/>
                </a:rPr>
                <a:t> · Methodological supervision</a:t>
              </a:r>
            </a:p>
          </p:txBody>
        </p:sp>
      </p:grpSp>
      <p:sp>
        <p:nvSpPr>
          <p:cNvPr id="126" name="SERVICE &amp; OUTREACH">
            <a:extLst>
              <a:ext uri="{FF2B5EF4-FFF2-40B4-BE49-F238E27FC236}">
                <a16:creationId xmlns:a16="http://schemas.microsoft.com/office/drawing/2014/main" id="{ADF8BB65-C61B-A351-A126-6A79D217B85C}"/>
              </a:ext>
            </a:extLst>
          </p:cNvPr>
          <p:cNvSpPr txBox="1"/>
          <p:nvPr/>
        </p:nvSpPr>
        <p:spPr>
          <a:xfrm>
            <a:off x="4141411" y="529537"/>
            <a:ext cx="3877561" cy="1704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Helvetica" pitchFamily="2" charset="0"/>
              </a:rPr>
              <a:t>SERVICE &amp; OUTREACH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12FC674E-D465-5AE7-5835-1852EDEEE40E}"/>
              </a:ext>
            </a:extLst>
          </p:cNvPr>
          <p:cNvSpPr/>
          <p:nvPr/>
        </p:nvSpPr>
        <p:spPr>
          <a:xfrm>
            <a:off x="3989011" y="732737"/>
            <a:ext cx="3972027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128" name="Conference organisation">
            <a:extLst>
              <a:ext uri="{FF2B5EF4-FFF2-40B4-BE49-F238E27FC236}">
                <a16:creationId xmlns:a16="http://schemas.microsoft.com/office/drawing/2014/main" id="{D724A2C2-725A-7CC6-A570-C343EC6BB414}"/>
              </a:ext>
            </a:extLst>
          </p:cNvPr>
          <p:cNvSpPr txBox="1"/>
          <p:nvPr/>
        </p:nvSpPr>
        <p:spPr>
          <a:xfrm>
            <a:off x="4452426" y="852916"/>
            <a:ext cx="1522266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66666"/>
                </a:solidFill>
                <a:latin typeface="Helvetica" pitchFamily="2" charset="0"/>
              </a:rPr>
              <a:t>Conference </a:t>
            </a:r>
            <a:r>
              <a:rPr sz="1000" b="1" dirty="0" err="1">
                <a:solidFill>
                  <a:srgbClr val="666666"/>
                </a:solidFill>
                <a:latin typeface="Helvetica" pitchFamily="2" charset="0"/>
              </a:rPr>
              <a:t>organisation</a:t>
            </a:r>
            <a:endParaRPr sz="1000" b="1" dirty="0">
              <a:solidFill>
                <a:srgbClr val="666666"/>
              </a:solidFill>
              <a:latin typeface="Helvetica" pitchFamily="2" charset="0"/>
            </a:endParaRP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50572395-EAAD-C1A2-4BE3-23D2D746B7D0}"/>
              </a:ext>
            </a:extLst>
          </p:cNvPr>
          <p:cNvGrpSpPr/>
          <p:nvPr/>
        </p:nvGrpSpPr>
        <p:grpSpPr>
          <a:xfrm>
            <a:off x="4453250" y="1098360"/>
            <a:ext cx="628416" cy="164743"/>
            <a:chOff x="8349740" y="4102083"/>
            <a:chExt cx="628416" cy="164743"/>
          </a:xfrm>
        </p:grpSpPr>
        <p:sp>
          <p:nvSpPr>
            <p:cNvPr id="131" name="Rounded Rectangle 130">
              <a:extLst>
                <a:ext uri="{FF2B5EF4-FFF2-40B4-BE49-F238E27FC236}">
                  <a16:creationId xmlns:a16="http://schemas.microsoft.com/office/drawing/2014/main" id="{86DD07B5-A387-F22C-4193-49115352A8E0}"/>
                </a:ext>
              </a:extLst>
            </p:cNvPr>
            <p:cNvSpPr/>
            <p:nvPr/>
          </p:nvSpPr>
          <p:spPr>
            <a:xfrm>
              <a:off x="8349740" y="4102083"/>
              <a:ext cx="628415" cy="152400"/>
            </a:xfrm>
            <a:prstGeom prst="roundRect">
              <a:avLst>
                <a:gd name="adj" fmla="val 12000"/>
              </a:avLst>
            </a:prstGeom>
            <a:solidFill>
              <a:srgbClr val="F0F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132" name="VOLUNTEER">
              <a:extLst>
                <a:ext uri="{FF2B5EF4-FFF2-40B4-BE49-F238E27FC236}">
                  <a16:creationId xmlns:a16="http://schemas.microsoft.com/office/drawing/2014/main" id="{AAED2E1A-D320-4DD9-1112-7A2C63868DBC}"/>
                </a:ext>
              </a:extLst>
            </p:cNvPr>
            <p:cNvSpPr txBox="1"/>
            <p:nvPr/>
          </p:nvSpPr>
          <p:spPr>
            <a:xfrm>
              <a:off x="8349740" y="4114426"/>
              <a:ext cx="628416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 dirty="0">
                  <a:solidFill>
                    <a:srgbClr val="595959"/>
                  </a:solidFill>
                  <a:latin typeface="Helvetica" pitchFamily="2" charset="0"/>
                </a:rPr>
                <a:t>VOLUNTEER</a:t>
              </a:r>
            </a:p>
          </p:txBody>
        </p:sp>
      </p:grpSp>
      <p:sp>
        <p:nvSpPr>
          <p:cNvPr id="130" name="2025">
            <a:extLst>
              <a:ext uri="{FF2B5EF4-FFF2-40B4-BE49-F238E27FC236}">
                <a16:creationId xmlns:a16="http://schemas.microsoft.com/office/drawing/2014/main" id="{3ED38827-B0FC-F8B3-D97C-B765254B22BB}"/>
              </a:ext>
            </a:extLst>
          </p:cNvPr>
          <p:cNvSpPr txBox="1"/>
          <p:nvPr/>
        </p:nvSpPr>
        <p:spPr>
          <a:xfrm>
            <a:off x="3989011" y="1095957"/>
            <a:ext cx="535557" cy="180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666666"/>
                </a:solidFill>
                <a:latin typeface="Helvetica" pitchFamily="2" charset="0"/>
              </a:rPr>
              <a:t>2025</a:t>
            </a:r>
          </a:p>
        </p:txBody>
      </p:sp>
      <p:sp>
        <p:nvSpPr>
          <p:cNvPr id="133" name="SfNC meeting">
            <a:extLst>
              <a:ext uri="{FF2B5EF4-FFF2-40B4-BE49-F238E27FC236}">
                <a16:creationId xmlns:a16="http://schemas.microsoft.com/office/drawing/2014/main" id="{EE3EC653-193A-D18D-A6C8-14E08F3DFC74}"/>
              </a:ext>
            </a:extLst>
          </p:cNvPr>
          <p:cNvSpPr txBox="1"/>
          <p:nvPr/>
        </p:nvSpPr>
        <p:spPr>
          <a:xfrm>
            <a:off x="5136770" y="1098003"/>
            <a:ext cx="841594" cy="191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60" dirty="0" err="1">
                <a:solidFill>
                  <a:srgbClr val="111111"/>
                </a:solidFill>
                <a:latin typeface="Helvetica Light" panose="020B0403020202020204" pitchFamily="34" charset="0"/>
              </a:rPr>
              <a:t>SfNC</a:t>
            </a:r>
            <a:r>
              <a:rPr sz="960" dirty="0">
                <a:solidFill>
                  <a:srgbClr val="111111"/>
                </a:solidFill>
                <a:latin typeface="Helvetica Light" panose="020B0403020202020204" pitchFamily="34" charset="0"/>
              </a:rPr>
              <a:t> meeting</a:t>
            </a:r>
          </a:p>
        </p:txBody>
      </p:sp>
      <p:sp>
        <p:nvSpPr>
          <p:cNvPr id="145" name="Public outreach &amp; science communication">
            <a:extLst>
              <a:ext uri="{FF2B5EF4-FFF2-40B4-BE49-F238E27FC236}">
                <a16:creationId xmlns:a16="http://schemas.microsoft.com/office/drawing/2014/main" id="{C3853863-A187-5908-AC00-B4EAE961629C}"/>
              </a:ext>
            </a:extLst>
          </p:cNvPr>
          <p:cNvSpPr txBox="1"/>
          <p:nvPr/>
        </p:nvSpPr>
        <p:spPr>
          <a:xfrm>
            <a:off x="4457699" y="1937891"/>
            <a:ext cx="3391843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66666"/>
                </a:solidFill>
                <a:latin typeface="Helvetica" pitchFamily="2" charset="0"/>
              </a:rPr>
              <a:t>Public outreach &amp; science communication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6CCE1950-B867-FE90-94A0-9911EA46583E}"/>
              </a:ext>
            </a:extLst>
          </p:cNvPr>
          <p:cNvGrpSpPr/>
          <p:nvPr/>
        </p:nvGrpSpPr>
        <p:grpSpPr>
          <a:xfrm>
            <a:off x="4457700" y="2176794"/>
            <a:ext cx="817391" cy="159105"/>
            <a:chOff x="8288729" y="5381480"/>
            <a:chExt cx="817391" cy="159105"/>
          </a:xfrm>
        </p:grpSpPr>
        <p:sp>
          <p:nvSpPr>
            <p:cNvPr id="148" name="Rounded Rectangle 147">
              <a:extLst>
                <a:ext uri="{FF2B5EF4-FFF2-40B4-BE49-F238E27FC236}">
                  <a16:creationId xmlns:a16="http://schemas.microsoft.com/office/drawing/2014/main" id="{6FC8DF6A-6DBD-F12B-ED51-3D9621A097F2}"/>
                </a:ext>
              </a:extLst>
            </p:cNvPr>
            <p:cNvSpPr/>
            <p:nvPr/>
          </p:nvSpPr>
          <p:spPr>
            <a:xfrm>
              <a:off x="8288729" y="5381480"/>
              <a:ext cx="803571" cy="152400"/>
            </a:xfrm>
            <a:prstGeom prst="roundRect">
              <a:avLst>
                <a:gd name="adj" fmla="val 12000"/>
              </a:avLst>
            </a:prstGeom>
            <a:solidFill>
              <a:srgbClr val="44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149" name="CO-ORGANISER">
              <a:extLst>
                <a:ext uri="{FF2B5EF4-FFF2-40B4-BE49-F238E27FC236}">
                  <a16:creationId xmlns:a16="http://schemas.microsoft.com/office/drawing/2014/main" id="{5F0D758E-A132-2453-24E6-7730D8F4108E}"/>
                </a:ext>
              </a:extLst>
            </p:cNvPr>
            <p:cNvSpPr txBox="1"/>
            <p:nvPr/>
          </p:nvSpPr>
          <p:spPr>
            <a:xfrm>
              <a:off x="8302548" y="5388185"/>
              <a:ext cx="803572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 dirty="0">
                  <a:solidFill>
                    <a:srgbClr val="FFFFFF"/>
                  </a:solidFill>
                  <a:latin typeface="Helvetica" pitchFamily="2" charset="0"/>
                </a:rPr>
                <a:t>CO-ORGANISER</a:t>
              </a:r>
            </a:p>
          </p:txBody>
        </p:sp>
      </p:grpSp>
      <p:sp>
        <p:nvSpPr>
          <p:cNvPr id="147" name="2025">
            <a:extLst>
              <a:ext uri="{FF2B5EF4-FFF2-40B4-BE49-F238E27FC236}">
                <a16:creationId xmlns:a16="http://schemas.microsoft.com/office/drawing/2014/main" id="{45EDDFA4-025C-30CD-2138-E8A269FEEE01}"/>
              </a:ext>
            </a:extLst>
          </p:cNvPr>
          <p:cNvSpPr txBox="1"/>
          <p:nvPr/>
        </p:nvSpPr>
        <p:spPr>
          <a:xfrm>
            <a:off x="3989011" y="2175559"/>
            <a:ext cx="325781" cy="180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Helvetica" pitchFamily="2" charset="0"/>
              </a:rPr>
              <a:t>2025</a:t>
            </a:r>
          </a:p>
        </p:txBody>
      </p:sp>
      <p:sp>
        <p:nvSpPr>
          <p:cNvPr id="150" name="MasterClass on creativity">
            <a:extLst>
              <a:ext uri="{FF2B5EF4-FFF2-40B4-BE49-F238E27FC236}">
                <a16:creationId xmlns:a16="http://schemas.microsoft.com/office/drawing/2014/main" id="{ABAF4040-1B4E-0D8A-925F-AB6EDDDAE37E}"/>
              </a:ext>
            </a:extLst>
          </p:cNvPr>
          <p:cNvSpPr txBox="1"/>
          <p:nvPr/>
        </p:nvSpPr>
        <p:spPr>
          <a:xfrm>
            <a:off x="5328389" y="2165196"/>
            <a:ext cx="2830953" cy="191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60" b="0" dirty="0" err="1">
                <a:solidFill>
                  <a:srgbClr val="111111"/>
                </a:solidFill>
                <a:latin typeface="Helvetica" pitchFamily="2" charset="0"/>
              </a:rPr>
              <a:t>MasterClass</a:t>
            </a:r>
            <a:r>
              <a:rPr sz="960" b="0" dirty="0">
                <a:solidFill>
                  <a:srgbClr val="111111"/>
                </a:solidFill>
                <a:latin typeface="Helvetica" pitchFamily="2" charset="0"/>
              </a:rPr>
              <a:t> on creativity</a:t>
            </a:r>
          </a:p>
        </p:txBody>
      </p:sp>
      <p:sp>
        <p:nvSpPr>
          <p:cNvPr id="151" name="Paris Brain Institute">
            <a:extLst>
              <a:ext uri="{FF2B5EF4-FFF2-40B4-BE49-F238E27FC236}">
                <a16:creationId xmlns:a16="http://schemas.microsoft.com/office/drawing/2014/main" id="{3CCB35EF-D06C-02CF-A7DE-C90BF911C5F2}"/>
              </a:ext>
            </a:extLst>
          </p:cNvPr>
          <p:cNvSpPr txBox="1"/>
          <p:nvPr/>
        </p:nvSpPr>
        <p:spPr>
          <a:xfrm>
            <a:off x="4457700" y="2381315"/>
            <a:ext cx="3391843" cy="180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666666"/>
                </a:solidFill>
                <a:latin typeface="Helvetica Light" panose="020B0403020202020204" pitchFamily="34" charset="0"/>
              </a:rPr>
              <a:t>Paris Brain Institute</a:t>
            </a:r>
          </a:p>
        </p:txBody>
      </p:sp>
      <p:grpSp>
        <p:nvGrpSpPr>
          <p:cNvPr id="152" name="Creativity · Brain Awareness Week">
            <a:extLst>
              <a:ext uri="{FF2B5EF4-FFF2-40B4-BE49-F238E27FC236}">
                <a16:creationId xmlns:a16="http://schemas.microsoft.com/office/drawing/2014/main" id="{E24ACD65-108F-EB84-63CD-CD020D7B175C}"/>
              </a:ext>
            </a:extLst>
          </p:cNvPr>
          <p:cNvGrpSpPr/>
          <p:nvPr/>
        </p:nvGrpSpPr>
        <p:grpSpPr>
          <a:xfrm>
            <a:off x="3989011" y="2639136"/>
            <a:ext cx="4151970" cy="399597"/>
            <a:chOff x="575995" y="8782991"/>
            <a:chExt cx="6698312" cy="399597"/>
          </a:xfrm>
        </p:grpSpPr>
        <p:sp>
          <p:nvSpPr>
            <p:cNvPr id="153" name="2025">
              <a:extLst>
                <a:ext uri="{FF2B5EF4-FFF2-40B4-BE49-F238E27FC236}">
                  <a16:creationId xmlns:a16="http://schemas.microsoft.com/office/drawing/2014/main" id="{7DB0A3D5-06E8-AAD6-17CC-F2F484817731}"/>
                </a:ext>
              </a:extLst>
            </p:cNvPr>
            <p:cNvSpPr txBox="1"/>
            <p:nvPr/>
          </p:nvSpPr>
          <p:spPr>
            <a:xfrm>
              <a:off x="575995" y="8786723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2025</a:t>
              </a:r>
            </a:p>
          </p:txBody>
        </p:sp>
        <p:sp>
          <p:nvSpPr>
            <p:cNvPr id="156" name="Creativity · Brain Awareness Week">
              <a:extLst>
                <a:ext uri="{FF2B5EF4-FFF2-40B4-BE49-F238E27FC236}">
                  <a16:creationId xmlns:a16="http://schemas.microsoft.com/office/drawing/2014/main" id="{564297DF-E2E3-30BB-85AA-FA9813D26C6C}"/>
                </a:ext>
              </a:extLst>
            </p:cNvPr>
            <p:cNvSpPr txBox="1"/>
            <p:nvPr/>
          </p:nvSpPr>
          <p:spPr>
            <a:xfrm>
              <a:off x="2707172" y="8782991"/>
              <a:ext cx="4567135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 dirty="0">
                  <a:solidFill>
                    <a:srgbClr val="111111"/>
                  </a:solidFill>
                  <a:latin typeface="Helvetica" pitchFamily="2" charset="0"/>
                </a:rPr>
                <a:t>Creativity · Brain Week</a:t>
              </a:r>
            </a:p>
          </p:txBody>
        </p:sp>
        <p:sp>
          <p:nvSpPr>
            <p:cNvPr id="157" name="Paris Brain Institute">
              <a:extLst>
                <a:ext uri="{FF2B5EF4-FFF2-40B4-BE49-F238E27FC236}">
                  <a16:creationId xmlns:a16="http://schemas.microsoft.com/office/drawing/2014/main" id="{20E8EAD8-D244-DB1D-B863-276E36F41E3D}"/>
                </a:ext>
              </a:extLst>
            </p:cNvPr>
            <p:cNvSpPr txBox="1"/>
            <p:nvPr/>
          </p:nvSpPr>
          <p:spPr>
            <a:xfrm>
              <a:off x="1332122" y="9001740"/>
              <a:ext cx="5472011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Paris Brain Institute</a:t>
              </a:r>
            </a:p>
          </p:txBody>
        </p: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B765CA96-15D6-B167-0BD4-5ADB79983A3A}"/>
              </a:ext>
            </a:extLst>
          </p:cNvPr>
          <p:cNvGrpSpPr/>
          <p:nvPr/>
        </p:nvGrpSpPr>
        <p:grpSpPr>
          <a:xfrm>
            <a:off x="4457700" y="3105573"/>
            <a:ext cx="596843" cy="163416"/>
            <a:chOff x="4294278" y="3104793"/>
            <a:chExt cx="596843" cy="163416"/>
          </a:xfrm>
        </p:grpSpPr>
        <p:sp>
          <p:nvSpPr>
            <p:cNvPr id="160" name="Rounded Rectangle 159">
              <a:extLst>
                <a:ext uri="{FF2B5EF4-FFF2-40B4-BE49-F238E27FC236}">
                  <a16:creationId xmlns:a16="http://schemas.microsoft.com/office/drawing/2014/main" id="{289A1150-439E-DEB8-8463-1A171F793D6B}"/>
                </a:ext>
              </a:extLst>
            </p:cNvPr>
            <p:cNvSpPr/>
            <p:nvPr/>
          </p:nvSpPr>
          <p:spPr>
            <a:xfrm>
              <a:off x="4294278" y="3104793"/>
              <a:ext cx="596843" cy="152400"/>
            </a:xfrm>
            <a:prstGeom prst="roundRect">
              <a:avLst>
                <a:gd name="adj" fmla="val 12000"/>
              </a:avLst>
            </a:prstGeom>
            <a:solidFill>
              <a:srgbClr val="D8D8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161" name="INTERVIEW">
              <a:extLst>
                <a:ext uri="{FF2B5EF4-FFF2-40B4-BE49-F238E27FC236}">
                  <a16:creationId xmlns:a16="http://schemas.microsoft.com/office/drawing/2014/main" id="{69724282-4EC5-E7BA-5090-40D563AFEFCA}"/>
                </a:ext>
              </a:extLst>
            </p:cNvPr>
            <p:cNvSpPr txBox="1"/>
            <p:nvPr/>
          </p:nvSpPr>
          <p:spPr>
            <a:xfrm>
              <a:off x="4294278" y="3115809"/>
              <a:ext cx="581099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 dirty="0">
                  <a:solidFill>
                    <a:srgbClr val="333333"/>
                  </a:solidFill>
                  <a:latin typeface="Helvetica" pitchFamily="2" charset="0"/>
                </a:rPr>
                <a:t>INTERVIEW</a:t>
              </a:r>
            </a:p>
          </p:txBody>
        </p:sp>
      </p:grpSp>
      <p:sp>
        <p:nvSpPr>
          <p:cNvPr id="159" name="2025">
            <a:extLst>
              <a:ext uri="{FF2B5EF4-FFF2-40B4-BE49-F238E27FC236}">
                <a16:creationId xmlns:a16="http://schemas.microsoft.com/office/drawing/2014/main" id="{0FC28FDA-11CF-887E-EDD7-6E6D1D8D2441}"/>
              </a:ext>
            </a:extLst>
          </p:cNvPr>
          <p:cNvSpPr txBox="1"/>
          <p:nvPr/>
        </p:nvSpPr>
        <p:spPr>
          <a:xfrm>
            <a:off x="3989011" y="3110177"/>
            <a:ext cx="535557" cy="180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666666"/>
                </a:solidFill>
                <a:latin typeface="Helvetica" pitchFamily="2" charset="0"/>
              </a:rPr>
              <a:t>2025</a:t>
            </a:r>
          </a:p>
        </p:txBody>
      </p:sp>
      <p:sp>
        <p:nvSpPr>
          <p:cNvPr id="162" name="Grand Prix Halphen 2025 — témoignages">
            <a:extLst>
              <a:ext uri="{FF2B5EF4-FFF2-40B4-BE49-F238E27FC236}">
                <a16:creationId xmlns:a16="http://schemas.microsoft.com/office/drawing/2014/main" id="{8E7FD535-10EA-B8C5-2767-04CAF4481880}"/>
              </a:ext>
            </a:extLst>
          </p:cNvPr>
          <p:cNvSpPr txBox="1"/>
          <p:nvPr/>
        </p:nvSpPr>
        <p:spPr>
          <a:xfrm>
            <a:off x="5122156" y="3086358"/>
            <a:ext cx="2963810" cy="191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60" b="0" dirty="0">
                <a:solidFill>
                  <a:srgbClr val="111111"/>
                </a:solidFill>
                <a:latin typeface="Helvetica" pitchFamily="2" charset="0"/>
              </a:rPr>
              <a:t>Grand Prix Halphen 2025</a:t>
            </a:r>
          </a:p>
        </p:txBody>
      </p:sp>
      <p:sp>
        <p:nvSpPr>
          <p:cNvPr id="163" name="Philippe &amp; Maria Halphen Foundation">
            <a:extLst>
              <a:ext uri="{FF2B5EF4-FFF2-40B4-BE49-F238E27FC236}">
                <a16:creationId xmlns:a16="http://schemas.microsoft.com/office/drawing/2014/main" id="{22A8550A-F4CE-5BD7-6B5E-AF62BC121A9B}"/>
              </a:ext>
            </a:extLst>
          </p:cNvPr>
          <p:cNvSpPr txBox="1"/>
          <p:nvPr/>
        </p:nvSpPr>
        <p:spPr>
          <a:xfrm>
            <a:off x="4457700" y="3317674"/>
            <a:ext cx="3391843" cy="180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666666"/>
                </a:solidFill>
                <a:latin typeface="Helvetica Light" panose="020B0403020202020204" pitchFamily="34" charset="0"/>
              </a:rPr>
              <a:t>Philippe &amp; Maria Halphen Foundation</a:t>
            </a:r>
          </a:p>
        </p:txBody>
      </p: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80923D0-FB67-65A9-6341-1606129FC9A7}"/>
              </a:ext>
            </a:extLst>
          </p:cNvPr>
          <p:cNvGrpSpPr/>
          <p:nvPr/>
        </p:nvGrpSpPr>
        <p:grpSpPr>
          <a:xfrm>
            <a:off x="4457700" y="3574644"/>
            <a:ext cx="625395" cy="164514"/>
            <a:chOff x="4294278" y="3574031"/>
            <a:chExt cx="625395" cy="164514"/>
          </a:xfrm>
        </p:grpSpPr>
        <p:sp>
          <p:nvSpPr>
            <p:cNvPr id="167" name="Rounded Rectangle 166">
              <a:extLst>
                <a:ext uri="{FF2B5EF4-FFF2-40B4-BE49-F238E27FC236}">
                  <a16:creationId xmlns:a16="http://schemas.microsoft.com/office/drawing/2014/main" id="{4657E412-713E-F3E2-0FC2-D4D14CC8FE71}"/>
                </a:ext>
              </a:extLst>
            </p:cNvPr>
            <p:cNvSpPr/>
            <p:nvPr/>
          </p:nvSpPr>
          <p:spPr>
            <a:xfrm>
              <a:off x="4294278" y="3574031"/>
              <a:ext cx="625395" cy="152400"/>
            </a:xfrm>
            <a:prstGeom prst="roundRect">
              <a:avLst>
                <a:gd name="adj" fmla="val 12000"/>
              </a:avLst>
            </a:prstGeom>
            <a:solidFill>
              <a:srgbClr val="44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168" name="ORGANISER">
              <a:extLst>
                <a:ext uri="{FF2B5EF4-FFF2-40B4-BE49-F238E27FC236}">
                  <a16:creationId xmlns:a16="http://schemas.microsoft.com/office/drawing/2014/main" id="{587F2258-0777-FB18-D488-D1D1C7A80989}"/>
                </a:ext>
              </a:extLst>
            </p:cNvPr>
            <p:cNvSpPr txBox="1"/>
            <p:nvPr/>
          </p:nvSpPr>
          <p:spPr>
            <a:xfrm>
              <a:off x="4294278" y="3586145"/>
              <a:ext cx="609652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 dirty="0">
                  <a:solidFill>
                    <a:srgbClr val="FFFFFF"/>
                  </a:solidFill>
                  <a:latin typeface="Helvetica" pitchFamily="2" charset="0"/>
                </a:rPr>
                <a:t>ORGANISER</a:t>
              </a:r>
            </a:p>
          </p:txBody>
        </p:sp>
      </p:grpSp>
      <p:sp>
        <p:nvSpPr>
          <p:cNvPr id="166" name="2023">
            <a:extLst>
              <a:ext uri="{FF2B5EF4-FFF2-40B4-BE49-F238E27FC236}">
                <a16:creationId xmlns:a16="http://schemas.microsoft.com/office/drawing/2014/main" id="{DFF6D18C-D1D4-0DF6-9E1E-9DA3F53426BE}"/>
              </a:ext>
            </a:extLst>
          </p:cNvPr>
          <p:cNvSpPr txBox="1"/>
          <p:nvPr/>
        </p:nvSpPr>
        <p:spPr>
          <a:xfrm>
            <a:off x="3989011" y="3575176"/>
            <a:ext cx="535557" cy="180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Helvetica" pitchFamily="2" charset="0"/>
              </a:rPr>
              <a:t>2023</a:t>
            </a:r>
          </a:p>
        </p:txBody>
      </p:sp>
      <p:sp>
        <p:nvSpPr>
          <p:cNvPr id="169" name="Bipolar disorder roundtable · Brain Awareness Week">
            <a:extLst>
              <a:ext uri="{FF2B5EF4-FFF2-40B4-BE49-F238E27FC236}">
                <a16:creationId xmlns:a16="http://schemas.microsoft.com/office/drawing/2014/main" id="{48779F7B-ACF3-AD32-443B-BAE38B0581A3}"/>
              </a:ext>
            </a:extLst>
          </p:cNvPr>
          <p:cNvSpPr txBox="1"/>
          <p:nvPr/>
        </p:nvSpPr>
        <p:spPr>
          <a:xfrm>
            <a:off x="5129500" y="3554014"/>
            <a:ext cx="2935259" cy="191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960" b="0" dirty="0" err="1">
                <a:solidFill>
                  <a:srgbClr val="111111"/>
                </a:solidFill>
                <a:latin typeface="Helvetica" pitchFamily="2" charset="0"/>
              </a:rPr>
              <a:t>Bipolar</a:t>
            </a:r>
            <a:r>
              <a:rPr sz="960" b="0" dirty="0">
                <a:solidFill>
                  <a:srgbClr val="111111"/>
                </a:solidFill>
                <a:latin typeface="Helvetica" pitchFamily="2" charset="0"/>
              </a:rPr>
              <a:t> disorder roundtable</a:t>
            </a:r>
          </a:p>
        </p:txBody>
      </p:sp>
      <p:sp>
        <p:nvSpPr>
          <p:cNvPr id="170" name="With Dr. Fabien Vinckier (MD, PhD) and writer Ariane Monceau">
            <a:extLst>
              <a:ext uri="{FF2B5EF4-FFF2-40B4-BE49-F238E27FC236}">
                <a16:creationId xmlns:a16="http://schemas.microsoft.com/office/drawing/2014/main" id="{1F9A14E0-290E-7AE4-6410-8EBED0168975}"/>
              </a:ext>
            </a:extLst>
          </p:cNvPr>
          <p:cNvSpPr txBox="1"/>
          <p:nvPr/>
        </p:nvSpPr>
        <p:spPr>
          <a:xfrm>
            <a:off x="4457700" y="3771874"/>
            <a:ext cx="3391844" cy="180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666666"/>
                </a:solidFill>
                <a:latin typeface="Helvetica Light" panose="020B0403020202020204" pitchFamily="34" charset="0"/>
              </a:rPr>
              <a:t>With Dr. Fabien Vinckier </a:t>
            </a:r>
            <a:r>
              <a:rPr lang="fr-FR" sz="900" dirty="0">
                <a:solidFill>
                  <a:srgbClr val="666666"/>
                </a:solidFill>
                <a:latin typeface="Helvetica Light" panose="020B0403020202020204" pitchFamily="34" charset="0"/>
              </a:rPr>
              <a:t>&amp; </a:t>
            </a:r>
            <a:r>
              <a:rPr sz="900" dirty="0">
                <a:solidFill>
                  <a:srgbClr val="666666"/>
                </a:solidFill>
                <a:latin typeface="Helvetica Light" panose="020B0403020202020204" pitchFamily="34" charset="0"/>
              </a:rPr>
              <a:t>writer Ariane Monceau</a:t>
            </a:r>
          </a:p>
        </p:txBody>
      </p:sp>
      <p:grpSp>
        <p:nvGrpSpPr>
          <p:cNvPr id="171" name="Creativity &amp; Neuromyths">
            <a:extLst>
              <a:ext uri="{FF2B5EF4-FFF2-40B4-BE49-F238E27FC236}">
                <a16:creationId xmlns:a16="http://schemas.microsoft.com/office/drawing/2014/main" id="{A6558BF2-4C9B-39BC-3EBD-E393ADBE8287}"/>
              </a:ext>
            </a:extLst>
          </p:cNvPr>
          <p:cNvGrpSpPr/>
          <p:nvPr/>
        </p:nvGrpSpPr>
        <p:grpSpPr>
          <a:xfrm>
            <a:off x="3989011" y="4036908"/>
            <a:ext cx="4155642" cy="405646"/>
            <a:chOff x="575995" y="1568156"/>
            <a:chExt cx="6704236" cy="405646"/>
          </a:xfrm>
          <a:effectLst/>
        </p:grpSpPr>
        <p:sp>
          <p:nvSpPr>
            <p:cNvPr id="172" name="2023">
              <a:extLst>
                <a:ext uri="{FF2B5EF4-FFF2-40B4-BE49-F238E27FC236}">
                  <a16:creationId xmlns:a16="http://schemas.microsoft.com/office/drawing/2014/main" id="{717CC3AF-7B9B-F42A-7654-DAB577F3083B}"/>
                </a:ext>
              </a:extLst>
            </p:cNvPr>
            <p:cNvSpPr txBox="1"/>
            <p:nvPr/>
          </p:nvSpPr>
          <p:spPr>
            <a:xfrm>
              <a:off x="575995" y="1573733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2023</a:t>
              </a:r>
            </a:p>
          </p:txBody>
        </p:sp>
        <p:sp>
          <p:nvSpPr>
            <p:cNvPr id="175" name="Creativity &amp; Neuromyths">
              <a:extLst>
                <a:ext uri="{FF2B5EF4-FFF2-40B4-BE49-F238E27FC236}">
                  <a16:creationId xmlns:a16="http://schemas.microsoft.com/office/drawing/2014/main" id="{5E2487C8-ED31-687A-2491-31CEDE1C6E00}"/>
                </a:ext>
              </a:extLst>
            </p:cNvPr>
            <p:cNvSpPr txBox="1"/>
            <p:nvPr/>
          </p:nvSpPr>
          <p:spPr>
            <a:xfrm>
              <a:off x="2713096" y="1568156"/>
              <a:ext cx="4567135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 dirty="0">
                  <a:solidFill>
                    <a:srgbClr val="111111"/>
                  </a:solidFill>
                  <a:latin typeface="Helvetica" pitchFamily="2" charset="0"/>
                </a:rPr>
                <a:t>Creativity &amp; Neuromyths</a:t>
              </a:r>
            </a:p>
          </p:txBody>
        </p:sp>
        <p:sp>
          <p:nvSpPr>
            <p:cNvPr id="176" name="INSERM">
              <a:extLst>
                <a:ext uri="{FF2B5EF4-FFF2-40B4-BE49-F238E27FC236}">
                  <a16:creationId xmlns:a16="http://schemas.microsoft.com/office/drawing/2014/main" id="{99EC6097-B172-84FB-C918-902E14A3E9A7}"/>
                </a:ext>
              </a:extLst>
            </p:cNvPr>
            <p:cNvSpPr txBox="1"/>
            <p:nvPr/>
          </p:nvSpPr>
          <p:spPr>
            <a:xfrm>
              <a:off x="1332122" y="1792954"/>
              <a:ext cx="5472011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INSERM</a:t>
              </a:r>
            </a:p>
          </p:txBody>
        </p:sp>
      </p:grpSp>
      <p:grpSp>
        <p:nvGrpSpPr>
          <p:cNvPr id="177" name="MasterClass on creativity">
            <a:extLst>
              <a:ext uri="{FF2B5EF4-FFF2-40B4-BE49-F238E27FC236}">
                <a16:creationId xmlns:a16="http://schemas.microsoft.com/office/drawing/2014/main" id="{8E06AEB9-D56A-C10E-9D27-B9D086CEBE1C}"/>
              </a:ext>
            </a:extLst>
          </p:cNvPr>
          <p:cNvGrpSpPr/>
          <p:nvPr/>
        </p:nvGrpSpPr>
        <p:grpSpPr>
          <a:xfrm>
            <a:off x="3989011" y="4491535"/>
            <a:ext cx="4170330" cy="411479"/>
            <a:chOff x="575995" y="2022783"/>
            <a:chExt cx="6727932" cy="411479"/>
          </a:xfrm>
        </p:grpSpPr>
        <p:sp>
          <p:nvSpPr>
            <p:cNvPr id="178" name="2023">
              <a:extLst>
                <a:ext uri="{FF2B5EF4-FFF2-40B4-BE49-F238E27FC236}">
                  <a16:creationId xmlns:a16="http://schemas.microsoft.com/office/drawing/2014/main" id="{C2916B56-AFAA-0CBC-5E89-F82D35982B76}"/>
                </a:ext>
              </a:extLst>
            </p:cNvPr>
            <p:cNvSpPr txBox="1"/>
            <p:nvPr/>
          </p:nvSpPr>
          <p:spPr>
            <a:xfrm>
              <a:off x="575995" y="2041042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2023</a:t>
              </a:r>
            </a:p>
          </p:txBody>
        </p:sp>
        <p:sp>
          <p:nvSpPr>
            <p:cNvPr id="181" name="MasterClass on creativity">
              <a:extLst>
                <a:ext uri="{FF2B5EF4-FFF2-40B4-BE49-F238E27FC236}">
                  <a16:creationId xmlns:a16="http://schemas.microsoft.com/office/drawing/2014/main" id="{4D7ABDDB-B466-22E8-C465-248B059A40A3}"/>
                </a:ext>
              </a:extLst>
            </p:cNvPr>
            <p:cNvSpPr txBox="1"/>
            <p:nvPr/>
          </p:nvSpPr>
          <p:spPr>
            <a:xfrm>
              <a:off x="2736792" y="2022783"/>
              <a:ext cx="4567135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 dirty="0" err="1">
                  <a:solidFill>
                    <a:srgbClr val="111111"/>
                  </a:solidFill>
                  <a:latin typeface="Helvetica" pitchFamily="2" charset="0"/>
                </a:rPr>
                <a:t>MasterClass</a:t>
              </a:r>
              <a:r>
                <a:rPr sz="960" b="0" dirty="0">
                  <a:solidFill>
                    <a:srgbClr val="111111"/>
                  </a:solidFill>
                  <a:latin typeface="Helvetica" pitchFamily="2" charset="0"/>
                </a:rPr>
                <a:t> on creativity</a:t>
              </a:r>
            </a:p>
          </p:txBody>
        </p:sp>
        <p:sp>
          <p:nvSpPr>
            <p:cNvPr id="182" name="Paris Brain Institute">
              <a:extLst>
                <a:ext uri="{FF2B5EF4-FFF2-40B4-BE49-F238E27FC236}">
                  <a16:creationId xmlns:a16="http://schemas.microsoft.com/office/drawing/2014/main" id="{598D4560-7F53-7719-8712-2ECB2C3147DE}"/>
                </a:ext>
              </a:extLst>
            </p:cNvPr>
            <p:cNvSpPr txBox="1"/>
            <p:nvPr/>
          </p:nvSpPr>
          <p:spPr>
            <a:xfrm>
              <a:off x="1332124" y="2253414"/>
              <a:ext cx="5472011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Paris Brain Institute</a:t>
              </a:r>
            </a:p>
          </p:txBody>
        </p:sp>
      </p:grpSp>
      <p:sp>
        <p:nvSpPr>
          <p:cNvPr id="184" name="Para-professional activities">
            <a:extLst>
              <a:ext uri="{FF2B5EF4-FFF2-40B4-BE49-F238E27FC236}">
                <a16:creationId xmlns:a16="http://schemas.microsoft.com/office/drawing/2014/main" id="{85854143-4545-33B3-169F-7B0069395095}"/>
              </a:ext>
            </a:extLst>
          </p:cNvPr>
          <p:cNvSpPr txBox="1"/>
          <p:nvPr/>
        </p:nvSpPr>
        <p:spPr>
          <a:xfrm>
            <a:off x="4457700" y="4941331"/>
            <a:ext cx="3391843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66666"/>
                </a:solidFill>
                <a:latin typeface="Helvetica" pitchFamily="2" charset="0"/>
              </a:rPr>
              <a:t>Para-professional activities</a:t>
            </a:r>
          </a:p>
        </p:txBody>
      </p:sp>
      <p:grpSp>
        <p:nvGrpSpPr>
          <p:cNvPr id="185" name="Head of the Treasury">
            <a:extLst>
              <a:ext uri="{FF2B5EF4-FFF2-40B4-BE49-F238E27FC236}">
                <a16:creationId xmlns:a16="http://schemas.microsoft.com/office/drawing/2014/main" id="{C139D411-D927-CDB9-89DB-5723E45C9E56}"/>
              </a:ext>
            </a:extLst>
          </p:cNvPr>
          <p:cNvGrpSpPr/>
          <p:nvPr/>
        </p:nvGrpSpPr>
        <p:grpSpPr>
          <a:xfrm>
            <a:off x="3991816" y="5163306"/>
            <a:ext cx="3866871" cy="390292"/>
            <a:chOff x="575995" y="2971380"/>
            <a:chExt cx="6238367" cy="390292"/>
          </a:xfrm>
        </p:grpSpPr>
        <p:sp>
          <p:nvSpPr>
            <p:cNvPr id="186" name="2023 – 2025">
              <a:extLst>
                <a:ext uri="{FF2B5EF4-FFF2-40B4-BE49-F238E27FC236}">
                  <a16:creationId xmlns:a16="http://schemas.microsoft.com/office/drawing/2014/main" id="{6533A4D4-1C22-0A77-A145-86D7649628E6}"/>
                </a:ext>
              </a:extLst>
            </p:cNvPr>
            <p:cNvSpPr txBox="1"/>
            <p:nvPr/>
          </p:nvSpPr>
          <p:spPr>
            <a:xfrm>
              <a:off x="575995" y="2973171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dirty="0">
                  <a:solidFill>
                    <a:srgbClr val="666666"/>
                  </a:solidFill>
                  <a:latin typeface="Helvetica" pitchFamily="2" charset="0"/>
                </a:rPr>
                <a:t>2023 </a:t>
              </a:r>
              <a:r>
                <a:rPr lang="en-FR" sz="900" b="0" dirty="0">
                  <a:solidFill>
                    <a:srgbClr val="666666"/>
                  </a:solidFill>
                  <a:latin typeface="Helvetica" pitchFamily="2" charset="0"/>
                </a:rPr>
                <a:t>– </a:t>
              </a:r>
              <a:r>
                <a:rPr lang="fr-FR" sz="900" b="0" dirty="0">
                  <a:solidFill>
                    <a:srgbClr val="666666"/>
                  </a:solidFill>
                  <a:latin typeface="Helvetica" pitchFamily="2" charset="0"/>
                </a:rPr>
                <a:t>2025</a:t>
              </a:r>
            </a:p>
          </p:txBody>
        </p:sp>
        <p:sp>
          <p:nvSpPr>
            <p:cNvPr id="187" name="Head of the Treasury">
              <a:extLst>
                <a:ext uri="{FF2B5EF4-FFF2-40B4-BE49-F238E27FC236}">
                  <a16:creationId xmlns:a16="http://schemas.microsoft.com/office/drawing/2014/main" id="{A31FFDCC-E854-FC1D-CF05-3A14CD20B8AE}"/>
                </a:ext>
              </a:extLst>
            </p:cNvPr>
            <p:cNvSpPr txBox="1"/>
            <p:nvPr/>
          </p:nvSpPr>
          <p:spPr>
            <a:xfrm>
              <a:off x="1320223" y="2971380"/>
              <a:ext cx="5472011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 dirty="0">
                  <a:solidFill>
                    <a:srgbClr val="111111"/>
                  </a:solidFill>
                  <a:latin typeface="Helvetica" pitchFamily="2" charset="0"/>
                </a:rPr>
                <a:t>Head of the Treasury</a:t>
              </a:r>
            </a:p>
          </p:txBody>
        </p:sp>
        <p:sp>
          <p:nvSpPr>
            <p:cNvPr id="189" name="Ajité·es – Association of young researchers at the Paris Brain Institute">
              <a:extLst>
                <a:ext uri="{FF2B5EF4-FFF2-40B4-BE49-F238E27FC236}">
                  <a16:creationId xmlns:a16="http://schemas.microsoft.com/office/drawing/2014/main" id="{CCB265D3-D395-B2FA-96BF-4350F430B159}"/>
                </a:ext>
              </a:extLst>
            </p:cNvPr>
            <p:cNvSpPr txBox="1"/>
            <p:nvPr/>
          </p:nvSpPr>
          <p:spPr>
            <a:xfrm>
              <a:off x="1342351" y="3180824"/>
              <a:ext cx="5472011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Ajité·es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 – Association of 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young researchers</a:t>
              </a:r>
              <a:endParaRPr sz="900" dirty="0">
                <a:solidFill>
                  <a:srgbClr val="666666"/>
                </a:solidFill>
                <a:latin typeface="Helvetica Light" panose="020B0403020202020204" pitchFamily="34" charset="0"/>
              </a:endParaRPr>
            </a:p>
          </p:txBody>
        </p:sp>
      </p:grpSp>
      <p:grpSp>
        <p:nvGrpSpPr>
          <p:cNvPr id="190" name="Head of the Listening Unit (support for well-being at work)">
            <a:extLst>
              <a:ext uri="{FF2B5EF4-FFF2-40B4-BE49-F238E27FC236}">
                <a16:creationId xmlns:a16="http://schemas.microsoft.com/office/drawing/2014/main" id="{B469BC0C-7620-F4BD-53AE-914444823775}"/>
              </a:ext>
            </a:extLst>
          </p:cNvPr>
          <p:cNvGrpSpPr/>
          <p:nvPr/>
        </p:nvGrpSpPr>
        <p:grpSpPr>
          <a:xfrm>
            <a:off x="3991816" y="5586636"/>
            <a:ext cx="3862299" cy="393434"/>
            <a:chOff x="575995" y="3650742"/>
            <a:chExt cx="6230991" cy="393434"/>
          </a:xfrm>
        </p:grpSpPr>
        <p:sp>
          <p:nvSpPr>
            <p:cNvPr id="191" name="2025">
              <a:extLst>
                <a:ext uri="{FF2B5EF4-FFF2-40B4-BE49-F238E27FC236}">
                  <a16:creationId xmlns:a16="http://schemas.microsoft.com/office/drawing/2014/main" id="{3ED1BCC3-592A-91D6-2EA2-9F9A5C556F85}"/>
                </a:ext>
              </a:extLst>
            </p:cNvPr>
            <p:cNvSpPr txBox="1"/>
            <p:nvPr/>
          </p:nvSpPr>
          <p:spPr>
            <a:xfrm>
              <a:off x="575995" y="3650742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Helvetica" pitchFamily="2" charset="0"/>
                </a:rPr>
                <a:t>2025</a:t>
              </a:r>
            </a:p>
          </p:txBody>
        </p:sp>
        <p:sp>
          <p:nvSpPr>
            <p:cNvPr id="192" name="Head of the Listening Unit (support for well-being at work)">
              <a:extLst>
                <a:ext uri="{FF2B5EF4-FFF2-40B4-BE49-F238E27FC236}">
                  <a16:creationId xmlns:a16="http://schemas.microsoft.com/office/drawing/2014/main" id="{BE7A5C65-74CC-8129-A86B-6C87F8B679A5}"/>
                </a:ext>
              </a:extLst>
            </p:cNvPr>
            <p:cNvSpPr txBox="1"/>
            <p:nvPr/>
          </p:nvSpPr>
          <p:spPr>
            <a:xfrm>
              <a:off x="1327599" y="3662237"/>
              <a:ext cx="5472011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 dirty="0">
                  <a:solidFill>
                    <a:srgbClr val="111111"/>
                  </a:solidFill>
                  <a:latin typeface="Helvetica" pitchFamily="2" charset="0"/>
                </a:rPr>
                <a:t>Head of the Listening Unit (well-being at work)</a:t>
              </a:r>
            </a:p>
          </p:txBody>
        </p:sp>
        <p:sp>
          <p:nvSpPr>
            <p:cNvPr id="193" name="Ajité·es – Association of young researchers at the Paris Brain Institute">
              <a:extLst>
                <a:ext uri="{FF2B5EF4-FFF2-40B4-BE49-F238E27FC236}">
                  <a16:creationId xmlns:a16="http://schemas.microsoft.com/office/drawing/2014/main" id="{EF8E519F-8FAC-9F37-C0DE-362CF8C86BBC}"/>
                </a:ext>
              </a:extLst>
            </p:cNvPr>
            <p:cNvSpPr txBox="1"/>
            <p:nvPr/>
          </p:nvSpPr>
          <p:spPr>
            <a:xfrm>
              <a:off x="1334975" y="3863328"/>
              <a:ext cx="5472011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 err="1">
                  <a:solidFill>
                    <a:srgbClr val="666666"/>
                  </a:solidFill>
                  <a:latin typeface="Helvetica Light" panose="020B0403020202020204" pitchFamily="34" charset="0"/>
                </a:rPr>
                <a:t>Ajité·es</a:t>
              </a: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 – Association of young researchers</a:t>
              </a:r>
            </a:p>
          </p:txBody>
        </p:sp>
      </p:grpSp>
      <p:grpSp>
        <p:nvGrpSpPr>
          <p:cNvPr id="198" name="Peer-to-peer prevention &amp; risk reduction">
            <a:extLst>
              <a:ext uri="{FF2B5EF4-FFF2-40B4-BE49-F238E27FC236}">
                <a16:creationId xmlns:a16="http://schemas.microsoft.com/office/drawing/2014/main" id="{91E0A534-CBD4-73D5-8FFE-DE5983D84D33}"/>
              </a:ext>
            </a:extLst>
          </p:cNvPr>
          <p:cNvGrpSpPr/>
          <p:nvPr/>
        </p:nvGrpSpPr>
        <p:grpSpPr>
          <a:xfrm>
            <a:off x="3991816" y="6026984"/>
            <a:ext cx="3862299" cy="392758"/>
            <a:chOff x="575995" y="4583711"/>
            <a:chExt cx="6230991" cy="392758"/>
          </a:xfrm>
          <a:effectLst/>
        </p:grpSpPr>
        <p:sp>
          <p:nvSpPr>
            <p:cNvPr id="199" name="2019 – 2022">
              <a:extLst>
                <a:ext uri="{FF2B5EF4-FFF2-40B4-BE49-F238E27FC236}">
                  <a16:creationId xmlns:a16="http://schemas.microsoft.com/office/drawing/2014/main" id="{FB3F78B9-8E12-19CA-8D69-A30DC5104F88}"/>
                </a:ext>
              </a:extLst>
            </p:cNvPr>
            <p:cNvSpPr txBox="1"/>
            <p:nvPr/>
          </p:nvSpPr>
          <p:spPr>
            <a:xfrm>
              <a:off x="575995" y="4585360"/>
              <a:ext cx="864006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dirty="0">
                  <a:solidFill>
                    <a:srgbClr val="666666"/>
                  </a:solidFill>
                  <a:latin typeface="Helvetica" pitchFamily="2" charset="0"/>
                </a:rPr>
                <a:t>2019 – 2022</a:t>
              </a:r>
            </a:p>
          </p:txBody>
        </p:sp>
        <p:sp>
          <p:nvSpPr>
            <p:cNvPr id="200" name="Peer-to-peer prevention &amp; risk reduction">
              <a:extLst>
                <a:ext uri="{FF2B5EF4-FFF2-40B4-BE49-F238E27FC236}">
                  <a16:creationId xmlns:a16="http://schemas.microsoft.com/office/drawing/2014/main" id="{91758E02-004B-C36D-A91F-6525AAC840E3}"/>
                </a:ext>
              </a:extLst>
            </p:cNvPr>
            <p:cNvSpPr txBox="1"/>
            <p:nvPr/>
          </p:nvSpPr>
          <p:spPr>
            <a:xfrm>
              <a:off x="1334975" y="4583711"/>
              <a:ext cx="5472011" cy="1912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 dirty="0">
                  <a:solidFill>
                    <a:srgbClr val="111111"/>
                  </a:solidFill>
                  <a:latin typeface="Helvetica" pitchFamily="2" charset="0"/>
                </a:rPr>
                <a:t>Peer-to-peer prevention &amp; risk reduction</a:t>
              </a:r>
            </a:p>
          </p:txBody>
        </p:sp>
        <p:sp>
          <p:nvSpPr>
            <p:cNvPr id="201" name="Claude Bernard University Lyon 1 – Health center">
              <a:extLst>
                <a:ext uri="{FF2B5EF4-FFF2-40B4-BE49-F238E27FC236}">
                  <a16:creationId xmlns:a16="http://schemas.microsoft.com/office/drawing/2014/main" id="{9672512D-E573-CA89-066F-1C35FA423CB6}"/>
                </a:ext>
              </a:extLst>
            </p:cNvPr>
            <p:cNvSpPr txBox="1"/>
            <p:nvPr/>
          </p:nvSpPr>
          <p:spPr>
            <a:xfrm>
              <a:off x="1327599" y="4795621"/>
              <a:ext cx="5472011" cy="180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dirty="0">
                  <a:solidFill>
                    <a:srgbClr val="666666"/>
                  </a:solidFill>
                  <a:latin typeface="Helvetica Light" panose="020B0403020202020204" pitchFamily="34" charset="0"/>
                </a:rPr>
                <a:t>Claude Bernard University Lyon 1 – Health center</a:t>
              </a:r>
            </a:p>
          </p:txBody>
        </p:sp>
      </p:grpSp>
      <p:sp>
        <p:nvSpPr>
          <p:cNvPr id="135" name="2024">
            <a:extLst>
              <a:ext uri="{FF2B5EF4-FFF2-40B4-BE49-F238E27FC236}">
                <a16:creationId xmlns:a16="http://schemas.microsoft.com/office/drawing/2014/main" id="{16345DA2-AEAA-D044-2D9A-54DF21DB2C9C}"/>
              </a:ext>
            </a:extLst>
          </p:cNvPr>
          <p:cNvSpPr txBox="1"/>
          <p:nvPr/>
        </p:nvSpPr>
        <p:spPr>
          <a:xfrm>
            <a:off x="3989011" y="1363369"/>
            <a:ext cx="535557" cy="180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666666"/>
                </a:solidFill>
                <a:latin typeface="Helvetica" pitchFamily="2" charset="0"/>
              </a:rPr>
              <a:t>2024</a:t>
            </a:r>
          </a:p>
        </p:txBody>
      </p:sp>
      <p:sp>
        <p:nvSpPr>
          <p:cNvPr id="138" name="CNS meeting">
            <a:extLst>
              <a:ext uri="{FF2B5EF4-FFF2-40B4-BE49-F238E27FC236}">
                <a16:creationId xmlns:a16="http://schemas.microsoft.com/office/drawing/2014/main" id="{D068371D-7EBD-2C6C-8830-155AB7589BBA}"/>
              </a:ext>
            </a:extLst>
          </p:cNvPr>
          <p:cNvSpPr txBox="1"/>
          <p:nvPr/>
        </p:nvSpPr>
        <p:spPr>
          <a:xfrm>
            <a:off x="5136769" y="1365415"/>
            <a:ext cx="801547" cy="191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60" dirty="0">
                <a:solidFill>
                  <a:srgbClr val="111111"/>
                </a:solidFill>
                <a:latin typeface="Helvetica Light" panose="020B0403020202020204" pitchFamily="34" charset="0"/>
              </a:rPr>
              <a:t>CNS meeting</a:t>
            </a:r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9FB5FEC1-448A-4D99-173F-FBBC02A64FA5}"/>
              </a:ext>
            </a:extLst>
          </p:cNvPr>
          <p:cNvGrpSpPr/>
          <p:nvPr/>
        </p:nvGrpSpPr>
        <p:grpSpPr>
          <a:xfrm>
            <a:off x="4458812" y="1376947"/>
            <a:ext cx="628416" cy="164743"/>
            <a:chOff x="8349740" y="4102083"/>
            <a:chExt cx="628416" cy="164743"/>
          </a:xfrm>
        </p:grpSpPr>
        <p:sp>
          <p:nvSpPr>
            <p:cNvPr id="220" name="Rounded Rectangle 219">
              <a:extLst>
                <a:ext uri="{FF2B5EF4-FFF2-40B4-BE49-F238E27FC236}">
                  <a16:creationId xmlns:a16="http://schemas.microsoft.com/office/drawing/2014/main" id="{79D8D02C-7B7B-3E29-91CE-1A0282BC19D2}"/>
                </a:ext>
              </a:extLst>
            </p:cNvPr>
            <p:cNvSpPr/>
            <p:nvPr/>
          </p:nvSpPr>
          <p:spPr>
            <a:xfrm>
              <a:off x="8349740" y="4102083"/>
              <a:ext cx="628415" cy="152400"/>
            </a:xfrm>
            <a:prstGeom prst="roundRect">
              <a:avLst>
                <a:gd name="adj" fmla="val 12000"/>
              </a:avLst>
            </a:prstGeom>
            <a:solidFill>
              <a:srgbClr val="F0F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221" name="VOLUNTEER">
              <a:extLst>
                <a:ext uri="{FF2B5EF4-FFF2-40B4-BE49-F238E27FC236}">
                  <a16:creationId xmlns:a16="http://schemas.microsoft.com/office/drawing/2014/main" id="{69515164-3353-6381-2F1C-8676F35470AD}"/>
                </a:ext>
              </a:extLst>
            </p:cNvPr>
            <p:cNvSpPr txBox="1"/>
            <p:nvPr/>
          </p:nvSpPr>
          <p:spPr>
            <a:xfrm>
              <a:off x="8349740" y="4114426"/>
              <a:ext cx="628416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 dirty="0">
                  <a:solidFill>
                    <a:srgbClr val="595959"/>
                  </a:solidFill>
                  <a:latin typeface="Helvetica" pitchFamily="2" charset="0"/>
                </a:rPr>
                <a:t>VOLUNTEER</a:t>
              </a:r>
            </a:p>
          </p:txBody>
        </p:sp>
      </p:grpSp>
      <p:sp>
        <p:nvSpPr>
          <p:cNvPr id="140" name="2024">
            <a:extLst>
              <a:ext uri="{FF2B5EF4-FFF2-40B4-BE49-F238E27FC236}">
                <a16:creationId xmlns:a16="http://schemas.microsoft.com/office/drawing/2014/main" id="{2F4C0897-A4AB-10D7-E0CF-D76005902FEA}"/>
              </a:ext>
            </a:extLst>
          </p:cNvPr>
          <p:cNvSpPr txBox="1"/>
          <p:nvPr/>
        </p:nvSpPr>
        <p:spPr>
          <a:xfrm>
            <a:off x="3989011" y="1630780"/>
            <a:ext cx="535557" cy="180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Helvetica" pitchFamily="2" charset="0"/>
              </a:rPr>
              <a:t>2024</a:t>
            </a:r>
          </a:p>
        </p:txBody>
      </p:sp>
      <p:sp>
        <p:nvSpPr>
          <p:cNvPr id="143" name="SfNC meeting">
            <a:extLst>
              <a:ext uri="{FF2B5EF4-FFF2-40B4-BE49-F238E27FC236}">
                <a16:creationId xmlns:a16="http://schemas.microsoft.com/office/drawing/2014/main" id="{77E6E0FC-B433-A9B8-7AB9-D4F7706D9FFD}"/>
              </a:ext>
            </a:extLst>
          </p:cNvPr>
          <p:cNvSpPr txBox="1"/>
          <p:nvPr/>
        </p:nvSpPr>
        <p:spPr>
          <a:xfrm>
            <a:off x="5136770" y="1632826"/>
            <a:ext cx="908338" cy="191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60" dirty="0" err="1">
                <a:solidFill>
                  <a:srgbClr val="111111"/>
                </a:solidFill>
                <a:latin typeface="Helvetica Light" panose="020B0403020202020204" pitchFamily="34" charset="0"/>
              </a:rPr>
              <a:t>SfNC</a:t>
            </a:r>
            <a:r>
              <a:rPr sz="960" dirty="0">
                <a:solidFill>
                  <a:srgbClr val="111111"/>
                </a:solidFill>
                <a:latin typeface="Helvetica Light" panose="020B0403020202020204" pitchFamily="34" charset="0"/>
              </a:rPr>
              <a:t> meeting</a:t>
            </a:r>
          </a:p>
        </p:txBody>
      </p: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FE61FEAC-E04B-1A35-3247-EBFB77FADAD9}"/>
              </a:ext>
            </a:extLst>
          </p:cNvPr>
          <p:cNvGrpSpPr/>
          <p:nvPr/>
        </p:nvGrpSpPr>
        <p:grpSpPr>
          <a:xfrm>
            <a:off x="4457699" y="1645324"/>
            <a:ext cx="628416" cy="164743"/>
            <a:chOff x="8349740" y="4102083"/>
            <a:chExt cx="628416" cy="164743"/>
          </a:xfrm>
        </p:grpSpPr>
        <p:sp>
          <p:nvSpPr>
            <p:cNvPr id="223" name="Rounded Rectangle 222">
              <a:extLst>
                <a:ext uri="{FF2B5EF4-FFF2-40B4-BE49-F238E27FC236}">
                  <a16:creationId xmlns:a16="http://schemas.microsoft.com/office/drawing/2014/main" id="{A2628A12-43BE-0A1B-E6C0-08F62673545E}"/>
                </a:ext>
              </a:extLst>
            </p:cNvPr>
            <p:cNvSpPr/>
            <p:nvPr/>
          </p:nvSpPr>
          <p:spPr>
            <a:xfrm>
              <a:off x="8349740" y="4102083"/>
              <a:ext cx="628415" cy="152400"/>
            </a:xfrm>
            <a:prstGeom prst="roundRect">
              <a:avLst>
                <a:gd name="adj" fmla="val 12000"/>
              </a:avLst>
            </a:prstGeom>
            <a:solidFill>
              <a:srgbClr val="F0F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224" name="VOLUNTEER">
              <a:extLst>
                <a:ext uri="{FF2B5EF4-FFF2-40B4-BE49-F238E27FC236}">
                  <a16:creationId xmlns:a16="http://schemas.microsoft.com/office/drawing/2014/main" id="{6687E91B-E436-FB73-C4FF-BF99C939275C}"/>
                </a:ext>
              </a:extLst>
            </p:cNvPr>
            <p:cNvSpPr txBox="1"/>
            <p:nvPr/>
          </p:nvSpPr>
          <p:spPr>
            <a:xfrm>
              <a:off x="8349740" y="4114426"/>
              <a:ext cx="628416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 dirty="0">
                  <a:solidFill>
                    <a:srgbClr val="595959"/>
                  </a:solidFill>
                  <a:latin typeface="Helvetica" pitchFamily="2" charset="0"/>
                </a:rPr>
                <a:t>VOLUNTEER</a:t>
              </a:r>
            </a:p>
          </p:txBody>
        </p: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C6A616D7-C1E2-988F-0AD8-FD90146B2603}"/>
              </a:ext>
            </a:extLst>
          </p:cNvPr>
          <p:cNvGrpSpPr/>
          <p:nvPr/>
        </p:nvGrpSpPr>
        <p:grpSpPr>
          <a:xfrm>
            <a:off x="4457700" y="2650808"/>
            <a:ext cx="817391" cy="159105"/>
            <a:chOff x="8288729" y="5381480"/>
            <a:chExt cx="817391" cy="159105"/>
          </a:xfrm>
        </p:grpSpPr>
        <p:sp>
          <p:nvSpPr>
            <p:cNvPr id="238" name="Rounded Rectangle 237">
              <a:extLst>
                <a:ext uri="{FF2B5EF4-FFF2-40B4-BE49-F238E27FC236}">
                  <a16:creationId xmlns:a16="http://schemas.microsoft.com/office/drawing/2014/main" id="{9D85A59B-E49F-8989-6474-59745D9F2BE8}"/>
                </a:ext>
              </a:extLst>
            </p:cNvPr>
            <p:cNvSpPr/>
            <p:nvPr/>
          </p:nvSpPr>
          <p:spPr>
            <a:xfrm>
              <a:off x="8288729" y="5381480"/>
              <a:ext cx="803571" cy="152400"/>
            </a:xfrm>
            <a:prstGeom prst="roundRect">
              <a:avLst>
                <a:gd name="adj" fmla="val 12000"/>
              </a:avLst>
            </a:prstGeom>
            <a:solidFill>
              <a:srgbClr val="44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239" name="CO-ORGANISER">
              <a:extLst>
                <a:ext uri="{FF2B5EF4-FFF2-40B4-BE49-F238E27FC236}">
                  <a16:creationId xmlns:a16="http://schemas.microsoft.com/office/drawing/2014/main" id="{13699775-0723-E805-F68D-8D6C1701EE61}"/>
                </a:ext>
              </a:extLst>
            </p:cNvPr>
            <p:cNvSpPr txBox="1"/>
            <p:nvPr/>
          </p:nvSpPr>
          <p:spPr>
            <a:xfrm>
              <a:off x="8302548" y="5388185"/>
              <a:ext cx="803572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 dirty="0">
                  <a:solidFill>
                    <a:srgbClr val="FFFFFF"/>
                  </a:solidFill>
                  <a:latin typeface="Helvetica" pitchFamily="2" charset="0"/>
                </a:rPr>
                <a:t>CO-ORGANISER</a:t>
              </a:r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5BF387E1-297A-47C5-BCDA-C1EB3C539D06}"/>
              </a:ext>
            </a:extLst>
          </p:cNvPr>
          <p:cNvGrpSpPr/>
          <p:nvPr/>
        </p:nvGrpSpPr>
        <p:grpSpPr>
          <a:xfrm>
            <a:off x="4457700" y="4052961"/>
            <a:ext cx="817391" cy="159105"/>
            <a:chOff x="8288729" y="5381480"/>
            <a:chExt cx="817391" cy="159105"/>
          </a:xfrm>
        </p:grpSpPr>
        <p:sp>
          <p:nvSpPr>
            <p:cNvPr id="241" name="Rounded Rectangle 240">
              <a:extLst>
                <a:ext uri="{FF2B5EF4-FFF2-40B4-BE49-F238E27FC236}">
                  <a16:creationId xmlns:a16="http://schemas.microsoft.com/office/drawing/2014/main" id="{64FD09CC-EBEA-DA69-54AD-E2F212DFF122}"/>
                </a:ext>
              </a:extLst>
            </p:cNvPr>
            <p:cNvSpPr/>
            <p:nvPr/>
          </p:nvSpPr>
          <p:spPr>
            <a:xfrm>
              <a:off x="8288729" y="5381480"/>
              <a:ext cx="803571" cy="152400"/>
            </a:xfrm>
            <a:prstGeom prst="roundRect">
              <a:avLst>
                <a:gd name="adj" fmla="val 12000"/>
              </a:avLst>
            </a:prstGeom>
            <a:solidFill>
              <a:srgbClr val="44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242" name="CO-ORGANISER">
              <a:extLst>
                <a:ext uri="{FF2B5EF4-FFF2-40B4-BE49-F238E27FC236}">
                  <a16:creationId xmlns:a16="http://schemas.microsoft.com/office/drawing/2014/main" id="{D64798AB-EA82-EC3B-1FFD-3F14BFF78E62}"/>
                </a:ext>
              </a:extLst>
            </p:cNvPr>
            <p:cNvSpPr txBox="1"/>
            <p:nvPr/>
          </p:nvSpPr>
          <p:spPr>
            <a:xfrm>
              <a:off x="8302548" y="5388185"/>
              <a:ext cx="803572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 dirty="0">
                  <a:solidFill>
                    <a:srgbClr val="FFFFFF"/>
                  </a:solidFill>
                  <a:latin typeface="Helvetica" pitchFamily="2" charset="0"/>
                </a:rPr>
                <a:t>CO-ORGANISER</a:t>
              </a:r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190D2747-E787-793D-65B7-F8703CE94073}"/>
              </a:ext>
            </a:extLst>
          </p:cNvPr>
          <p:cNvGrpSpPr/>
          <p:nvPr/>
        </p:nvGrpSpPr>
        <p:grpSpPr>
          <a:xfrm>
            <a:off x="4457700" y="4507588"/>
            <a:ext cx="817391" cy="159105"/>
            <a:chOff x="8288729" y="5381480"/>
            <a:chExt cx="817391" cy="159105"/>
          </a:xfrm>
        </p:grpSpPr>
        <p:sp>
          <p:nvSpPr>
            <p:cNvPr id="244" name="Rounded Rectangle 243">
              <a:extLst>
                <a:ext uri="{FF2B5EF4-FFF2-40B4-BE49-F238E27FC236}">
                  <a16:creationId xmlns:a16="http://schemas.microsoft.com/office/drawing/2014/main" id="{D3D624C1-C5A6-7488-D8A4-09E71434BE3B}"/>
                </a:ext>
              </a:extLst>
            </p:cNvPr>
            <p:cNvSpPr/>
            <p:nvPr/>
          </p:nvSpPr>
          <p:spPr>
            <a:xfrm>
              <a:off x="8288729" y="5381480"/>
              <a:ext cx="803571" cy="152400"/>
            </a:xfrm>
            <a:prstGeom prst="roundRect">
              <a:avLst>
                <a:gd name="adj" fmla="val 12000"/>
              </a:avLst>
            </a:prstGeom>
            <a:solidFill>
              <a:srgbClr val="44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Helvetica" pitchFamily="2" charset="0"/>
              </a:endParaRPr>
            </a:p>
          </p:txBody>
        </p:sp>
        <p:sp>
          <p:nvSpPr>
            <p:cNvPr id="245" name="CO-ORGANISER">
              <a:extLst>
                <a:ext uri="{FF2B5EF4-FFF2-40B4-BE49-F238E27FC236}">
                  <a16:creationId xmlns:a16="http://schemas.microsoft.com/office/drawing/2014/main" id="{4DAAFB73-2899-67C9-013F-B317F608B071}"/>
                </a:ext>
              </a:extLst>
            </p:cNvPr>
            <p:cNvSpPr txBox="1"/>
            <p:nvPr/>
          </p:nvSpPr>
          <p:spPr>
            <a:xfrm>
              <a:off x="8302548" y="5388185"/>
              <a:ext cx="803572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 dirty="0">
                  <a:solidFill>
                    <a:srgbClr val="FFFFFF"/>
                  </a:solidFill>
                  <a:latin typeface="Helvetica" pitchFamily="2" charset="0"/>
                </a:rPr>
                <a:t>CO-ORGANISER</a:t>
              </a:r>
            </a:p>
          </p:txBody>
        </p:sp>
      </p:grpSp>
      <p:sp>
        <p:nvSpPr>
          <p:cNvPr id="247" name="Rectangle 246">
            <a:extLst>
              <a:ext uri="{FF2B5EF4-FFF2-40B4-BE49-F238E27FC236}">
                <a16:creationId xmlns:a16="http://schemas.microsoft.com/office/drawing/2014/main" id="{11FCBB2B-B64A-55A9-70D5-2D22ED0AB82C}"/>
              </a:ext>
            </a:extLst>
          </p:cNvPr>
          <p:cNvSpPr/>
          <p:nvPr/>
        </p:nvSpPr>
        <p:spPr>
          <a:xfrm>
            <a:off x="3989011" y="577162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5995" y="590804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3" name="RESEARCH EXPERTISE &amp; TECHNICAL SKILLS"/>
          <p:cNvSpPr txBox="1"/>
          <p:nvPr/>
        </p:nvSpPr>
        <p:spPr>
          <a:xfrm>
            <a:off x="728395" y="540004"/>
            <a:ext cx="6255613" cy="1704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Helvetica" pitchFamily="2" charset="0"/>
              </a:rPr>
              <a:t>RESEARCH EXPERTISE &amp; TECHNICAL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5995" y="74320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elvetica" pitchFamily="2" charset="0"/>
            </a:endParaRPr>
          </a:p>
        </p:txBody>
      </p:sp>
      <p:sp>
        <p:nvSpPr>
          <p:cNvPr id="5" name="Topics"/>
          <p:cNvSpPr txBox="1"/>
          <p:nvPr/>
        </p:nvSpPr>
        <p:spPr>
          <a:xfrm>
            <a:off x="652195" y="882904"/>
            <a:ext cx="6255613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Helvetica" pitchFamily="2" charset="0"/>
              </a:rPr>
              <a:t>Topics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5995" y="1136904"/>
          <a:ext cx="6408013" cy="3182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211">
                <a:tc>
                  <a:txBody>
                    <a:bodyPr/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Disciplines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Cognitive neuroscience; Experimental psychology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5995" y="1455115"/>
          <a:ext cx="6408013" cy="484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022">
                <a:tc>
                  <a:txBody>
                    <a:bodyPr/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Research themes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Value-based decision-making; Creativity and divergent thinking; Emotions, moods and affects; Social cognition and interpersonal synchrony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5995" y="1939137"/>
          <a:ext cx="6408013" cy="639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470">
                <a:tc>
                  <a:txBody>
                    <a:bodyPr/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Neuroanatomy and functional organisation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Prefrontal cortex; Limbic system; Structure-function coupling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Methodology"/>
          <p:cNvSpPr txBox="1"/>
          <p:nvPr/>
        </p:nvSpPr>
        <p:spPr>
          <a:xfrm>
            <a:off x="652195" y="2680208"/>
            <a:ext cx="6255613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Helvetica" pitchFamily="2" charset="0"/>
              </a:rPr>
              <a:t>Methodology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5995" y="2934208"/>
          <a:ext cx="6408013" cy="3182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211">
                <a:tc>
                  <a:txBody>
                    <a:bodyPr/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Neuroimaging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1">
                          <a:solidFill>
                            <a:srgbClr val="111111"/>
                          </a:solidFill>
                          <a:latin typeface="Arial"/>
                        </a:rPr>
                        <a:t>MRI: </a:t>
                      </a: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Task-based functional MRI; Resting-state functional MRI; anatomical MRI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5995" y="3252419"/>
          <a:ext cx="6408013" cy="5348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822">
                <a:tc>
                  <a:txBody>
                    <a:bodyPr/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Electrophysiology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>
                          <a:solidFill>
                            <a:srgbClr val="111111"/>
                          </a:solidFill>
                          <a:latin typeface="Arial"/>
                        </a:rPr>
                        <a:t>Intracranial EEG: </a:t>
                      </a: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Data collection; Local Field Potential (upcoming)</a:t>
                      </a:r>
                    </a:p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1">
                          <a:solidFill>
                            <a:srgbClr val="111111"/>
                          </a:solidFill>
                          <a:latin typeface="Arial"/>
                        </a:rPr>
                        <a:t>High-density EEG: </a:t>
                      </a: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Preprocessing; Source localisation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75995" y="3787241"/>
          <a:ext cx="6408013" cy="484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022">
                <a:tc>
                  <a:txBody>
                    <a:bodyPr/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Peripheral physiology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Electrocardiography (ECG); Skin conductance (EDA/GSR); Electromyography (EMG)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75995" y="4271264"/>
          <a:ext cx="6408013" cy="639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470">
                <a:tc>
                  <a:txBody>
                    <a:bodyPr/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Statistical and computational methods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Descriptive and inferential statistics; Machine learning; Deep learning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75995" y="4910734"/>
          <a:ext cx="6408013" cy="4771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113">
                <a:tc>
                  <a:txBody>
                    <a:bodyPr/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Computational modelling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666666"/>
                          </a:solidFill>
                          <a:latin typeface="Arial"/>
                        </a:rPr>
                        <a:t>Toolboxes: </a:t>
                      </a:r>
                      <a:r>
                        <a:rPr sz="900" b="0">
                          <a:solidFill>
                            <a:srgbClr val="666666"/>
                          </a:solidFill>
                          <a:latin typeface="Arial"/>
                        </a:rPr>
                        <a:t>Variational Bayesian Analysis (VBA); Generative Bayesian Modelling (GBM) toolbox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75995" y="5387848"/>
          <a:ext cx="6408013" cy="5348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822">
                <a:tc>
                  <a:txBody>
                    <a:bodyPr/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Programming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>
                          <a:solidFill>
                            <a:srgbClr val="111111"/>
                          </a:solidFill>
                          <a:latin typeface="Arial"/>
                        </a:rPr>
                        <a:t>Scientific computing: </a:t>
                      </a: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Python, MATLAB, R</a:t>
                      </a:r>
                    </a:p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1">
                          <a:solidFill>
                            <a:srgbClr val="111111"/>
                          </a:solidFill>
                          <a:latin typeface="Arial"/>
                        </a:rPr>
                        <a:t>Web technologies: </a:t>
                      </a: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HTML, JavaScript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75995" y="5922670"/>
          <a:ext cx="6408013" cy="875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5792">
                <a:tc>
                  <a:txBody>
                    <a:bodyPr/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Scientific software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>
                          <a:solidFill>
                            <a:srgbClr val="666666"/>
                          </a:solidFill>
                          <a:latin typeface="Arial"/>
                        </a:rPr>
                        <a:t>Machine learning: </a:t>
                      </a:r>
                      <a:r>
                        <a:rPr sz="900" b="0">
                          <a:solidFill>
                            <a:srgbClr val="666666"/>
                          </a:solidFill>
                          <a:latin typeface="Arial"/>
                        </a:rPr>
                        <a:t>scikit-learn</a:t>
                      </a:r>
                    </a:p>
                    <a:p>
                      <a:pPr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>
                          <a:solidFill>
                            <a:srgbClr val="666666"/>
                          </a:solidFill>
                          <a:latin typeface="Arial"/>
                        </a:rPr>
                        <a:t>Deep learning: </a:t>
                      </a:r>
                      <a:r>
                        <a:rPr sz="900" b="0">
                          <a:solidFill>
                            <a:srgbClr val="666666"/>
                          </a:solidFill>
                          <a:latin typeface="Arial"/>
                        </a:rPr>
                        <a:t>Keras, PyTorch</a:t>
                      </a:r>
                    </a:p>
                    <a:p>
                      <a:pPr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666666"/>
                          </a:solidFill>
                          <a:latin typeface="Arial"/>
                        </a:rPr>
                        <a:t>Neuroimaging and electrophysiology: </a:t>
                      </a:r>
                      <a:r>
                        <a:rPr sz="900" b="0">
                          <a:solidFill>
                            <a:srgbClr val="666666"/>
                          </a:solidFill>
                          <a:latin typeface="Arial"/>
                        </a:rPr>
                        <a:t>FieldTrip, Nilearn, SPM, FSL, FreeSurfer, MRIcron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Scientific communication and organisation"/>
          <p:cNvSpPr txBox="1"/>
          <p:nvPr/>
        </p:nvSpPr>
        <p:spPr>
          <a:xfrm>
            <a:off x="652195" y="6900062"/>
            <a:ext cx="6255613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Helvetica" pitchFamily="2" charset="0"/>
              </a:rPr>
              <a:t>Scientific communication and organisation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75995" y="7154062"/>
          <a:ext cx="6408013" cy="5244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4459">
                <a:tc>
                  <a:txBody>
                    <a:bodyPr/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Communication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Scientific writing and oral presentations</a:t>
                      </a:r>
                    </a:p>
                    <a:p>
                      <a:pPr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666666"/>
                          </a:solidFill>
                          <a:latin typeface="Arial"/>
                        </a:rPr>
                        <a:t>Tools: </a:t>
                      </a:r>
                      <a:r>
                        <a:rPr sz="900" b="0">
                          <a:solidFill>
                            <a:srgbClr val="666666"/>
                          </a:solidFill>
                          <a:latin typeface="Arial"/>
                        </a:rPr>
                        <a:t>Office suites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75995" y="7678521"/>
          <a:ext cx="6408013" cy="4771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113">
                <a:tc>
                  <a:txBody>
                    <a:bodyPr/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Reference management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666666"/>
                          </a:solidFill>
                          <a:latin typeface="Arial"/>
                        </a:rPr>
                        <a:t>Tool: </a:t>
                      </a:r>
                      <a:r>
                        <a:rPr sz="900" b="0">
                          <a:solidFill>
                            <a:srgbClr val="666666"/>
                          </a:solidFill>
                          <a:latin typeface="Arial"/>
                        </a:rPr>
                        <a:t>Zotero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75995" y="8155635"/>
          <a:ext cx="6408013" cy="4771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113">
                <a:tc>
                  <a:txBody>
                    <a:bodyPr/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Project and knowledge organisation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666666"/>
                          </a:solidFill>
                          <a:latin typeface="Arial"/>
                        </a:rPr>
                        <a:t>Tool: </a:t>
                      </a:r>
                      <a:r>
                        <a:rPr sz="900" b="0">
                          <a:solidFill>
                            <a:srgbClr val="666666"/>
                          </a:solidFill>
                          <a:latin typeface="Arial"/>
                        </a:rPr>
                        <a:t>Notion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Gino Battistello · Curriculum Vitae"/>
          <p:cNvSpPr txBox="1"/>
          <p:nvPr/>
        </p:nvSpPr>
        <p:spPr>
          <a:xfrm>
            <a:off x="575995" y="10349103"/>
            <a:ext cx="5773013" cy="163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Helvetica" pitchFamily="2" charset="0"/>
              </a:rPr>
              <a:t>Gino Battistello · Curriculum Vitae</a:t>
            </a:r>
          </a:p>
        </p:txBody>
      </p:sp>
      <p:sp>
        <p:nvSpPr>
          <p:cNvPr id="22" name="6 / 6"/>
          <p:cNvSpPr txBox="1"/>
          <p:nvPr/>
        </p:nvSpPr>
        <p:spPr>
          <a:xfrm>
            <a:off x="6412509" y="10349103"/>
            <a:ext cx="571500" cy="163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Helvetica" pitchFamily="2" charset="0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1484</Words>
  <Application>Microsoft Macintosh PowerPoint</Application>
  <PresentationFormat>Custom</PresentationFormat>
  <Paragraphs>284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Helvetica</vt:lpstr>
      <vt:lpstr>Helvetica Light</vt:lpstr>
      <vt:lpstr>Helvetica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Gino Battistello — editable curriculum vitae</dc:title>
  <dc:subject/>
  <dc:creator>Gino Battistello</dc:creator>
  <cp:keywords/>
  <dc:description>generated using python-pptx</dc:description>
  <cp:lastModifiedBy>BATTISTELLO Gino</cp:lastModifiedBy>
  <cp:revision>9</cp:revision>
  <dcterms:created xsi:type="dcterms:W3CDTF">2013-01-27T09:14:16Z</dcterms:created>
  <dcterms:modified xsi:type="dcterms:W3CDTF">2026-10-28T14:48:30Z</dcterms:modified>
  <cp:category/>
</cp:coreProperties>
</file>